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88" r:id="rId3"/>
    <p:sldId id="274" r:id="rId5"/>
    <p:sldId id="291" r:id="rId6"/>
    <p:sldId id="262" r:id="rId7"/>
    <p:sldId id="296" r:id="rId8"/>
    <p:sldId id="29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322920"/>
    <a:srgbClr val="034650"/>
    <a:srgbClr val="2C292C"/>
    <a:srgbClr val="471D0F"/>
    <a:srgbClr val="1E887A"/>
    <a:srgbClr val="3F6666"/>
    <a:srgbClr val="3E1D89"/>
    <a:srgbClr val="360CCF"/>
    <a:srgbClr val="BA3649"/>
    <a:srgbClr val="B6B6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DCA5C2E7-9D8F-47E6-AD76-B5B08028EF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 smtClean="0">
                <a:sym typeface="+mn-ea"/>
              </a:rPr>
              <a:t>Click to edit Master text style</a:t>
            </a:r>
            <a:endParaRPr lang="zh-CN" altLang="en-US" sz="1200" smtClean="0"/>
          </a:p>
          <a:p>
            <a:pPr lvl="1"/>
            <a:r>
              <a:rPr lang="zh-CN" altLang="en-US" sz="1200" smtClean="0">
                <a:sym typeface="+mn-ea"/>
              </a:rPr>
              <a:t>Second level</a:t>
            </a:r>
            <a:endParaRPr lang="zh-CN" altLang="en-US" sz="1200" smtClean="0"/>
          </a:p>
          <a:p>
            <a:pPr lvl="2"/>
            <a:r>
              <a:rPr lang="zh-CN" altLang="en-US" sz="1200" smtClean="0">
                <a:sym typeface="+mn-ea"/>
              </a:rPr>
              <a:t>Third level</a:t>
            </a:r>
            <a:endParaRPr lang="zh-CN" altLang="en-US" sz="1200" smtClean="0"/>
          </a:p>
          <a:p>
            <a:pPr lvl="3"/>
            <a:r>
              <a:rPr lang="zh-CN" altLang="en-US" sz="1200" smtClean="0">
                <a:sym typeface="+mn-ea"/>
              </a:rPr>
              <a:t>Fourth level</a:t>
            </a:r>
            <a:endParaRPr lang="zh-CN" altLang="en-US" sz="1200" smtClean="0"/>
          </a:p>
          <a:p>
            <a:pPr lvl="4"/>
            <a:r>
              <a:rPr lang="zh-CN" altLang="en-US" sz="1200" smtClean="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3AE85B77-8AE0-464C-9A26-6A01A479EB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5A079F21-3BE8-4E0A-A2CF-C18BDEAD91D7}" type="datetime1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zh-CN"/>
              <a:t> 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70336DA7-0B35-4766-B3FA-87CC82BF78CC}" type="slidenum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jpe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286000" y="379095"/>
            <a:ext cx="762000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</a:t>
            </a:r>
            <a:r>
              <a:rPr lang="en-US" altLang="zh-CN" sz="4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Database Forensics</a:t>
            </a:r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altLang="zh-CN" sz="38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10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How Data Solves Crimes in Large Organisations</a:t>
            </a:r>
            <a:endParaRPr lang="en-US" altLang="zh-CN" sz="24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48435" y="2380615"/>
            <a:ext cx="9443085" cy="888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  </a:t>
            </a:r>
            <a:r>
              <a:rPr lang="en-US" altLang="zh-CN" sz="2200" b="1" dirty="0" smtClean="0">
                <a:solidFill>
                  <a:srgbClr val="FFC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6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-slide guide to investigating data 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at scale with SQL and audit logs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344285" y="505904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Day </a:t>
            </a:r>
            <a:r>
              <a:rPr lang="en-US" altLang="zh-CN" sz="2200" b="1" dirty="0" smtClean="0">
                <a:solidFill>
                  <a:srgbClr val="FFC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3 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of 30 | June 2026 </a:t>
            </a:r>
            <a:endParaRPr lang="en-US" altLang="zh-CN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97790" y="5017135"/>
            <a:ext cx="3946525" cy="613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EVODIA UNJUEH AKU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unjuehevo@gmail.com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21" name="Picture 20" descr="WhatsApp Image 2026-05-26 at 9.15.32 AM"/>
          <p:cNvPicPr>
            <a:picLocks noChangeAspect="1"/>
          </p:cNvPicPr>
          <p:nvPr/>
        </p:nvPicPr>
        <p:blipFill>
          <a:blip r:embed="rId1"/>
          <a:srcRect l="18064" t="13385" r="17739" b="15487"/>
          <a:stretch>
            <a:fillRect/>
          </a:stretch>
        </p:blipFill>
        <p:spPr>
          <a:xfrm>
            <a:off x="11438255" y="5977255"/>
            <a:ext cx="753745" cy="880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62"/>
          <p:cNvGrpSpPr/>
          <p:nvPr>
            <p:custDataLst>
              <p:tags r:id="rId1"/>
            </p:custDataLst>
          </p:nvPr>
        </p:nvGrpSpPr>
        <p:grpSpPr bwMode="auto">
          <a:xfrm>
            <a:off x="738183" y="2694249"/>
            <a:ext cx="3913505" cy="1560196"/>
            <a:chOff x="-349700" y="1138886"/>
            <a:chExt cx="3713777" cy="1171252"/>
          </a:xfrm>
        </p:grpSpPr>
        <p:sp>
          <p:nvSpPr>
            <p:cNvPr id="17" name="TextBox 19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-349700" y="1447311"/>
              <a:ext cx="3713777" cy="8628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endPara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18" name="矩形 6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18575" y="1138886"/>
              <a:ext cx="2535709" cy="2607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pPr algn="ctr"/>
              <a:endParaRPr lang="en-US" altLang="zh-CN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614170" y="107950"/>
            <a:ext cx="9576435" cy="62420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pPr algn="ctr"/>
            <a:r>
              <a:rPr lang="en-US" altLang="en-GB" sz="2200" b="1">
                <a:solidFill>
                  <a:schemeClr val="bg1"/>
                </a:solidFill>
              </a:rPr>
              <a:t>DATABASE  FORENSICS</a:t>
            </a:r>
            <a:r>
              <a:rPr lang="en-US" altLang="en-GB" sz="2200" b="1">
                <a:solidFill>
                  <a:srgbClr val="FFC000"/>
                </a:solidFill>
              </a:rPr>
              <a:t> = </a:t>
            </a:r>
            <a:r>
              <a:rPr lang="en-US" altLang="en-GB" sz="2200" b="1">
                <a:solidFill>
                  <a:schemeClr val="bg1"/>
                </a:solidFill>
              </a:rPr>
              <a:t>DIGITAL EVIDENCE</a:t>
            </a:r>
            <a:endParaRPr lang="en-US" altLang="en-GB" sz="2200" b="1">
              <a:solidFill>
                <a:schemeClr val="bg1"/>
              </a:solidFill>
            </a:endParaRPr>
          </a:p>
        </p:txBody>
      </p:sp>
      <p:pic>
        <p:nvPicPr>
          <p:cNvPr id="8" name="Picture 7" descr="WhatsApp Image 2026-05-26 at 9.15.32 AM"/>
          <p:cNvPicPr>
            <a:picLocks noChangeAspect="1"/>
          </p:cNvPicPr>
          <p:nvPr/>
        </p:nvPicPr>
        <p:blipFill>
          <a:blip r:embed="rId4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9" name="Picture 8" descr="WhatsApp Image 2026-05-26 at 9.15.32 AM"/>
          <p:cNvPicPr>
            <a:picLocks noChangeAspect="1"/>
          </p:cNvPicPr>
          <p:nvPr/>
        </p:nvPicPr>
        <p:blipFill>
          <a:blip r:embed="rId4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1809115" y="544195"/>
            <a:ext cx="8674100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2800" b="1">
                <a:solidFill>
                  <a:srgbClr val="FFC000"/>
                </a:solidFill>
              </a:rPr>
              <a:t>FORENSIC RECONSTRUCTION OF DATABASE</a:t>
            </a:r>
            <a:endParaRPr lang="en-US" altLang="en-GB" sz="2800" b="1">
              <a:solidFill>
                <a:srgbClr val="FFC000"/>
              </a:solidFill>
            </a:endParaRPr>
          </a:p>
          <a:p>
            <a:pPr algn="ctr"/>
            <a:endParaRPr lang="en-US" altLang="en-GB" sz="2800" b="1">
              <a:solidFill>
                <a:srgbClr val="FFC000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662305" y="3869690"/>
            <a:ext cx="5144770" cy="1873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 b="1">
                <a:solidFill>
                  <a:srgbClr val="FFC000"/>
                </a:solidFill>
              </a:rPr>
              <a:t>DELETION</a:t>
            </a:r>
            <a:endParaRPr lang="en-US" altLang="en-GB" sz="2400" b="1">
              <a:solidFill>
                <a:srgbClr val="FFC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Logical deletion (deleted = yes)  hidden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Physical deletion(logged) harder, riskier</a:t>
            </a:r>
            <a:r>
              <a:rPr lang="en-US" altLang="en-GB"/>
              <a:t>.</a:t>
            </a:r>
            <a:endParaRPr lang="en-US" altLang="en-GB"/>
          </a:p>
        </p:txBody>
      </p:sp>
      <p:sp>
        <p:nvSpPr>
          <p:cNvPr id="19" name="Text Box 18"/>
          <p:cNvSpPr txBox="1"/>
          <p:nvPr/>
        </p:nvSpPr>
        <p:spPr>
          <a:xfrm>
            <a:off x="0" y="1481455"/>
            <a:ext cx="10985500" cy="1906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2800" b="1">
                <a:solidFill>
                  <a:srgbClr val="FFC000"/>
                </a:solidFill>
              </a:rPr>
              <a:t>PART ONE </a:t>
            </a:r>
            <a:endParaRPr lang="en-US" altLang="en-GB" sz="2800" b="1">
              <a:solidFill>
                <a:srgbClr val="FFC0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 company found a $12,000 overpayment. The payroll shows no anomaly. HR said, “ Nothing was deleted.”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rgbClr val="FFC000"/>
              </a:solidFill>
            </a:endParaRPr>
          </a:p>
          <a:p>
            <a:r>
              <a:rPr lang="en-US" altLang="en-GB">
                <a:solidFill>
                  <a:srgbClr val="FFC000"/>
                </a:solidFill>
              </a:rPr>
              <a:t>Rebuilding the truth from deleted data. ( </a:t>
            </a:r>
            <a:r>
              <a:rPr lang="en-US" altLang="en-GB" b="1">
                <a:solidFill>
                  <a:schemeClr val="bg1"/>
                </a:solidFill>
              </a:rPr>
              <a:t>How we recover what happened, when, and by who - even after deletion</a:t>
            </a:r>
            <a:r>
              <a:rPr lang="en-US" altLang="en-GB">
                <a:solidFill>
                  <a:srgbClr val="FFC000"/>
                </a:solidFill>
              </a:rPr>
              <a:t>)</a:t>
            </a:r>
            <a:endParaRPr lang="en-US" altLang="en-GB">
              <a:solidFill>
                <a:srgbClr val="FFC000"/>
              </a:solidFill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50165" y="6119495"/>
            <a:ext cx="7059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C000"/>
                </a:solidFill>
              </a:rPr>
              <a:t>QUESTION</a:t>
            </a:r>
            <a:r>
              <a:rPr lang="en-US" altLang="en-GB">
                <a:solidFill>
                  <a:schemeClr val="bg1"/>
                </a:solidFill>
              </a:rPr>
              <a:t>: If the record is gone from the UI where do we find it?</a:t>
            </a:r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21" name="Text Box 20"/>
          <p:cNvSpPr txBox="1"/>
          <p:nvPr/>
        </p:nvSpPr>
        <p:spPr>
          <a:xfrm>
            <a:off x="6289675" y="3869690"/>
            <a:ext cx="5711825" cy="2499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en-GB" sz="2400" b="1">
                <a:solidFill>
                  <a:srgbClr val="FFC000"/>
                </a:solidFill>
              </a:rPr>
              <a:t>CORE (DATA LIFECYCLE IN SQL)</a:t>
            </a:r>
            <a:endParaRPr lang="en-US" altLang="en-GB" sz="2400" b="1">
              <a:solidFill>
                <a:srgbClr val="FFC00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SELECT: How you see data. Baseline for normal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UPDATE: How fraud hides data. Data stays, meaning changes.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DELETE: How data gets removed. Gone  from table, but logged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DROP: How the data gets erased. Nuclear  option, heavy footprint.</a:t>
            </a:r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17" name="Table 16"/>
          <p:cNvGraphicFramePr/>
          <p:nvPr/>
        </p:nvGraphicFramePr>
        <p:xfrm>
          <a:off x="289560" y="2118995"/>
          <a:ext cx="11356975" cy="2343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2130"/>
                <a:gridCol w="4031615"/>
                <a:gridCol w="2983230"/>
              </a:tblGrid>
              <a:tr h="4235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rgbClr val="FFC000"/>
                          </a:solidFill>
                          <a:sym typeface="+mn-ea"/>
                        </a:rPr>
                        <a:t>UPDATE</a:t>
                      </a:r>
                      <a:endParaRPr lang="en-US" altLang="en-GB" sz="1800">
                        <a:solidFill>
                          <a:srgbClr val="FFC000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FFC000"/>
                          </a:solidFill>
                        </a:rPr>
                        <a:t>DELETE</a:t>
                      </a:r>
                      <a:endParaRPr lang="en-US" altLang="en-GB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rgbClr val="FFC000"/>
                          </a:solidFill>
                          <a:sym typeface="+mn-ea"/>
                        </a:rPr>
                        <a:t>DROP </a:t>
                      </a:r>
                      <a:endParaRPr lang="en-US" altLang="en-GB" sz="1800">
                        <a:solidFill>
                          <a:srgbClr val="FFC000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Logical deletion   </a:t>
                      </a:r>
                      <a:endParaRPr lang="en-US" altLang="en-GB" sz="18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   </a:t>
                      </a: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Physical deletion   </a:t>
                      </a:r>
                      <a:endParaRPr lang="en-US" altLang="en-GB" sz="18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  </a:t>
                      </a: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Physical deletion</a:t>
                      </a:r>
                      <a:endParaRPr lang="en-US" altLang="en-GB" sz="1800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UPDATE payroll set status =</a:t>
                      </a:r>
                      <a:r>
                        <a:rPr lang="en-US" altLang="en-GB"/>
                        <a:t>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‘deleted’ </a:t>
                      </a: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where emp_id = “</a:t>
                      </a:r>
                      <a:r>
                        <a:rPr lang="en-US" altLang="en-GB">
                          <a:solidFill>
                            <a:srgbClr val="FF0000"/>
                          </a:solidFill>
                        </a:rPr>
                        <a:t>102</a:t>
                      </a: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;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DELETE FROM payroll WHERE emp_id =</a:t>
                      </a:r>
                      <a:r>
                        <a:rPr lang="en-US" altLang="en-GB"/>
                        <a:t> </a:t>
                      </a:r>
                      <a:r>
                        <a:rPr lang="en-US" altLang="en-GB">
                          <a:solidFill>
                            <a:srgbClr val="FF0000"/>
                          </a:solidFill>
                        </a:rPr>
                        <a:t>102</a:t>
                      </a: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;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DROP TABLE payroll;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If you can still see the row with </a:t>
                      </a:r>
                      <a:r>
                        <a:rPr lang="en-US" altLang="en-GB">
                          <a:solidFill>
                            <a:srgbClr val="FFC000"/>
                          </a:solidFill>
                        </a:rPr>
                        <a:t>WHERE status = ‘deleted’  it was UPDATE</a:t>
                      </a: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. Logical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If the row is gone but you see it in audit logs</a:t>
                      </a:r>
                      <a:r>
                        <a:rPr lang="en-US" altLang="en-GB"/>
                        <a:t>  </a:t>
                      </a:r>
                      <a:r>
                        <a:rPr lang="en-US" altLang="en-GB">
                          <a:solidFill>
                            <a:srgbClr val="FFC000"/>
                          </a:solidFill>
                        </a:rPr>
                        <a:t>it was DELETED</a:t>
                      </a: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. Physical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If the whole Table is gone, </a:t>
                      </a:r>
                      <a:r>
                        <a:rPr lang="en-US" altLang="en-GB">
                          <a:solidFill>
                            <a:srgbClr val="FFC000"/>
                          </a:solidFill>
                        </a:rPr>
                        <a:t>it was DROP</a:t>
                      </a:r>
                      <a:r>
                        <a:rPr lang="en-US" altLang="en-GB"/>
                        <a:t>. </a:t>
                      </a: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Nuclear option 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8" name="Text Box 17"/>
          <p:cNvSpPr txBox="1"/>
          <p:nvPr/>
        </p:nvSpPr>
        <p:spPr>
          <a:xfrm>
            <a:off x="400050" y="385445"/>
            <a:ext cx="68148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en-US" altLang="en-GB">
                <a:solidFill>
                  <a:srgbClr val="FFC000"/>
                </a:solidFill>
              </a:rPr>
              <a:t>SELECT: </a:t>
            </a:r>
            <a:r>
              <a:rPr lang="en-US" altLang="en-GB">
                <a:solidFill>
                  <a:schemeClr val="bg1"/>
                </a:solidFill>
              </a:rPr>
              <a:t>This is just reading data. Nothing Changes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SELECT </a:t>
            </a:r>
            <a:r>
              <a:rPr lang="en-US" altLang="en-GB">
                <a:solidFill>
                  <a:srgbClr val="FFC000"/>
                </a:solidFill>
              </a:rPr>
              <a:t>* </a:t>
            </a:r>
            <a:r>
              <a:rPr lang="en-US" altLang="en-GB">
                <a:solidFill>
                  <a:srgbClr val="00B050"/>
                </a:solidFill>
              </a:rPr>
              <a:t>FROM payroll</a:t>
            </a:r>
            <a:r>
              <a:rPr lang="en-US" altLang="en-GB"/>
              <a:t> </a:t>
            </a:r>
            <a:endParaRPr lang="en-US" altLang="en-GB"/>
          </a:p>
          <a:p>
            <a:endParaRPr lang="en-US" altLang="en-GB"/>
          </a:p>
          <a:p>
            <a:r>
              <a:rPr lang="en-US" altLang="en-GB">
                <a:solidFill>
                  <a:srgbClr val="FFC000"/>
                </a:solidFill>
              </a:rPr>
              <a:t>IF </a:t>
            </a:r>
            <a:r>
              <a:rPr lang="en-US" altLang="en-GB">
                <a:solidFill>
                  <a:schemeClr val="bg1"/>
                </a:solidFill>
              </a:rPr>
              <a:t>the data is there </a:t>
            </a:r>
            <a:r>
              <a:rPr lang="en-US" altLang="en-GB">
                <a:solidFill>
                  <a:srgbClr val="FFC000"/>
                </a:solidFill>
              </a:rPr>
              <a:t>you see it</a:t>
            </a:r>
            <a:r>
              <a:rPr lang="en-US" altLang="en-GB">
                <a:solidFill>
                  <a:schemeClr val="bg1"/>
                </a:solidFill>
              </a:rPr>
              <a:t>. if it is gone </a:t>
            </a:r>
            <a:r>
              <a:rPr lang="en-US" altLang="en-GB">
                <a:solidFill>
                  <a:srgbClr val="FFC000"/>
                </a:solidFill>
              </a:rPr>
              <a:t>you don’t.</a:t>
            </a:r>
            <a:r>
              <a:rPr lang="en-US" altLang="en-GB">
                <a:solidFill>
                  <a:schemeClr val="bg1"/>
                </a:solidFill>
              </a:rPr>
              <a:t> 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289560" y="5323205"/>
            <a:ext cx="11319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SELECT  shows you what’S there. UPDATE  hides it in plain sight. DELETE removes it. DROP erases the whole thing.  As a forensic investigator your job is to know where to look after each one.</a:t>
            </a:r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5" name="Picture 4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63325" y="5998845"/>
            <a:ext cx="807085" cy="859155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807085" y="120650"/>
          <a:ext cx="11141710" cy="3130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815"/>
                <a:gridCol w="3022600"/>
                <a:gridCol w="2327275"/>
                <a:gridCol w="1642110"/>
                <a:gridCol w="24549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FFC000"/>
                          </a:solidFill>
                        </a:rPr>
                        <a:t>COMMAND</a:t>
                      </a:r>
                      <a:endParaRPr lang="en-US" altLang="en-GB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FFC000"/>
                          </a:solidFill>
                        </a:rPr>
                        <a:t>WHAT IT DOES</a:t>
                      </a:r>
                      <a:endParaRPr lang="en-US" altLang="en-GB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FFC000"/>
                          </a:solidFill>
                        </a:rPr>
                        <a:t>IS IT LOGICAL OR PHYSICAL</a:t>
                      </a:r>
                      <a:endParaRPr lang="en-US" altLang="en-GB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FFC000"/>
                          </a:solidFill>
                        </a:rPr>
                        <a:t>CAN WE QUERY IT BACK?</a:t>
                      </a:r>
                      <a:endParaRPr lang="en-US" altLang="en-GB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FFC000"/>
                          </a:solidFill>
                        </a:rPr>
                        <a:t>HOW YOU RETRIEVE IT</a:t>
                      </a:r>
                      <a:endParaRPr lang="en-US" altLang="en-GB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UPDATE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Modifies existing rows. Data stays in place.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Logical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Yes, directly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SELECT * FROM table WHERE status=’deleted’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DELETE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Removes the row from the table. Table structure stays.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Physical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No, not directly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Check audit logs and restore from backup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12103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DROP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Deletes the entire table and structure. Nothing stays.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Physical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No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Only from backup. Always logged(craving the unallocated disk space)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" name="Text Box 11"/>
          <p:cNvSpPr txBox="1"/>
          <p:nvPr/>
        </p:nvSpPr>
        <p:spPr>
          <a:xfrm>
            <a:off x="1026160" y="3429000"/>
            <a:ext cx="4064000" cy="2781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rgbClr val="FFC000"/>
                </a:solidFill>
              </a:rPr>
              <a:t>SIMILARIETIES</a:t>
            </a:r>
            <a:endParaRPr lang="en-US" altLang="en-GB">
              <a:solidFill>
                <a:srgbClr val="FFC000"/>
              </a:solidFill>
            </a:endParaRPr>
          </a:p>
          <a:p>
            <a:endParaRPr lang="en-US" altLang="en-GB">
              <a:solidFill>
                <a:srgbClr val="FFC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All 3 are DML/DDL commands that change data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All 3 get logged in audit trails if logging is on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All 3 are used in fraud to hide evidence.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625465" y="3429000"/>
            <a:ext cx="4064000" cy="2629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rgbClr val="FFC000"/>
                </a:solidFill>
              </a:rPr>
              <a:t>TAKEAWAY</a:t>
            </a:r>
            <a:r>
              <a:rPr lang="en-US" altLang="en-GB">
                <a:solidFill>
                  <a:schemeClr val="bg1"/>
                </a:solidFill>
              </a:rPr>
              <a:t>: Fraudsters love </a:t>
            </a:r>
            <a:r>
              <a:rPr lang="en-US" altLang="en-GB">
                <a:solidFill>
                  <a:srgbClr val="FFC000"/>
                </a:solidFill>
              </a:rPr>
              <a:t>UPDATE</a:t>
            </a:r>
            <a:r>
              <a:rPr lang="en-US" altLang="en-GB">
                <a:solidFill>
                  <a:schemeClr val="bg1"/>
                </a:solidFill>
              </a:rPr>
              <a:t> because it’s quiet. </a:t>
            </a:r>
            <a:r>
              <a:rPr lang="en-US" altLang="en-GB">
                <a:solidFill>
                  <a:srgbClr val="FFC000"/>
                </a:solidFill>
              </a:rPr>
              <a:t>DELETE</a:t>
            </a:r>
            <a:r>
              <a:rPr lang="en-US" altLang="en-GB">
                <a:solidFill>
                  <a:schemeClr val="bg1"/>
                </a:solidFill>
              </a:rPr>
              <a:t> and </a:t>
            </a:r>
            <a:r>
              <a:rPr lang="en-US" altLang="en-GB">
                <a:solidFill>
                  <a:srgbClr val="FFC000"/>
                </a:solidFill>
              </a:rPr>
              <a:t>DROP </a:t>
            </a:r>
            <a:r>
              <a:rPr lang="en-US" altLang="en-GB">
                <a:solidFill>
                  <a:schemeClr val="bg1"/>
                </a:solidFill>
              </a:rPr>
              <a:t>are loud and leave traces.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 As a forensic investigator , </a:t>
            </a:r>
            <a:r>
              <a:rPr lang="en-US" altLang="en-GB">
                <a:solidFill>
                  <a:srgbClr val="FFC000"/>
                </a:solidFill>
              </a:rPr>
              <a:t>UPDATE</a:t>
            </a:r>
            <a:r>
              <a:rPr lang="en-US" altLang="en-GB">
                <a:solidFill>
                  <a:schemeClr val="bg1"/>
                </a:solidFill>
              </a:rPr>
              <a:t> is your easiest win, </a:t>
            </a:r>
            <a:r>
              <a:rPr lang="en-US" altLang="en-GB">
                <a:solidFill>
                  <a:srgbClr val="FFC000"/>
                </a:solidFill>
              </a:rPr>
              <a:t>DELETE</a:t>
            </a:r>
            <a:r>
              <a:rPr lang="en-US" altLang="en-GB">
                <a:solidFill>
                  <a:schemeClr val="bg1"/>
                </a:solidFill>
              </a:rPr>
              <a:t> is your log-diving job, and DROP is yor “someone panicked” signal.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9864725" y="3293745"/>
            <a:ext cx="1943735" cy="165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rgbClr val="FFC000"/>
                </a:solidFill>
              </a:rPr>
              <a:t>DDL</a:t>
            </a:r>
            <a:endParaRPr lang="en-US" altLang="en-GB">
              <a:solidFill>
                <a:srgbClr val="FFC000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CREAT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ALTER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DROP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TURNICATE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9864725" y="4679315"/>
            <a:ext cx="253428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C000"/>
                </a:solidFill>
              </a:rPr>
              <a:t>DML </a:t>
            </a:r>
            <a:endParaRPr lang="en-US" altLang="en-GB">
              <a:solidFill>
                <a:srgbClr val="FFC000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INSERT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UPDATE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DELETE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 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WHERE 90% OF FRAUD OCCUR</a:t>
            </a:r>
            <a:r>
              <a:rPr lang="en-US" altLang="en-GB"/>
              <a:t>S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400685" y="91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C000"/>
                </a:solidFill>
              </a:rPr>
              <a:t>CRIME SCENE</a:t>
            </a:r>
            <a:endParaRPr lang="en-US" altLang="en-GB">
              <a:solidFill>
                <a:srgbClr val="FFC000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63550" y="1008380"/>
            <a:ext cx="57404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-- Creat the table 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CREATE TABLE tbl_Payroll (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Emp_ID INT,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Employee_Name VARCHAR(50),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Salary_USD INT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);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-- Insert the target data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INSERT INTO tbl_Payroll VALUES (101, ‘Alice’ , 8500) ;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INSERT INTO tbl_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Payroll VALUES (102, ‘bob’ , 6200) ;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INSERT INTO tbl_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Payroll VALUES 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(103, ‘Charlie’ , 9100) ;</a:t>
            </a:r>
            <a:endParaRPr lang="en-US" altLang="en-GB">
              <a:solidFill>
                <a:schemeClr val="bg1"/>
              </a:solidFill>
              <a:sym typeface="+mn-ea"/>
            </a:endParaRPr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7022465" y="2319020"/>
          <a:ext cx="472503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550"/>
                <a:gridCol w="1802765"/>
                <a:gridCol w="131572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Emp_ID</a:t>
                      </a:r>
                      <a:endParaRPr lang="en-US" altLang="en-GB" sz="18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Employee_Name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Salary_USD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101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Alice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8500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102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bob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6200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103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Charlie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9100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7022465" y="14643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ACTIVE TABLE: tbl_Payroll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accent1">
                    <a:lumMod val="75000"/>
                  </a:schemeClr>
                </a:solidFill>
              </a:rPr>
              <a:t>SELECT </a:t>
            </a:r>
            <a:r>
              <a:rPr lang="en-US" altLang="en-GB">
                <a:solidFill>
                  <a:schemeClr val="bg1"/>
                </a:solidFill>
              </a:rPr>
              <a:t>* tbl_Payroll</a:t>
            </a:r>
            <a:endParaRPr lang="en-US" altLang="en-GB">
              <a:solidFill>
                <a:schemeClr val="bg1"/>
              </a:solidFill>
            </a:endParaRPr>
          </a:p>
        </p:txBody>
      </p:sp>
      <p:graphicFrame>
        <p:nvGraphicFramePr>
          <p:cNvPr id="15" name="Table 14"/>
          <p:cNvGraphicFramePr/>
          <p:nvPr/>
        </p:nvGraphicFramePr>
        <p:xfrm>
          <a:off x="463550" y="5238750"/>
          <a:ext cx="428625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85"/>
                <a:gridCol w="1835785"/>
                <a:gridCol w="13258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Emp_ID</a:t>
                      </a:r>
                      <a:endParaRPr lang="en-US" altLang="en-GB" sz="18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Employee_Name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Salary_USD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101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Alice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8500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102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bob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6200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FF0000"/>
                          </a:solidFill>
                        </a:rPr>
                        <a:t>103</a:t>
                      </a:r>
                      <a:endParaRPr lang="en-US" altLang="en-GB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rgbClr val="FF0000"/>
                          </a:solidFill>
                          <a:sym typeface="+mn-ea"/>
                        </a:rPr>
                        <a:t>Charlie</a:t>
                      </a:r>
                      <a:endParaRPr lang="en-US" altLang="en-GB" sz="180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rgbClr val="FF0000"/>
                          </a:solidFill>
                          <a:sym typeface="+mn-ea"/>
                        </a:rPr>
                        <a:t>9100</a:t>
                      </a:r>
                      <a:endParaRPr lang="en-US" altLang="en-GB" sz="180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16" name="Text Box 15"/>
          <p:cNvSpPr txBox="1"/>
          <p:nvPr/>
        </p:nvSpPr>
        <p:spPr>
          <a:xfrm>
            <a:off x="463550" y="4781550"/>
            <a:ext cx="2582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C000"/>
                </a:solidFill>
              </a:rPr>
              <a:t>BEFORE</a:t>
            </a:r>
            <a:endParaRPr lang="en-US" altLang="en-GB">
              <a:solidFill>
                <a:srgbClr val="FFC000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5193030" y="5370830"/>
            <a:ext cx="24504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C000"/>
                </a:solidFill>
              </a:rPr>
              <a:t>COMMAND</a:t>
            </a:r>
            <a:endParaRPr lang="en-US" altLang="en-GB">
              <a:solidFill>
                <a:srgbClr val="FFC000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EXECUTE:</a:t>
            </a:r>
            <a:r>
              <a:rPr lang="en-US" altLang="en-GB">
                <a:solidFill>
                  <a:schemeClr val="bg1"/>
                </a:solidFill>
              </a:rPr>
              <a:t> </a:t>
            </a:r>
            <a:r>
              <a:rPr lang="en-US" altLang="en-GB">
                <a:solidFill>
                  <a:srgbClr val="00B0F0"/>
                </a:solidFill>
              </a:rPr>
              <a:t>DELETE FROM </a:t>
            </a:r>
            <a:r>
              <a:rPr lang="en-US" altLang="en-GB">
                <a:solidFill>
                  <a:schemeClr val="bg1"/>
                </a:solidFill>
              </a:rPr>
              <a:t>tbl_Payroll;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00B0F0"/>
                </a:solidFill>
              </a:rPr>
              <a:t>WHERE</a:t>
            </a:r>
            <a:r>
              <a:rPr lang="en-US" altLang="en-GB">
                <a:solidFill>
                  <a:schemeClr val="bg1"/>
                </a:solidFill>
              </a:rPr>
              <a:t> Emp_ID=</a:t>
            </a:r>
            <a:r>
              <a:rPr lang="en-US" altLang="en-GB">
                <a:solidFill>
                  <a:srgbClr val="00B0F0"/>
                </a:solidFill>
              </a:rPr>
              <a:t>103</a:t>
            </a:r>
            <a:r>
              <a:rPr lang="en-US" altLang="en-GB">
                <a:solidFill>
                  <a:schemeClr val="bg1"/>
                </a:solidFill>
              </a:rPr>
              <a:t>;</a:t>
            </a:r>
            <a:endParaRPr lang="en-US" altLang="en-GB">
              <a:solidFill>
                <a:schemeClr val="bg1"/>
              </a:solidFill>
            </a:endParaRPr>
          </a:p>
        </p:txBody>
      </p:sp>
      <p:graphicFrame>
        <p:nvGraphicFramePr>
          <p:cNvPr id="20" name="Table 19"/>
          <p:cNvGraphicFramePr/>
          <p:nvPr>
            <p:custDataLst>
              <p:tags r:id="rId2"/>
            </p:custDataLst>
          </p:nvPr>
        </p:nvGraphicFramePr>
        <p:xfrm>
          <a:off x="7830185" y="5149850"/>
          <a:ext cx="4264025" cy="155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695"/>
                <a:gridCol w="1849755"/>
                <a:gridCol w="1425575"/>
              </a:tblGrid>
              <a:tr h="7245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Emp_ID</a:t>
                      </a:r>
                      <a:endParaRPr lang="en-US" altLang="en-GB" sz="18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Employee_Name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Salary_USD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101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Alice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8500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4140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102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bob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6200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1" name="Text Box 20"/>
          <p:cNvSpPr txBox="1"/>
          <p:nvPr/>
        </p:nvSpPr>
        <p:spPr>
          <a:xfrm>
            <a:off x="7830185" y="47815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C000"/>
                </a:solidFill>
              </a:rPr>
              <a:t>AFTER</a:t>
            </a:r>
            <a:endParaRPr lang="en-US" altLang="en-GB"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15" name="Table 14"/>
          <p:cNvGraphicFramePr/>
          <p:nvPr/>
        </p:nvGraphicFramePr>
        <p:xfrm>
          <a:off x="147320" y="871855"/>
          <a:ext cx="428625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85"/>
                <a:gridCol w="1835785"/>
                <a:gridCol w="1325880"/>
              </a:tblGrid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Emp_ID</a:t>
                      </a:r>
                      <a:endParaRPr lang="en-US" altLang="en-GB" sz="18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Employee_Name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Salary_USD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101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Alice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8500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102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bob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6200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103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Charlie</a:t>
                      </a:r>
                      <a:endParaRPr lang="en-US" altLang="en-GB" sz="18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9100</a:t>
                      </a:r>
                      <a:endParaRPr lang="en-US" altLang="en-GB" sz="18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7" name="Text Box 16"/>
          <p:cNvSpPr txBox="1"/>
          <p:nvPr/>
        </p:nvSpPr>
        <p:spPr>
          <a:xfrm>
            <a:off x="5003165" y="871855"/>
            <a:ext cx="24504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C000"/>
                </a:solidFill>
              </a:rPr>
              <a:t>COMMAND</a:t>
            </a:r>
            <a:endParaRPr lang="en-US" altLang="en-GB">
              <a:solidFill>
                <a:srgbClr val="FFC000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EXECUTE:</a:t>
            </a:r>
            <a:r>
              <a:rPr lang="en-US" altLang="en-GB">
                <a:solidFill>
                  <a:schemeClr val="bg1"/>
                </a:solidFill>
              </a:rPr>
              <a:t> </a:t>
            </a:r>
            <a:r>
              <a:rPr lang="en-US" altLang="en-GB">
                <a:solidFill>
                  <a:schemeClr val="accent1">
                    <a:lumMod val="75000"/>
                  </a:schemeClr>
                </a:solidFill>
              </a:rPr>
              <a:t>UPDATE</a:t>
            </a:r>
            <a:r>
              <a:rPr lang="en-US" altLang="en-GB">
                <a:solidFill>
                  <a:srgbClr val="00B0F0"/>
                </a:solidFill>
              </a:rPr>
              <a:t> </a:t>
            </a:r>
            <a:r>
              <a:rPr lang="en-US" altLang="en-GB">
                <a:solidFill>
                  <a:schemeClr val="bg1"/>
                </a:solidFill>
              </a:rPr>
              <a:t>tbl_Payroll;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SET Status = ‘Deleted’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00B0F0"/>
                </a:solidFill>
              </a:rPr>
              <a:t>WHERE</a:t>
            </a:r>
            <a:r>
              <a:rPr lang="en-US" altLang="en-GB">
                <a:solidFill>
                  <a:schemeClr val="bg1"/>
                </a:solidFill>
              </a:rPr>
              <a:t> Emp_ID=</a:t>
            </a:r>
            <a:r>
              <a:rPr lang="en-US" altLang="en-GB">
                <a:solidFill>
                  <a:srgbClr val="00B0F0"/>
                </a:solidFill>
              </a:rPr>
              <a:t>103</a:t>
            </a:r>
            <a:r>
              <a:rPr lang="en-US" altLang="en-GB">
                <a:solidFill>
                  <a:schemeClr val="bg1"/>
                </a:solidFill>
              </a:rPr>
              <a:t>;</a:t>
            </a:r>
            <a:endParaRPr lang="en-US" altLang="en-GB">
              <a:solidFill>
                <a:schemeClr val="bg1"/>
              </a:solidFill>
            </a:endParaRPr>
          </a:p>
        </p:txBody>
      </p:sp>
      <p:graphicFrame>
        <p:nvGraphicFramePr>
          <p:cNvPr id="20" name="Table 19"/>
          <p:cNvGraphicFramePr/>
          <p:nvPr>
            <p:custDataLst>
              <p:tags r:id="rId1"/>
            </p:custDataLst>
          </p:nvPr>
        </p:nvGraphicFramePr>
        <p:xfrm>
          <a:off x="7369810" y="882650"/>
          <a:ext cx="4264025" cy="1541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695"/>
                <a:gridCol w="1849755"/>
                <a:gridCol w="1425575"/>
              </a:tblGrid>
              <a:tr h="7137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Emp_ID</a:t>
                      </a:r>
                      <a:endParaRPr lang="en-US" altLang="en-GB" sz="18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Employee_Name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Salary_USD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101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Alice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8500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4140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102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bob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6200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47320" y="544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C000"/>
                </a:solidFill>
              </a:rPr>
              <a:t>BEFORE</a:t>
            </a:r>
            <a:endParaRPr lang="en-US" altLang="en-GB">
              <a:solidFill>
                <a:srgbClr val="FFC00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450455" y="544830"/>
            <a:ext cx="4095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C000"/>
                </a:solidFill>
              </a:rPr>
              <a:t>AFTER</a:t>
            </a:r>
            <a:endParaRPr lang="en-US" altLang="en-GB">
              <a:solidFill>
                <a:srgbClr val="FFC000"/>
              </a:solidFill>
            </a:endParaRPr>
          </a:p>
        </p:txBody>
      </p:sp>
      <p:graphicFrame>
        <p:nvGraphicFramePr>
          <p:cNvPr id="10" name="Table 9"/>
          <p:cNvGraphicFramePr/>
          <p:nvPr/>
        </p:nvGraphicFramePr>
        <p:xfrm>
          <a:off x="147320" y="3095625"/>
          <a:ext cx="428625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85"/>
                <a:gridCol w="1835785"/>
                <a:gridCol w="1325880"/>
              </a:tblGrid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Emp_ID</a:t>
                      </a:r>
                      <a:endParaRPr lang="en-US" altLang="en-GB" sz="18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Employee_Name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Salary_USD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101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Alice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8500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102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bob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6200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103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Charlie</a:t>
                      </a:r>
                      <a:endParaRPr lang="en-US" altLang="en-GB" sz="18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9100</a:t>
                      </a:r>
                      <a:endParaRPr lang="en-US" altLang="en-GB" sz="18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147320" y="27273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C000"/>
                </a:solidFill>
              </a:rPr>
              <a:t>BEFORE</a:t>
            </a:r>
            <a:endParaRPr lang="en-US" altLang="en-GB">
              <a:solidFill>
                <a:srgbClr val="FFC000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003165" y="3227705"/>
            <a:ext cx="24504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C000"/>
                </a:solidFill>
              </a:rPr>
              <a:t>COMMAND</a:t>
            </a:r>
            <a:endParaRPr lang="en-US" altLang="en-GB">
              <a:solidFill>
                <a:srgbClr val="FFC000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EXECUTE:</a:t>
            </a:r>
            <a:r>
              <a:rPr lang="en-US" altLang="en-GB">
                <a:solidFill>
                  <a:schemeClr val="bg1"/>
                </a:solidFill>
              </a:rPr>
              <a:t> </a:t>
            </a:r>
            <a:r>
              <a:rPr lang="en-US" altLang="en-GB">
                <a:solidFill>
                  <a:srgbClr val="00B0F0"/>
                </a:solidFill>
              </a:rPr>
              <a:t>DROP TABLE </a:t>
            </a:r>
            <a:r>
              <a:rPr lang="en-US" altLang="en-GB">
                <a:solidFill>
                  <a:schemeClr val="bg1"/>
                </a:solidFill>
              </a:rPr>
              <a:t>tbl_Payroll;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8547735" y="3095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C000"/>
                </a:solidFill>
              </a:rPr>
              <a:t>AFTER</a:t>
            </a:r>
            <a:endParaRPr lang="en-US" altLang="en-GB">
              <a:solidFill>
                <a:srgbClr val="FFC000"/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7569835" y="36429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0000"/>
                </a:solidFill>
              </a:rPr>
              <a:t>ERROR</a:t>
            </a:r>
            <a:r>
              <a:rPr lang="en-US" altLang="en-GB">
                <a:solidFill>
                  <a:schemeClr val="bg1"/>
                </a:solidFill>
              </a:rPr>
              <a:t>: Table ‘tbl_Payroll’ does not exist</a:t>
            </a:r>
            <a:r>
              <a:rPr lang="en-US" altLang="en-GB"/>
              <a:t>.</a:t>
            </a:r>
            <a:endParaRPr lang="en-US" altLang="en-GB"/>
          </a:p>
        </p:txBody>
      </p:sp>
      <p:sp>
        <p:nvSpPr>
          <p:cNvPr id="18" name="Text Box 17"/>
          <p:cNvSpPr txBox="1"/>
          <p:nvPr/>
        </p:nvSpPr>
        <p:spPr>
          <a:xfrm>
            <a:off x="147320" y="4959350"/>
            <a:ext cx="5325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accent1">
                    <a:lumMod val="50000"/>
                  </a:schemeClr>
                </a:solidFill>
                <a:sym typeface="+mn-ea"/>
              </a:rPr>
              <a:t>SELECT 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* FROM tbl_Payroll WHERE Status = ‘deleted’;</a:t>
            </a:r>
            <a:endParaRPr lang="en-GB" altLang="en-US"/>
          </a:p>
        </p:txBody>
      </p:sp>
      <p:sp>
        <p:nvSpPr>
          <p:cNvPr id="21" name="Text Box 20"/>
          <p:cNvSpPr txBox="1"/>
          <p:nvPr/>
        </p:nvSpPr>
        <p:spPr>
          <a:xfrm>
            <a:off x="147320" y="46374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C000"/>
                </a:solidFill>
              </a:rPr>
              <a:t>UPDATE</a:t>
            </a:r>
            <a:endParaRPr lang="en-US" altLang="en-GB">
              <a:solidFill>
                <a:srgbClr val="FFC000"/>
              </a:solidFill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147320" y="5509260"/>
            <a:ext cx="79051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accent1">
                    <a:lumMod val="50000"/>
                  </a:schemeClr>
                </a:solidFill>
              </a:rPr>
              <a:t>SELECT</a:t>
            </a:r>
            <a:r>
              <a:rPr lang="en-US" altLang="en-GB">
                <a:solidFill>
                  <a:schemeClr val="bg1"/>
                </a:solidFill>
              </a:rPr>
              <a:t> 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Emp_ID , Employee_Name, Salary_USD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</a:rPr>
              <a:t>FROM tbl_Payroll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WHERE Status = ‘Active’;</a:t>
            </a:r>
            <a:endParaRPr lang="en-US" altLang="en-GB">
              <a:solidFill>
                <a:schemeClr val="bg1"/>
              </a:solidFill>
            </a:endParaRPr>
          </a:p>
        </p:txBody>
      </p:sp>
      <p:graphicFrame>
        <p:nvGraphicFramePr>
          <p:cNvPr id="27" name="Table 26"/>
          <p:cNvGraphicFramePr/>
          <p:nvPr/>
        </p:nvGraphicFramePr>
        <p:xfrm>
          <a:off x="6019800" y="4959350"/>
          <a:ext cx="428625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85"/>
                <a:gridCol w="1835785"/>
                <a:gridCol w="1325880"/>
              </a:tblGrid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Emp_ID</a:t>
                      </a:r>
                      <a:endParaRPr lang="en-US" altLang="en-GB" sz="18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Employee_Name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Salary_USD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101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Alice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8500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102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bob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6200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103</a:t>
                      </a:r>
                      <a:endParaRPr lang="en-US" altLang="en-GB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rgbClr val="00B050"/>
                          </a:solidFill>
                          <a:sym typeface="+mn-ea"/>
                        </a:rPr>
                        <a:t>Charlie</a:t>
                      </a:r>
                      <a:endParaRPr lang="en-US" altLang="en-GB" sz="1800">
                        <a:solidFill>
                          <a:srgbClr val="00B050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rgbClr val="00B050"/>
                          </a:solidFill>
                          <a:sym typeface="+mn-ea"/>
                        </a:rPr>
                        <a:t>9100</a:t>
                      </a:r>
                      <a:endParaRPr lang="en-US" altLang="en-GB" sz="1800">
                        <a:solidFill>
                          <a:srgbClr val="00B050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/>
          <p:nvPr>
            <p:custDataLst>
              <p:tags r:id="rId2"/>
            </p:custDataLst>
          </p:nvPr>
        </p:nvGraphicFramePr>
        <p:xfrm>
          <a:off x="10220325" y="4950460"/>
          <a:ext cx="1325880" cy="1471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STATUS</a:t>
                      </a:r>
                      <a:endParaRPr lang="en-US" altLang="en-GB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Active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83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bg1"/>
                          </a:solidFill>
                          <a:sym typeface="+mn-ea"/>
                        </a:rPr>
                        <a:t>Active</a:t>
                      </a:r>
                      <a:endParaRPr lang="en-GB" altLang="en-US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rgbClr val="FF0000"/>
                          </a:solidFill>
                          <a:sym typeface="+mn-ea"/>
                        </a:rPr>
                        <a:t>Deleted</a:t>
                      </a:r>
                      <a:endParaRPr lang="en-US" altLang="en-GB" sz="1800" b="1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9" name="Text Box 28"/>
          <p:cNvSpPr txBox="1"/>
          <p:nvPr/>
        </p:nvSpPr>
        <p:spPr>
          <a:xfrm>
            <a:off x="6019800" y="4498975"/>
            <a:ext cx="4064000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chemeClr val="accent1">
                    <a:lumMod val="50000"/>
                  </a:schemeClr>
                </a:solidFill>
                <a:sym typeface="+mn-ea"/>
              </a:rPr>
              <a:t>SELECT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 * FROM tbl_Payroll;</a:t>
            </a:r>
            <a:endParaRPr lang="en-GB" altLang="en-US"/>
          </a:p>
          <a:p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2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3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4.xml><?xml version="1.0" encoding="utf-8"?>
<p:tagLst xmlns:p="http://schemas.openxmlformats.org/presentationml/2006/main">
  <p:tag name="TABLE_ENDDRAG_ORIGIN_RECT" val="372*136"/>
  <p:tag name="TABLE_ENDDRAG_RECT" val="552*123*372*136"/>
</p:tagLst>
</file>

<file path=ppt/tags/tag5.xml><?xml version="1.0" encoding="utf-8"?>
<p:tagLst xmlns:p="http://schemas.openxmlformats.org/presentationml/2006/main">
  <p:tag name="TABLE_ENDDRAG_ORIGIN_RECT" val="315*122"/>
  <p:tag name="TABLE_ENDDRAG_RECT" val="629*405*315*122"/>
</p:tagLst>
</file>

<file path=ppt/tags/tag6.xml><?xml version="1.0" encoding="utf-8"?>
<p:tagLst xmlns:p="http://schemas.openxmlformats.org/presentationml/2006/main">
  <p:tag name="TABLE_ENDDRAG_ORIGIN_RECT" val="315*122"/>
  <p:tag name="TABLE_ENDDRAG_RECT" val="629*405*315*122"/>
</p:tagLst>
</file>

<file path=ppt/tags/tag7.xml><?xml version="1.0" encoding="utf-8"?>
<p:tagLst xmlns:p="http://schemas.openxmlformats.org/presentationml/2006/main">
  <p:tag name="TABLE_ENDDRAG_ORIGIN_RECT" val="104*115"/>
  <p:tag name="TABLE_ENDDRAG_RECT" val="811*368*104*1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3733</Words>
  <Application>WPS Presentation</Application>
  <PresentationFormat>宽屏</PresentationFormat>
  <Paragraphs>359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unjuehevo</cp:lastModifiedBy>
  <cp:revision>133</cp:revision>
  <dcterms:created xsi:type="dcterms:W3CDTF">2015-12-25T06:51:00Z</dcterms:created>
  <dcterms:modified xsi:type="dcterms:W3CDTF">2026-05-28T22:45:52Z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2057-12.2.0.23202</vt:lpwstr>
  </property>
  <property fmtid="{D5CDD505-2E9C-101B-9397-08002B2CF9AE}" pid="3" name="ICV">
    <vt:lpwstr>2E9DC4D78BD04CB8B101EE7FD4EEE07C_13</vt:lpwstr>
  </property>
</Properties>
</file>
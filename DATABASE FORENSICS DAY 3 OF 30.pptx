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0"/>
  </p:handoutMasterIdLst>
  <p:sldIdLst>
    <p:sldId id="288" r:id="rId3"/>
    <p:sldId id="274" r:id="rId5"/>
    <p:sldId id="291" r:id="rId6"/>
    <p:sldId id="262" r:id="rId7"/>
    <p:sldId id="296" r:id="rId8"/>
    <p:sldId id="295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clrMru>
    <a:srgbClr val="322920"/>
    <a:srgbClr val="034650"/>
    <a:srgbClr val="2C292C"/>
    <a:srgbClr val="471D0F"/>
    <a:srgbClr val="1E887A"/>
    <a:srgbClr val="3F6666"/>
    <a:srgbClr val="3E1D89"/>
    <a:srgbClr val="360CCF"/>
    <a:srgbClr val="BA3649"/>
    <a:srgbClr val="B6B6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5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ea typeface="Arial" panose="020B0604020202020204" pitchFamily="34" charset="0"/>
              </a:defRPr>
            </a:lvl1pPr>
          </a:lstStyle>
          <a:p>
            <a:fld id="{DCA5C2E7-9D8F-47E6-AD76-B5B08028EF9F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z="1200" smtClean="0">
                <a:sym typeface="+mn-ea"/>
              </a:rPr>
              <a:t>Click to edit Master text style</a:t>
            </a:r>
            <a:endParaRPr lang="zh-CN" altLang="en-US" sz="1200" smtClean="0"/>
          </a:p>
          <a:p>
            <a:pPr lvl="1"/>
            <a:r>
              <a:rPr lang="zh-CN" altLang="en-US" sz="1200" smtClean="0">
                <a:sym typeface="+mn-ea"/>
              </a:rPr>
              <a:t>Second level</a:t>
            </a:r>
            <a:endParaRPr lang="zh-CN" altLang="en-US" sz="1200" smtClean="0"/>
          </a:p>
          <a:p>
            <a:pPr lvl="2"/>
            <a:r>
              <a:rPr lang="zh-CN" altLang="en-US" sz="1200" smtClean="0">
                <a:sym typeface="+mn-ea"/>
              </a:rPr>
              <a:t>Third level</a:t>
            </a:r>
            <a:endParaRPr lang="zh-CN" altLang="en-US" sz="1200" smtClean="0"/>
          </a:p>
          <a:p>
            <a:pPr lvl="3"/>
            <a:r>
              <a:rPr lang="zh-CN" altLang="en-US" sz="1200" smtClean="0">
                <a:sym typeface="+mn-ea"/>
              </a:rPr>
              <a:t>Fourth level</a:t>
            </a:r>
            <a:endParaRPr lang="zh-CN" altLang="en-US" sz="1200" smtClean="0"/>
          </a:p>
          <a:p>
            <a:pPr lvl="4"/>
            <a:r>
              <a:rPr lang="zh-CN" altLang="en-US" sz="1200" smtClean="0">
                <a:sym typeface="+mn-ea"/>
              </a:rPr>
              <a:t>Fifth level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ea typeface="Arial" panose="020B0604020202020204" pitchFamily="34" charset="0"/>
              </a:defRPr>
            </a:lvl1pPr>
          </a:lstStyle>
          <a:p>
            <a:fld id="{3AE85B77-8AE0-464C-9A26-6A01A479EBF1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Arial" panose="020B0604020202020204" pitchFamily="34" charset="0"/>
        <a:cs typeface="+mn-cs"/>
        <a:sym typeface="Arial" panose="020B0604020202020204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Arial" panose="020B0604020202020204" pitchFamily="34" charset="0"/>
        <a:cs typeface="+mn-cs"/>
        <a:sym typeface="Arial" panose="020B0604020202020204" pitchFamily="34" charset="0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Arial" panose="020B0604020202020204" pitchFamily="34" charset="0"/>
        <a:cs typeface="+mn-cs"/>
        <a:sym typeface="Arial" panose="020B0604020202020204" pitchFamily="34" charset="0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Arial" panose="020B0604020202020204" pitchFamily="34" charset="0"/>
        <a:cs typeface="+mn-cs"/>
        <a:sym typeface="Arial" panose="020B0604020202020204" pitchFamily="34" charset="0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Arial" panose="020B0604020202020204" pitchFamily="34" charset="0"/>
        <a:cs typeface="+mn-cs"/>
        <a:sym typeface="Arial" panose="020B0604020202020204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GB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GB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GB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GB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Click to edit Master title style</a:t>
            </a:r>
            <a:endParaRPr lang="zh-CN" altLang="en-US" smtClean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Click to edit Master title style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5374B-67E0-43BB-AAEC-D34305E25872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586E4-5CDA-4957-9A81-9500A0862C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eelOff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Click to edit Master title style</a:t>
            </a:r>
            <a:endParaRPr lang="zh-CN" altLang="en-US" smtClean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zh-CN" altLang="en-US" smtClean="0"/>
              <a:t>Click to edit Master text style</a:t>
            </a:r>
            <a:endParaRPr lang="zh-CN" altLang="en-US" smtClean="0"/>
          </a:p>
          <a:p>
            <a:pPr lvl="1"/>
            <a:r>
              <a:rPr lang="zh-CN" altLang="en-US" smtClean="0"/>
              <a:t>Second level</a:t>
            </a:r>
            <a:endParaRPr lang="zh-CN" altLang="en-US" smtClean="0"/>
          </a:p>
          <a:p>
            <a:pPr lvl="2"/>
            <a:r>
              <a:rPr lang="zh-CN" altLang="en-US" smtClean="0"/>
              <a:t>Third level</a:t>
            </a:r>
            <a:endParaRPr lang="zh-CN" altLang="en-US" smtClean="0"/>
          </a:p>
          <a:p>
            <a:pPr lvl="3"/>
            <a:r>
              <a:rPr lang="zh-CN" altLang="en-US" smtClean="0"/>
              <a:t>Fourth level</a:t>
            </a:r>
            <a:endParaRPr lang="zh-CN" altLang="en-US" smtClean="0"/>
          </a:p>
          <a:p>
            <a:pPr lvl="4"/>
            <a:r>
              <a:rPr lang="zh-CN" altLang="en-US" smtClean="0"/>
              <a:t>Fifth level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5374B-67E0-43BB-AAEC-D34305E25872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586E4-5CDA-4957-9A81-9500A0862C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eelOff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5374B-67E0-43BB-AAEC-D34305E25872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586E4-5CDA-4957-9A81-9500A0862C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eelOff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Click to edit Master title style</a:t>
            </a:r>
            <a:endParaRPr lang="zh-CN" altLang="en-US" smtClean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</p:spPr>
        <p:txBody>
          <a:bodyPr/>
          <a:lstStyle>
            <a:lvl1pPr>
              <a:defRPr/>
            </a:lvl1pPr>
          </a:lstStyle>
          <a:p>
            <a:fld id="{5A079F21-3BE8-4E0A-A2CF-C18BDEAD91D7}" type="datetime1">
              <a:rPr lang="zh-CN" altLang="en-US"/>
            </a:fld>
            <a:endParaRPr lang="zh-CN" altLang="en-US" sz="1865" dirty="0">
              <a:solidFill>
                <a:schemeClr val="tx1"/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zh-CN"/>
              <a:t> </a:t>
            </a:r>
            <a:endParaRPr lang="zh-CN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</p:spPr>
        <p:txBody>
          <a:bodyPr/>
          <a:lstStyle>
            <a:lvl1pPr>
              <a:defRPr/>
            </a:lvl1pPr>
          </a:lstStyle>
          <a:p>
            <a:fld id="{70336DA7-0B35-4766-B3FA-87CC82BF78CC}" type="slidenum">
              <a:rPr lang="zh-CN" altLang="en-US"/>
            </a:fld>
            <a:endParaRPr lang="zh-CN" altLang="en-US" sz="1865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eelOff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6" Type="http://schemas.openxmlformats.org/officeDocument/2006/relationships/theme" Target="../theme/theme1.xml"/><Relationship Id="rId5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Click to edit Master title style</a:t>
            </a:r>
            <a:endParaRPr lang="zh-CN" altLang="en-US" smtClean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Click to edit Master text style</a:t>
            </a:r>
            <a:endParaRPr lang="zh-CN" altLang="en-US" smtClean="0"/>
          </a:p>
          <a:p>
            <a:pPr lvl="1"/>
            <a:r>
              <a:rPr lang="zh-CN" altLang="en-US" smtClean="0"/>
              <a:t>Second level</a:t>
            </a:r>
            <a:endParaRPr lang="zh-CN" altLang="en-US" smtClean="0"/>
          </a:p>
          <a:p>
            <a:pPr lvl="2"/>
            <a:r>
              <a:rPr lang="zh-CN" altLang="en-US" smtClean="0"/>
              <a:t>Third level</a:t>
            </a:r>
            <a:endParaRPr lang="zh-CN" altLang="en-US" smtClean="0"/>
          </a:p>
          <a:p>
            <a:pPr lvl="3"/>
            <a:r>
              <a:rPr lang="zh-CN" altLang="en-US" smtClean="0"/>
              <a:t>Fourth level</a:t>
            </a:r>
            <a:endParaRPr lang="zh-CN" altLang="en-US" smtClean="0"/>
          </a:p>
          <a:p>
            <a:pPr lvl="4"/>
            <a:r>
              <a:rPr lang="zh-CN" altLang="en-US" smtClean="0"/>
              <a:t>Fifth level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ea typeface="Arial" panose="020B0604020202020204" pitchFamily="34" charset="0"/>
              </a:defRPr>
            </a:lvl1pPr>
          </a:lstStyle>
          <a:p>
            <a:fld id="{C135374B-67E0-43BB-AAEC-D34305E25872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ea typeface="Arial" panose="020B0604020202020204" pitchFamily="34" charset="0"/>
              </a:defRPr>
            </a:lvl1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ea typeface="Arial" panose="020B0604020202020204" pitchFamily="34" charset="0"/>
              </a:defRPr>
            </a:lvl1pPr>
          </a:lstStyle>
          <a:p>
            <a:fld id="{292586E4-5CDA-4957-9A81-9500A0862CB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eelOff"/>
      </p:transition>
    </mc:Choice>
    <mc:Fallback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Arial" panose="020B0604020202020204" pitchFamily="34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Arial" panose="020B0604020202020204" pitchFamily="34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Arial" panose="020B0604020202020204" pitchFamily="34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Arial" panose="020B0604020202020204" pitchFamily="34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Arial" panose="020B0604020202020204" pitchFamily="34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Arial" panose="020B0604020202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2.jpeg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5.xml"/><Relationship Id="rId1" Type="http://schemas.openxmlformats.org/officeDocument/2006/relationships/tags" Target="../tags/tag4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7.xml"/><Relationship Id="rId1" Type="http://schemas.openxmlformats.org/officeDocument/2006/relationships/tags" Target="../tags/tag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框 9"/>
          <p:cNvSpPr txBox="1"/>
          <p:nvPr/>
        </p:nvSpPr>
        <p:spPr>
          <a:xfrm>
            <a:off x="2286000" y="379095"/>
            <a:ext cx="7620000" cy="1353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800" dirty="0">
                <a:solidFill>
                  <a:schemeClr val="bg1"/>
                </a:solidFill>
                <a:effectLst>
                  <a:outerShdw blurRad="60007" dist="310007" dir="7680000" sy="30000" kx="1300200" algn="ctr" rotWithShape="0">
                    <a:schemeClr val="bg1">
                      <a:alpha val="32000"/>
                    </a:schemeClr>
                  </a:outerShdw>
                </a:effectLst>
                <a:latin typeface="Arial" panose="020B0604020202020204" pitchFamily="34" charset="0"/>
                <a:ea typeface="Arial" panose="020B0604020202020204" pitchFamily="34" charset="0"/>
              </a:rPr>
              <a:t>     </a:t>
            </a:r>
            <a:r>
              <a:rPr lang="en-US" altLang="zh-CN" sz="4800" dirty="0">
                <a:solidFill>
                  <a:schemeClr val="bg1"/>
                </a:solidFill>
                <a:effectLst>
                  <a:outerShdw blurRad="60007" dist="310007" dir="7680000" sy="30000" kx="1300200" algn="ctr" rotWithShape="0">
                    <a:schemeClr val="bg1">
                      <a:alpha val="32000"/>
                    </a:schemeClr>
                  </a:outerShdw>
                </a:effectLst>
                <a:latin typeface="Arial" panose="020B0604020202020204" pitchFamily="34" charset="0"/>
                <a:ea typeface="Arial" panose="020B0604020202020204" pitchFamily="34" charset="0"/>
              </a:rPr>
              <a:t> Database Forensics</a:t>
            </a:r>
            <a:r>
              <a:rPr lang="en-US" altLang="zh-CN" sz="3800" dirty="0">
                <a:solidFill>
                  <a:schemeClr val="bg1"/>
                </a:solidFill>
                <a:effectLst>
                  <a:outerShdw blurRad="60007" dist="310007" dir="7680000" sy="30000" kx="1300200" algn="ctr" rotWithShape="0">
                    <a:schemeClr val="bg1">
                      <a:alpha val="32000"/>
                    </a:schemeClr>
                  </a:outerShdw>
                </a:effectLst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endParaRPr lang="en-US" altLang="zh-CN" sz="3800" dirty="0">
              <a:solidFill>
                <a:schemeClr val="bg1"/>
              </a:solidFill>
              <a:effectLst>
                <a:outerShdw blurRad="60007" dist="310007" dir="7680000" sy="30000" kx="1300200" algn="ctr" rotWithShape="0">
                  <a:schemeClr val="bg1">
                    <a:alpha val="32000"/>
                  </a:schemeClr>
                </a:outerShdw>
              </a:effectLst>
              <a:latin typeface="Arial" panose="020B0604020202020204" pitchFamily="34" charset="0"/>
              <a:ea typeface="Arial" panose="020B0604020202020204" pitchFamily="34" charset="0"/>
            </a:endParaRPr>
          </a:p>
          <a:p>
            <a:endParaRPr lang="en-US" altLang="zh-CN" sz="1000" dirty="0">
              <a:solidFill>
                <a:schemeClr val="bg1"/>
              </a:solidFill>
              <a:effectLst>
                <a:outerShdw blurRad="60007" dist="310007" dir="7680000" sy="30000" kx="1300200" algn="ctr" rotWithShape="0">
                  <a:schemeClr val="bg1">
                    <a:alpha val="32000"/>
                  </a:schemeClr>
                </a:outerShdw>
              </a:effectLst>
              <a:latin typeface="Arial" panose="020B0604020202020204" pitchFamily="34" charset="0"/>
              <a:ea typeface="Arial" panose="020B0604020202020204" pitchFamily="34" charset="0"/>
            </a:endParaRPr>
          </a:p>
          <a:p>
            <a:r>
              <a:rPr lang="en-US" altLang="zh-CN" sz="2400" dirty="0">
                <a:solidFill>
                  <a:schemeClr val="bg1"/>
                </a:solidFill>
                <a:effectLst>
                  <a:outerShdw blurRad="60007" dist="310007" dir="7680000" sy="30000" kx="1300200" algn="ctr" rotWithShape="0">
                    <a:schemeClr val="bg1">
                      <a:alpha val="32000"/>
                    </a:schemeClr>
                  </a:outerShdw>
                </a:effectLst>
                <a:latin typeface="Arial" panose="020B0604020202020204" pitchFamily="34" charset="0"/>
                <a:ea typeface="Arial" panose="020B0604020202020204" pitchFamily="34" charset="0"/>
              </a:rPr>
              <a:t>How Data Solves Crimes in Large Organisations</a:t>
            </a:r>
            <a:endParaRPr lang="en-US" altLang="zh-CN" sz="2400" dirty="0">
              <a:solidFill>
                <a:schemeClr val="bg1"/>
              </a:solidFill>
              <a:effectLst>
                <a:outerShdw blurRad="60007" dist="310007" dir="7680000" sy="30000" kx="1300200" algn="ctr" rotWithShape="0">
                  <a:schemeClr val="bg1">
                    <a:alpha val="32000"/>
                  </a:schemeClr>
                </a:outerShdw>
              </a:effectLst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1448435" y="2380615"/>
            <a:ext cx="9443085" cy="88836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/>
            <a:r>
              <a:rPr lang="en-US" altLang="zh-CN" sz="2200" b="1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A  </a:t>
            </a:r>
            <a:r>
              <a:rPr lang="en-US" altLang="zh-CN" sz="2200" b="1" dirty="0" smtClean="0">
                <a:solidFill>
                  <a:srgbClr val="FFC000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6</a:t>
            </a:r>
            <a:r>
              <a:rPr lang="en-US" altLang="zh-CN" sz="2200" b="1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-slide guide to investigating data </a:t>
            </a:r>
            <a:endParaRPr lang="en-US" altLang="zh-CN" sz="2200" b="1" dirty="0" smtClean="0">
              <a:solidFill>
                <a:schemeClr val="bg1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algn="ctr"/>
            <a:r>
              <a:rPr lang="en-US" altLang="zh-CN" sz="2200" b="1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at scale with SQL and audit logs</a:t>
            </a:r>
            <a:endParaRPr lang="en-US" altLang="zh-CN" sz="2200" b="1" dirty="0" smtClean="0">
              <a:solidFill>
                <a:schemeClr val="bg1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  <a:p>
            <a:endParaRPr lang="en-US" altLang="zh-CN" sz="2200" b="1" dirty="0" smtClean="0">
              <a:solidFill>
                <a:schemeClr val="bg1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  <a:p>
            <a:endParaRPr lang="en-US" altLang="zh-CN" sz="2200" b="1" dirty="0" smtClean="0">
              <a:solidFill>
                <a:schemeClr val="bg1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  <a:p>
            <a:endParaRPr lang="en-US" altLang="zh-CN" sz="2200" b="1" dirty="0" smtClean="0">
              <a:solidFill>
                <a:schemeClr val="bg1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9" name="Text Box 8"/>
          <p:cNvSpPr txBox="1"/>
          <p:nvPr/>
        </p:nvSpPr>
        <p:spPr>
          <a:xfrm>
            <a:off x="6344285" y="5059045"/>
            <a:ext cx="406400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200" b="1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Day </a:t>
            </a:r>
            <a:r>
              <a:rPr lang="en-US" altLang="zh-CN" sz="2200" b="1" dirty="0" smtClean="0">
                <a:solidFill>
                  <a:srgbClr val="FFC000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3 </a:t>
            </a:r>
            <a:r>
              <a:rPr lang="en-US" altLang="zh-CN" sz="2200" b="1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of 30 | June 2026 </a:t>
            </a:r>
            <a:endParaRPr lang="en-US" altLang="zh-CN" b="1" dirty="0" smtClean="0">
              <a:solidFill>
                <a:schemeClr val="bg1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  <a:p>
            <a:endParaRPr lang="en-GB" altLang="en-US"/>
          </a:p>
        </p:txBody>
      </p:sp>
      <p:sp>
        <p:nvSpPr>
          <p:cNvPr id="16" name="Text Box 15"/>
          <p:cNvSpPr txBox="1"/>
          <p:nvPr/>
        </p:nvSpPr>
        <p:spPr>
          <a:xfrm>
            <a:off x="97790" y="5017135"/>
            <a:ext cx="3946525" cy="6134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dirty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EVODIA UNJUEH AKU</a:t>
            </a:r>
            <a:endParaRPr lang="en-US" altLang="zh-CN" dirty="0">
              <a:solidFill>
                <a:schemeClr val="bg1"/>
              </a:solidFill>
              <a:latin typeface="Arial" panose="020B0604020202020204" pitchFamily="34" charset="0"/>
              <a:ea typeface="Arial" panose="020B0604020202020204" pitchFamily="34" charset="0"/>
              <a:sym typeface="+mn-ea"/>
            </a:endParaRPr>
          </a:p>
          <a:p>
            <a:r>
              <a:rPr lang="en-US" altLang="zh-CN" dirty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unjuehevo@gmail.com</a:t>
            </a:r>
            <a:endParaRPr lang="en-US" altLang="zh-CN" dirty="0">
              <a:solidFill>
                <a:schemeClr val="bg1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  <a:p>
            <a:endParaRPr lang="en-US" altLang="en-GB">
              <a:solidFill>
                <a:schemeClr val="bg1"/>
              </a:solidFill>
            </a:endParaRPr>
          </a:p>
          <a:p>
            <a:endParaRPr lang="en-US" altLang="en-GB">
              <a:solidFill>
                <a:schemeClr val="bg1"/>
              </a:solidFill>
            </a:endParaRPr>
          </a:p>
        </p:txBody>
      </p:sp>
      <p:pic>
        <p:nvPicPr>
          <p:cNvPr id="20" name="Picture 19" descr="WhatsApp Image 2026-05-26 at 9.15.32 AM"/>
          <p:cNvPicPr>
            <a:picLocks noChangeAspect="1"/>
          </p:cNvPicPr>
          <p:nvPr/>
        </p:nvPicPr>
        <p:blipFill>
          <a:blip r:embed="rId1"/>
          <a:srcRect l="11601" t="7675" r="19054" b="14253"/>
          <a:stretch>
            <a:fillRect/>
          </a:stretch>
        </p:blipFill>
        <p:spPr>
          <a:xfrm>
            <a:off x="0" y="0"/>
            <a:ext cx="807085" cy="859155"/>
          </a:xfrm>
          <a:prstGeom prst="rect">
            <a:avLst/>
          </a:prstGeom>
        </p:spPr>
      </p:pic>
      <p:pic>
        <p:nvPicPr>
          <p:cNvPr id="21" name="Picture 20" descr="WhatsApp Image 2026-05-26 at 9.15.32 AM"/>
          <p:cNvPicPr>
            <a:picLocks noChangeAspect="1"/>
          </p:cNvPicPr>
          <p:nvPr/>
        </p:nvPicPr>
        <p:blipFill>
          <a:blip r:embed="rId1"/>
          <a:srcRect l="18064" t="13385" r="17739" b="15487"/>
          <a:stretch>
            <a:fillRect/>
          </a:stretch>
        </p:blipFill>
        <p:spPr>
          <a:xfrm>
            <a:off x="11438255" y="5977255"/>
            <a:ext cx="753745" cy="8807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cover dir="d"/>
      </p:transition>
    </mc:Choice>
    <mc:Fallback>
      <p:transition spd="slow">
        <p:cover dir="d"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组合 62"/>
          <p:cNvGrpSpPr/>
          <p:nvPr>
            <p:custDataLst>
              <p:tags r:id="rId1"/>
            </p:custDataLst>
          </p:nvPr>
        </p:nvGrpSpPr>
        <p:grpSpPr bwMode="auto">
          <a:xfrm>
            <a:off x="738183" y="2694249"/>
            <a:ext cx="3913505" cy="1560196"/>
            <a:chOff x="-349700" y="1138886"/>
            <a:chExt cx="3713777" cy="1171252"/>
          </a:xfrm>
        </p:grpSpPr>
        <p:sp>
          <p:nvSpPr>
            <p:cNvPr id="17" name="TextBox 19"/>
            <p:cNvSpPr>
              <a:spLocks noChangeArrowheads="1"/>
            </p:cNvSpPr>
            <p:nvPr>
              <p:custDataLst>
                <p:tags r:id="rId2"/>
              </p:custDataLst>
            </p:nvPr>
          </p:nvSpPr>
          <p:spPr bwMode="auto">
            <a:xfrm>
              <a:off x="-349700" y="1447311"/>
              <a:ext cx="3713777" cy="862827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square">
              <a:noAutofit/>
            </a:bodyPr>
            <a:lstStyle/>
            <a:p>
              <a:endParaRPr lang="en-US" altLang="zh-CN" sz="1600" dirty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</a:endParaRPr>
            </a:p>
          </p:txBody>
        </p:sp>
        <p:sp>
          <p:nvSpPr>
            <p:cNvPr id="18" name="矩形 64"/>
            <p:cNvSpPr>
              <a:spLocks noChangeArrowheads="1"/>
            </p:cNvSpPr>
            <p:nvPr>
              <p:custDataLst>
                <p:tags r:id="rId3"/>
              </p:custDataLst>
            </p:nvPr>
          </p:nvSpPr>
          <p:spPr bwMode="auto">
            <a:xfrm>
              <a:off x="318575" y="1138886"/>
              <a:ext cx="2535709" cy="260755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square">
              <a:noAutofit/>
            </a:bodyPr>
            <a:lstStyle/>
            <a:p>
              <a:pPr algn="ctr"/>
              <a:endParaRPr lang="en-US" altLang="zh-CN" b="1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</a:endParaRPr>
            </a:p>
          </p:txBody>
        </p:sp>
      </p:grpSp>
      <p:sp>
        <p:nvSpPr>
          <p:cNvPr id="4" name="Text Box 3"/>
          <p:cNvSpPr txBox="1"/>
          <p:nvPr/>
        </p:nvSpPr>
        <p:spPr>
          <a:xfrm>
            <a:off x="1614170" y="107950"/>
            <a:ext cx="9576435" cy="624205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 rtlCol="0">
            <a:noAutofit/>
          </a:bodyPr>
          <a:p>
            <a:pPr algn="ctr"/>
            <a:r>
              <a:rPr lang="en-US" altLang="en-GB" sz="2200" b="1">
                <a:solidFill>
                  <a:schemeClr val="bg1"/>
                </a:solidFill>
              </a:rPr>
              <a:t>DATABASE  FORENSICS</a:t>
            </a:r>
            <a:r>
              <a:rPr lang="en-US" altLang="en-GB" sz="2200" b="1">
                <a:solidFill>
                  <a:srgbClr val="FFC000"/>
                </a:solidFill>
              </a:rPr>
              <a:t> = </a:t>
            </a:r>
            <a:r>
              <a:rPr lang="en-US" altLang="en-GB" sz="2200" b="1">
                <a:solidFill>
                  <a:schemeClr val="bg1"/>
                </a:solidFill>
              </a:rPr>
              <a:t>DIGITAL EVIDENCE</a:t>
            </a:r>
            <a:endParaRPr lang="en-US" altLang="en-GB" sz="2200" b="1">
              <a:solidFill>
                <a:schemeClr val="bg1"/>
              </a:solidFill>
            </a:endParaRPr>
          </a:p>
        </p:txBody>
      </p:sp>
      <p:pic>
        <p:nvPicPr>
          <p:cNvPr id="8" name="Picture 7" descr="WhatsApp Image 2026-05-26 at 9.15.32 AM"/>
          <p:cNvPicPr>
            <a:picLocks noChangeAspect="1"/>
          </p:cNvPicPr>
          <p:nvPr/>
        </p:nvPicPr>
        <p:blipFill>
          <a:blip r:embed="rId4"/>
          <a:srcRect l="11601" t="7675" r="19054" b="14253"/>
          <a:stretch>
            <a:fillRect/>
          </a:stretch>
        </p:blipFill>
        <p:spPr>
          <a:xfrm>
            <a:off x="0" y="0"/>
            <a:ext cx="807085" cy="859155"/>
          </a:xfrm>
          <a:prstGeom prst="rect">
            <a:avLst/>
          </a:prstGeom>
        </p:spPr>
      </p:pic>
      <p:pic>
        <p:nvPicPr>
          <p:cNvPr id="9" name="Picture 8" descr="WhatsApp Image 2026-05-26 at 9.15.32 AM"/>
          <p:cNvPicPr>
            <a:picLocks noChangeAspect="1"/>
          </p:cNvPicPr>
          <p:nvPr/>
        </p:nvPicPr>
        <p:blipFill>
          <a:blip r:embed="rId4"/>
          <a:srcRect l="11601" t="7675" r="19054" b="14253"/>
          <a:stretch>
            <a:fillRect/>
          </a:stretch>
        </p:blipFill>
        <p:spPr>
          <a:xfrm>
            <a:off x="11384915" y="5998845"/>
            <a:ext cx="807085" cy="859155"/>
          </a:xfrm>
          <a:prstGeom prst="rect">
            <a:avLst/>
          </a:prstGeom>
        </p:spPr>
      </p:pic>
      <p:sp>
        <p:nvSpPr>
          <p:cNvPr id="14" name="Text Box 13"/>
          <p:cNvSpPr txBox="1"/>
          <p:nvPr/>
        </p:nvSpPr>
        <p:spPr>
          <a:xfrm>
            <a:off x="1809115" y="544195"/>
            <a:ext cx="8674100" cy="6464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en-GB" sz="2800" b="1">
                <a:solidFill>
                  <a:srgbClr val="FFC000"/>
                </a:solidFill>
              </a:rPr>
              <a:t>FORENSIC RECONSTRUCTION OF DATABASE</a:t>
            </a:r>
            <a:endParaRPr lang="en-US" altLang="en-GB" sz="2800" b="1">
              <a:solidFill>
                <a:srgbClr val="FFC000"/>
              </a:solidFill>
            </a:endParaRPr>
          </a:p>
          <a:p>
            <a:pPr algn="ctr"/>
            <a:endParaRPr lang="en-US" altLang="en-GB" sz="2800" b="1">
              <a:solidFill>
                <a:srgbClr val="FFC000"/>
              </a:solidFill>
            </a:endParaRPr>
          </a:p>
        </p:txBody>
      </p:sp>
      <p:sp>
        <p:nvSpPr>
          <p:cNvPr id="15" name="Text Box 14"/>
          <p:cNvSpPr txBox="1"/>
          <p:nvPr/>
        </p:nvSpPr>
        <p:spPr>
          <a:xfrm>
            <a:off x="662305" y="3869690"/>
            <a:ext cx="5144770" cy="18738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en-GB" sz="2400" b="1">
                <a:solidFill>
                  <a:srgbClr val="FFC000"/>
                </a:solidFill>
              </a:rPr>
              <a:t>DELETION</a:t>
            </a:r>
            <a:endParaRPr lang="en-US" altLang="en-GB" sz="2400" b="1">
              <a:solidFill>
                <a:srgbClr val="FFC000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en-GB">
                <a:solidFill>
                  <a:schemeClr val="bg1"/>
                </a:solidFill>
              </a:rPr>
              <a:t>Logical deletion (deleted = yes)  hidden</a:t>
            </a:r>
            <a:endParaRPr lang="en-US" altLang="en-GB">
              <a:solidFill>
                <a:schemeClr val="bg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en-GB">
                <a:solidFill>
                  <a:schemeClr val="bg1"/>
                </a:solidFill>
              </a:rPr>
              <a:t>Physical deletion(logged) harder, riskier</a:t>
            </a:r>
            <a:r>
              <a:rPr lang="en-US" altLang="en-GB"/>
              <a:t>.</a:t>
            </a:r>
            <a:endParaRPr lang="en-US" altLang="en-GB"/>
          </a:p>
        </p:txBody>
      </p:sp>
      <p:sp>
        <p:nvSpPr>
          <p:cNvPr id="19" name="Text Box 18"/>
          <p:cNvSpPr txBox="1"/>
          <p:nvPr/>
        </p:nvSpPr>
        <p:spPr>
          <a:xfrm>
            <a:off x="0" y="1481455"/>
            <a:ext cx="10985500" cy="19069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en-GB" sz="2800" b="1">
                <a:solidFill>
                  <a:srgbClr val="FFC000"/>
                </a:solidFill>
              </a:rPr>
              <a:t>PART ONE </a:t>
            </a:r>
            <a:endParaRPr lang="en-US" altLang="en-GB" sz="2800" b="1">
              <a:solidFill>
                <a:srgbClr val="FFC000"/>
              </a:solidFill>
            </a:endParaRPr>
          </a:p>
          <a:p>
            <a:endParaRPr lang="en-US" altLang="en-GB">
              <a:solidFill>
                <a:schemeClr val="bg1"/>
              </a:solidFill>
            </a:endParaRPr>
          </a:p>
          <a:p>
            <a:endParaRPr lang="en-US" altLang="en-GB">
              <a:solidFill>
                <a:schemeClr val="bg1"/>
              </a:solidFill>
            </a:endParaRPr>
          </a:p>
          <a:p>
            <a:r>
              <a:rPr lang="en-US" altLang="en-GB">
                <a:solidFill>
                  <a:schemeClr val="bg1"/>
                </a:solidFill>
              </a:rPr>
              <a:t>A company found a $12,000 overpayment. The payroll shows no anomaly. HR said, “ Nothing was deleted.”</a:t>
            </a:r>
            <a:endParaRPr lang="en-US" altLang="en-GB">
              <a:solidFill>
                <a:schemeClr val="bg1"/>
              </a:solidFill>
            </a:endParaRPr>
          </a:p>
          <a:p>
            <a:endParaRPr lang="en-US" altLang="en-GB">
              <a:solidFill>
                <a:srgbClr val="FFC000"/>
              </a:solidFill>
            </a:endParaRPr>
          </a:p>
          <a:p>
            <a:r>
              <a:rPr lang="en-US" altLang="en-GB">
                <a:solidFill>
                  <a:srgbClr val="FFC000"/>
                </a:solidFill>
              </a:rPr>
              <a:t>Rebuilding the truth from deleted data. ( </a:t>
            </a:r>
            <a:r>
              <a:rPr lang="en-US" altLang="en-GB" b="1">
                <a:solidFill>
                  <a:schemeClr val="bg1"/>
                </a:solidFill>
              </a:rPr>
              <a:t>How we recover what happened, when, and by who - even after deletion</a:t>
            </a:r>
            <a:r>
              <a:rPr lang="en-US" altLang="en-GB">
                <a:solidFill>
                  <a:srgbClr val="FFC000"/>
                </a:solidFill>
              </a:rPr>
              <a:t>)</a:t>
            </a:r>
            <a:endParaRPr lang="en-US" altLang="en-GB">
              <a:solidFill>
                <a:srgbClr val="FFC000"/>
              </a:solidFill>
            </a:endParaRPr>
          </a:p>
        </p:txBody>
      </p:sp>
      <p:sp>
        <p:nvSpPr>
          <p:cNvPr id="20" name="Text Box 19"/>
          <p:cNvSpPr txBox="1"/>
          <p:nvPr/>
        </p:nvSpPr>
        <p:spPr>
          <a:xfrm>
            <a:off x="50165" y="6119495"/>
            <a:ext cx="70592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GB">
                <a:solidFill>
                  <a:srgbClr val="FFC000"/>
                </a:solidFill>
              </a:rPr>
              <a:t>QUESTION</a:t>
            </a:r>
            <a:r>
              <a:rPr lang="en-US" altLang="en-GB">
                <a:solidFill>
                  <a:schemeClr val="bg1"/>
                </a:solidFill>
              </a:rPr>
              <a:t>: If the record is gone from the UI where do we find it?</a:t>
            </a:r>
            <a:r>
              <a:rPr lang="en-US" altLang="en-GB"/>
              <a:t> </a:t>
            </a:r>
            <a:endParaRPr lang="en-US" altLang="en-GB"/>
          </a:p>
        </p:txBody>
      </p:sp>
      <p:sp>
        <p:nvSpPr>
          <p:cNvPr id="21" name="Text Box 20"/>
          <p:cNvSpPr txBox="1"/>
          <p:nvPr/>
        </p:nvSpPr>
        <p:spPr>
          <a:xfrm>
            <a:off x="6289675" y="3869690"/>
            <a:ext cx="5711825" cy="24993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en-GB" sz="2400" b="1">
                <a:solidFill>
                  <a:srgbClr val="FFC000"/>
                </a:solidFill>
              </a:rPr>
              <a:t>CORE (DATA LIFECYCLE IN SQL)</a:t>
            </a:r>
            <a:endParaRPr lang="en-US" altLang="en-GB" sz="2400" b="1">
              <a:solidFill>
                <a:srgbClr val="FFC00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en-US" altLang="en-GB">
                <a:solidFill>
                  <a:schemeClr val="bg1"/>
                </a:solidFill>
              </a:rPr>
              <a:t>SELECT: How you see data. Baseline for normal</a:t>
            </a:r>
            <a:endParaRPr lang="en-US" altLang="en-GB">
              <a:solidFill>
                <a:schemeClr val="bg1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en-US" altLang="en-GB">
                <a:solidFill>
                  <a:schemeClr val="bg1"/>
                </a:solidFill>
              </a:rPr>
              <a:t>UPDATE: How fraud hides data. Data stays, meaning changes.</a:t>
            </a:r>
            <a:endParaRPr lang="en-US" altLang="en-GB">
              <a:solidFill>
                <a:schemeClr val="bg1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en-US" altLang="en-GB">
                <a:solidFill>
                  <a:schemeClr val="bg1"/>
                </a:solidFill>
              </a:rPr>
              <a:t>DELETE: How data gets removed. Gone  from table, but logged</a:t>
            </a:r>
            <a:endParaRPr lang="en-US" altLang="en-GB">
              <a:solidFill>
                <a:schemeClr val="bg1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en-US" altLang="en-GB">
                <a:solidFill>
                  <a:schemeClr val="bg1"/>
                </a:solidFill>
              </a:rPr>
              <a:t>DROP: How the data gets erased. Nuclear  option, heavy footprint.</a:t>
            </a:r>
            <a:endParaRPr lang="en-US" altLang="en-GB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doors dir="ver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17" name="Table 16"/>
          <p:cNvGraphicFramePr/>
          <p:nvPr/>
        </p:nvGraphicFramePr>
        <p:xfrm>
          <a:off x="289560" y="2118995"/>
          <a:ext cx="11356975" cy="23437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42130"/>
                <a:gridCol w="4031615"/>
                <a:gridCol w="2983230"/>
              </a:tblGrid>
              <a:tr h="42354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rgbClr val="FFC000"/>
                          </a:solidFill>
                          <a:sym typeface="+mn-ea"/>
                        </a:rPr>
                        <a:t>UPDATE</a:t>
                      </a:r>
                      <a:endParaRPr lang="en-US" altLang="en-GB" sz="1800">
                        <a:solidFill>
                          <a:srgbClr val="FFC000"/>
                        </a:solidFill>
                        <a:sym typeface="+mn-ea"/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rgbClr val="FFC000"/>
                          </a:solidFill>
                        </a:rPr>
                        <a:t>DELETE</a:t>
                      </a:r>
                      <a:endParaRPr lang="en-US" altLang="en-GB">
                        <a:solidFill>
                          <a:srgbClr val="FFC000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rgbClr val="FFC000"/>
                          </a:solidFill>
                          <a:sym typeface="+mn-ea"/>
                        </a:rPr>
                        <a:t>DROP </a:t>
                      </a:r>
                      <a:endParaRPr lang="en-US" altLang="en-GB" sz="1800">
                        <a:solidFill>
                          <a:srgbClr val="FFC000"/>
                        </a:solidFill>
                        <a:sym typeface="+mn-ea"/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Logical deletion   </a:t>
                      </a:r>
                      <a:endParaRPr lang="en-US" altLang="en-GB" sz="1800">
                        <a:solidFill>
                          <a:schemeClr val="bg1"/>
                        </a:solidFill>
                        <a:sym typeface="+mn-ea"/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ym typeface="+mn-ea"/>
                        </a:rPr>
                        <a:t>   </a:t>
                      </a: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Physical deletion   </a:t>
                      </a:r>
                      <a:endParaRPr lang="en-US" altLang="en-GB" sz="1800">
                        <a:solidFill>
                          <a:schemeClr val="bg1"/>
                        </a:solidFill>
                        <a:sym typeface="+mn-ea"/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ym typeface="+mn-ea"/>
                        </a:rPr>
                        <a:t>  </a:t>
                      </a: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Physical deletion</a:t>
                      </a:r>
                      <a:endParaRPr lang="en-US" altLang="en-GB" sz="1800"/>
                    </a:p>
                    <a:p>
                      <a:pPr>
                        <a:buNone/>
                      </a:pP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UPDATE payroll set status =</a:t>
                      </a:r>
                      <a:r>
                        <a:rPr lang="en-US" altLang="en-GB"/>
                        <a:t> </a:t>
                      </a:r>
                      <a:r>
                        <a:rPr lang="en-US" altLang="en-GB">
                          <a:solidFill>
                            <a:srgbClr val="00B050"/>
                          </a:solidFill>
                        </a:rPr>
                        <a:t>‘deleted’ </a:t>
                      </a: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where emp_id = “</a:t>
                      </a:r>
                      <a:r>
                        <a:rPr lang="en-US" altLang="en-GB">
                          <a:solidFill>
                            <a:srgbClr val="FF0000"/>
                          </a:solidFill>
                        </a:rPr>
                        <a:t>102</a:t>
                      </a: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;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DELETE FROM payroll WHERE emp_id =</a:t>
                      </a:r>
                      <a:r>
                        <a:rPr lang="en-US" altLang="en-GB"/>
                        <a:t> </a:t>
                      </a:r>
                      <a:r>
                        <a:rPr lang="en-US" altLang="en-GB">
                          <a:solidFill>
                            <a:srgbClr val="FF0000"/>
                          </a:solidFill>
                        </a:rPr>
                        <a:t>102</a:t>
                      </a: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;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DROP TABLE payroll;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If you can still see the row with </a:t>
                      </a:r>
                      <a:r>
                        <a:rPr lang="en-US" altLang="en-GB">
                          <a:solidFill>
                            <a:srgbClr val="FFC000"/>
                          </a:solidFill>
                        </a:rPr>
                        <a:t>WHERE status = ‘deleted’  it was UPDATE</a:t>
                      </a: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. Logical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If the row is gone but you see it in audit logs</a:t>
                      </a:r>
                      <a:r>
                        <a:rPr lang="en-US" altLang="en-GB"/>
                        <a:t>  </a:t>
                      </a:r>
                      <a:r>
                        <a:rPr lang="en-US" altLang="en-GB">
                          <a:solidFill>
                            <a:srgbClr val="FFC000"/>
                          </a:solidFill>
                        </a:rPr>
                        <a:t>it was DELETED</a:t>
                      </a: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. Physical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If the whole Table is gone, </a:t>
                      </a:r>
                      <a:r>
                        <a:rPr lang="en-US" altLang="en-GB">
                          <a:solidFill>
                            <a:srgbClr val="FFC000"/>
                          </a:solidFill>
                        </a:rPr>
                        <a:t>it was DROP</a:t>
                      </a:r>
                      <a:r>
                        <a:rPr lang="en-US" altLang="en-GB"/>
                        <a:t>. </a:t>
                      </a: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Nuclear option 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18" name="Text Box 17"/>
          <p:cNvSpPr txBox="1"/>
          <p:nvPr/>
        </p:nvSpPr>
        <p:spPr>
          <a:xfrm>
            <a:off x="400050" y="385445"/>
            <a:ext cx="681482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342900" indent="-342900">
              <a:buAutoNum type="arabicPeriod"/>
            </a:pPr>
            <a:r>
              <a:rPr lang="en-US" altLang="en-GB">
                <a:solidFill>
                  <a:srgbClr val="FFC000"/>
                </a:solidFill>
              </a:rPr>
              <a:t>SELECT: </a:t>
            </a:r>
            <a:r>
              <a:rPr lang="en-US" altLang="en-GB">
                <a:solidFill>
                  <a:schemeClr val="bg1"/>
                </a:solidFill>
              </a:rPr>
              <a:t>This is just reading data. Nothing Changes</a:t>
            </a:r>
            <a:endParaRPr lang="en-US" altLang="en-GB">
              <a:solidFill>
                <a:schemeClr val="bg1"/>
              </a:solidFill>
            </a:endParaRPr>
          </a:p>
          <a:p>
            <a:endParaRPr lang="en-US" altLang="en-GB">
              <a:solidFill>
                <a:schemeClr val="bg1"/>
              </a:solidFill>
            </a:endParaRPr>
          </a:p>
          <a:p>
            <a:r>
              <a:rPr lang="en-US" altLang="en-GB">
                <a:solidFill>
                  <a:srgbClr val="00B050"/>
                </a:solidFill>
              </a:rPr>
              <a:t>SELECT </a:t>
            </a:r>
            <a:r>
              <a:rPr lang="en-US" altLang="en-GB">
                <a:solidFill>
                  <a:srgbClr val="FFC000"/>
                </a:solidFill>
              </a:rPr>
              <a:t>* </a:t>
            </a:r>
            <a:r>
              <a:rPr lang="en-US" altLang="en-GB">
                <a:solidFill>
                  <a:srgbClr val="00B050"/>
                </a:solidFill>
              </a:rPr>
              <a:t>FROM payroll</a:t>
            </a:r>
            <a:r>
              <a:rPr lang="en-US" altLang="en-GB"/>
              <a:t> </a:t>
            </a:r>
            <a:endParaRPr lang="en-US" altLang="en-GB"/>
          </a:p>
          <a:p>
            <a:endParaRPr lang="en-US" altLang="en-GB"/>
          </a:p>
          <a:p>
            <a:r>
              <a:rPr lang="en-US" altLang="en-GB">
                <a:solidFill>
                  <a:srgbClr val="FFC000"/>
                </a:solidFill>
              </a:rPr>
              <a:t>IF </a:t>
            </a:r>
            <a:r>
              <a:rPr lang="en-US" altLang="en-GB">
                <a:solidFill>
                  <a:schemeClr val="bg1"/>
                </a:solidFill>
              </a:rPr>
              <a:t>the data is there </a:t>
            </a:r>
            <a:r>
              <a:rPr lang="en-US" altLang="en-GB">
                <a:solidFill>
                  <a:srgbClr val="FFC000"/>
                </a:solidFill>
              </a:rPr>
              <a:t>you see it</a:t>
            </a:r>
            <a:r>
              <a:rPr lang="en-US" altLang="en-GB">
                <a:solidFill>
                  <a:schemeClr val="bg1"/>
                </a:solidFill>
              </a:rPr>
              <a:t>. if it is gone </a:t>
            </a:r>
            <a:r>
              <a:rPr lang="en-US" altLang="en-GB">
                <a:solidFill>
                  <a:srgbClr val="FFC000"/>
                </a:solidFill>
              </a:rPr>
              <a:t>you don’t.</a:t>
            </a:r>
            <a:r>
              <a:rPr lang="en-US" altLang="en-GB">
                <a:solidFill>
                  <a:schemeClr val="bg1"/>
                </a:solidFill>
              </a:rPr>
              <a:t> </a:t>
            </a:r>
            <a:endParaRPr lang="en-US" altLang="en-GB">
              <a:solidFill>
                <a:schemeClr val="bg1"/>
              </a:solidFill>
            </a:endParaRPr>
          </a:p>
        </p:txBody>
      </p:sp>
      <p:sp>
        <p:nvSpPr>
          <p:cNvPr id="19" name="Text Box 18"/>
          <p:cNvSpPr txBox="1"/>
          <p:nvPr/>
        </p:nvSpPr>
        <p:spPr>
          <a:xfrm>
            <a:off x="289560" y="5323205"/>
            <a:ext cx="1131951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GB">
                <a:solidFill>
                  <a:schemeClr val="bg1"/>
                </a:solidFill>
              </a:rPr>
              <a:t>SELECT  shows you what’S there. UPDATE  hides it in plain sight. DELETE removes it. DROP erases the whole thing.  As a forensic investigator your job is to know where to look after each one.</a:t>
            </a:r>
            <a:endParaRPr lang="en-US" altLang="en-GB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Inverted="1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WhatsApp Image 2026-05-26 at 9.15.32 AM"/>
          <p:cNvPicPr>
            <a:picLocks noChangeAspect="1"/>
          </p:cNvPicPr>
          <p:nvPr/>
        </p:nvPicPr>
        <p:blipFill>
          <a:blip r:embed="rId1"/>
          <a:srcRect l="11601" t="7675" r="19054" b="14253"/>
          <a:stretch>
            <a:fillRect/>
          </a:stretch>
        </p:blipFill>
        <p:spPr>
          <a:xfrm>
            <a:off x="0" y="0"/>
            <a:ext cx="807085" cy="859155"/>
          </a:xfrm>
          <a:prstGeom prst="rect">
            <a:avLst/>
          </a:prstGeom>
        </p:spPr>
      </p:pic>
      <p:pic>
        <p:nvPicPr>
          <p:cNvPr id="5" name="Picture 4" descr="WhatsApp Image 2026-05-26 at 9.15.32 AM"/>
          <p:cNvPicPr>
            <a:picLocks noChangeAspect="1"/>
          </p:cNvPicPr>
          <p:nvPr/>
        </p:nvPicPr>
        <p:blipFill>
          <a:blip r:embed="rId1"/>
          <a:srcRect l="11601" t="7675" r="19054" b="14253"/>
          <a:stretch>
            <a:fillRect/>
          </a:stretch>
        </p:blipFill>
        <p:spPr>
          <a:xfrm>
            <a:off x="11363325" y="5998845"/>
            <a:ext cx="807085" cy="859155"/>
          </a:xfrm>
          <a:prstGeom prst="rect">
            <a:avLst/>
          </a:prstGeom>
        </p:spPr>
      </p:pic>
      <p:graphicFrame>
        <p:nvGraphicFramePr>
          <p:cNvPr id="11" name="Table 10"/>
          <p:cNvGraphicFramePr/>
          <p:nvPr/>
        </p:nvGraphicFramePr>
        <p:xfrm>
          <a:off x="807085" y="120650"/>
          <a:ext cx="11141710" cy="3130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4815"/>
                <a:gridCol w="3022600"/>
                <a:gridCol w="2327275"/>
                <a:gridCol w="1642110"/>
                <a:gridCol w="245491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rgbClr val="FFC000"/>
                          </a:solidFill>
                        </a:rPr>
                        <a:t>COMMAND</a:t>
                      </a:r>
                      <a:endParaRPr lang="en-US" altLang="en-GB">
                        <a:solidFill>
                          <a:srgbClr val="FFC000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rgbClr val="FFC000"/>
                          </a:solidFill>
                        </a:rPr>
                        <a:t>WHAT IT DOES</a:t>
                      </a:r>
                      <a:endParaRPr lang="en-US" altLang="en-GB">
                        <a:solidFill>
                          <a:srgbClr val="FFC000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rgbClr val="FFC000"/>
                          </a:solidFill>
                        </a:rPr>
                        <a:t>IS IT LOGICAL OR PHYSICAL</a:t>
                      </a:r>
                      <a:endParaRPr lang="en-US" altLang="en-GB">
                        <a:solidFill>
                          <a:srgbClr val="FFC000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rgbClr val="FFC000"/>
                          </a:solidFill>
                        </a:rPr>
                        <a:t>CAN WE QUERY IT BACK?</a:t>
                      </a:r>
                      <a:endParaRPr lang="en-US" altLang="en-GB">
                        <a:solidFill>
                          <a:srgbClr val="FFC000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rgbClr val="FFC000"/>
                          </a:solidFill>
                        </a:rPr>
                        <a:t>HOW YOU RETRIEVE IT</a:t>
                      </a:r>
                      <a:endParaRPr lang="en-US" altLang="en-GB">
                        <a:solidFill>
                          <a:srgbClr val="FFC000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UPDATE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Modifies existing rows. Data stays in place.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Logical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Yes, directly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SELECT * FROM table WHERE status=’deleted’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DELETE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Removes the row from the table. Table structure stays.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Physical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No, not directly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Check audit logs and restore from backup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</a:tr>
              <a:tr h="121031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DROP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Deletes the entire table and structure. Nothing stays.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Physical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No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Only from backup. Always logged(craving the unallocated disk space)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12" name="Text Box 11"/>
          <p:cNvSpPr txBox="1"/>
          <p:nvPr/>
        </p:nvSpPr>
        <p:spPr>
          <a:xfrm>
            <a:off x="1026160" y="3429000"/>
            <a:ext cx="4064000" cy="27819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en-GB">
                <a:solidFill>
                  <a:srgbClr val="FFC000"/>
                </a:solidFill>
              </a:rPr>
              <a:t>SIMILARIETIES</a:t>
            </a:r>
            <a:endParaRPr lang="en-US" altLang="en-GB">
              <a:solidFill>
                <a:srgbClr val="FFC000"/>
              </a:solidFill>
            </a:endParaRPr>
          </a:p>
          <a:p>
            <a:endParaRPr lang="en-US" altLang="en-GB">
              <a:solidFill>
                <a:srgbClr val="FFC000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en-GB">
                <a:solidFill>
                  <a:schemeClr val="bg1"/>
                </a:solidFill>
              </a:rPr>
              <a:t>All 3 are DML/DDL commands that change data</a:t>
            </a:r>
            <a:endParaRPr lang="en-US" altLang="en-GB">
              <a:solidFill>
                <a:schemeClr val="bg1"/>
              </a:solidFill>
            </a:endParaRPr>
          </a:p>
          <a:p>
            <a:pPr marL="342900" indent="-342900">
              <a:buFont typeface="+mj-lt"/>
              <a:buAutoNum type="arabicPeriod"/>
            </a:pPr>
            <a:endParaRPr lang="en-US" altLang="en-GB">
              <a:solidFill>
                <a:schemeClr val="bg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en-GB">
                <a:solidFill>
                  <a:schemeClr val="bg1"/>
                </a:solidFill>
              </a:rPr>
              <a:t>All 3 get logged in audit trails if logging is on</a:t>
            </a:r>
            <a:endParaRPr lang="en-US" altLang="en-GB">
              <a:solidFill>
                <a:schemeClr val="bg1"/>
              </a:solidFill>
            </a:endParaRPr>
          </a:p>
          <a:p>
            <a:pPr marL="342900" indent="-342900">
              <a:buFont typeface="+mj-lt"/>
              <a:buAutoNum type="arabicPeriod"/>
            </a:pPr>
            <a:endParaRPr lang="en-US" altLang="en-GB">
              <a:solidFill>
                <a:schemeClr val="bg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en-GB">
                <a:solidFill>
                  <a:schemeClr val="bg1"/>
                </a:solidFill>
              </a:rPr>
              <a:t>All 3 are used in fraud to hide evidence.</a:t>
            </a:r>
            <a:endParaRPr lang="en-US" altLang="en-GB">
              <a:solidFill>
                <a:schemeClr val="bg1"/>
              </a:solidFill>
            </a:endParaRPr>
          </a:p>
        </p:txBody>
      </p:sp>
      <p:sp>
        <p:nvSpPr>
          <p:cNvPr id="13" name="Text Box 12"/>
          <p:cNvSpPr txBox="1"/>
          <p:nvPr/>
        </p:nvSpPr>
        <p:spPr>
          <a:xfrm>
            <a:off x="5625465" y="3429000"/>
            <a:ext cx="4064000" cy="26295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en-GB">
                <a:solidFill>
                  <a:srgbClr val="FFC000"/>
                </a:solidFill>
              </a:rPr>
              <a:t>TAKEAWAY</a:t>
            </a:r>
            <a:r>
              <a:rPr lang="en-US" altLang="en-GB">
                <a:solidFill>
                  <a:schemeClr val="bg1"/>
                </a:solidFill>
              </a:rPr>
              <a:t>: Fraudsters love </a:t>
            </a:r>
            <a:r>
              <a:rPr lang="en-US" altLang="en-GB">
                <a:solidFill>
                  <a:srgbClr val="FFC000"/>
                </a:solidFill>
              </a:rPr>
              <a:t>UPDATE</a:t>
            </a:r>
            <a:r>
              <a:rPr lang="en-US" altLang="en-GB">
                <a:solidFill>
                  <a:schemeClr val="bg1"/>
                </a:solidFill>
              </a:rPr>
              <a:t> because it’s quiet. </a:t>
            </a:r>
            <a:r>
              <a:rPr lang="en-US" altLang="en-GB">
                <a:solidFill>
                  <a:srgbClr val="FFC000"/>
                </a:solidFill>
              </a:rPr>
              <a:t>DELETE</a:t>
            </a:r>
            <a:r>
              <a:rPr lang="en-US" altLang="en-GB">
                <a:solidFill>
                  <a:schemeClr val="bg1"/>
                </a:solidFill>
              </a:rPr>
              <a:t> and </a:t>
            </a:r>
            <a:r>
              <a:rPr lang="en-US" altLang="en-GB">
                <a:solidFill>
                  <a:srgbClr val="FFC000"/>
                </a:solidFill>
              </a:rPr>
              <a:t>DROP </a:t>
            </a:r>
            <a:r>
              <a:rPr lang="en-US" altLang="en-GB">
                <a:solidFill>
                  <a:schemeClr val="bg1"/>
                </a:solidFill>
              </a:rPr>
              <a:t>are loud and leave traces.</a:t>
            </a:r>
            <a:endParaRPr lang="en-US" altLang="en-GB">
              <a:solidFill>
                <a:schemeClr val="bg1"/>
              </a:solidFill>
            </a:endParaRPr>
          </a:p>
          <a:p>
            <a:endParaRPr lang="en-US" altLang="en-GB">
              <a:solidFill>
                <a:schemeClr val="bg1"/>
              </a:solidFill>
            </a:endParaRPr>
          </a:p>
          <a:p>
            <a:r>
              <a:rPr lang="en-US" altLang="en-GB">
                <a:solidFill>
                  <a:schemeClr val="bg1"/>
                </a:solidFill>
              </a:rPr>
              <a:t> As a forensic investigator , </a:t>
            </a:r>
            <a:r>
              <a:rPr lang="en-US" altLang="en-GB">
                <a:solidFill>
                  <a:srgbClr val="FFC000"/>
                </a:solidFill>
              </a:rPr>
              <a:t>UPDATE</a:t>
            </a:r>
            <a:r>
              <a:rPr lang="en-US" altLang="en-GB">
                <a:solidFill>
                  <a:schemeClr val="bg1"/>
                </a:solidFill>
              </a:rPr>
              <a:t> is your easiest win, </a:t>
            </a:r>
            <a:r>
              <a:rPr lang="en-US" altLang="en-GB">
                <a:solidFill>
                  <a:srgbClr val="FFC000"/>
                </a:solidFill>
              </a:rPr>
              <a:t>DELETE</a:t>
            </a:r>
            <a:r>
              <a:rPr lang="en-US" altLang="en-GB">
                <a:solidFill>
                  <a:schemeClr val="bg1"/>
                </a:solidFill>
              </a:rPr>
              <a:t> is your log-diving job, and DROP is your “someone panicked” signal.</a:t>
            </a:r>
            <a:endParaRPr lang="en-US" altLang="en-GB">
              <a:solidFill>
                <a:schemeClr val="bg1"/>
              </a:solidFill>
            </a:endParaRPr>
          </a:p>
        </p:txBody>
      </p:sp>
      <p:sp>
        <p:nvSpPr>
          <p:cNvPr id="15" name="Text Box 14"/>
          <p:cNvSpPr txBox="1"/>
          <p:nvPr/>
        </p:nvSpPr>
        <p:spPr>
          <a:xfrm>
            <a:off x="9864725" y="3293745"/>
            <a:ext cx="1943735" cy="16529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en-GB">
                <a:solidFill>
                  <a:srgbClr val="FFC000"/>
                </a:solidFill>
              </a:rPr>
              <a:t>DDL</a:t>
            </a:r>
            <a:endParaRPr lang="en-US" altLang="en-GB">
              <a:solidFill>
                <a:srgbClr val="FFC000"/>
              </a:solidFill>
            </a:endParaRPr>
          </a:p>
          <a:p>
            <a:pPr marL="342900" indent="-342900">
              <a:buAutoNum type="arabicPeriod"/>
            </a:pPr>
            <a:r>
              <a:rPr lang="en-US" altLang="en-GB">
                <a:solidFill>
                  <a:schemeClr val="bg1"/>
                </a:solidFill>
              </a:rPr>
              <a:t>CREAT</a:t>
            </a:r>
            <a:endParaRPr lang="en-US" altLang="en-GB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en-US" altLang="en-GB">
                <a:solidFill>
                  <a:schemeClr val="bg1"/>
                </a:solidFill>
              </a:rPr>
              <a:t>ALTER</a:t>
            </a:r>
            <a:endParaRPr lang="en-US" altLang="en-GB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en-US" altLang="en-GB">
                <a:solidFill>
                  <a:schemeClr val="bg1"/>
                </a:solidFill>
              </a:rPr>
              <a:t>DROP</a:t>
            </a:r>
            <a:endParaRPr lang="en-US" altLang="en-GB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en-US" altLang="en-GB">
                <a:solidFill>
                  <a:schemeClr val="bg1"/>
                </a:solidFill>
              </a:rPr>
              <a:t>TRUNCATE</a:t>
            </a:r>
            <a:endParaRPr lang="en-US" altLang="en-GB">
              <a:solidFill>
                <a:schemeClr val="bg1"/>
              </a:solidFill>
            </a:endParaRPr>
          </a:p>
          <a:p>
            <a:endParaRPr lang="en-US" altLang="en-GB">
              <a:solidFill>
                <a:schemeClr val="bg1"/>
              </a:solidFill>
            </a:endParaRPr>
          </a:p>
        </p:txBody>
      </p:sp>
      <p:sp>
        <p:nvSpPr>
          <p:cNvPr id="16" name="Text Box 15"/>
          <p:cNvSpPr txBox="1"/>
          <p:nvPr/>
        </p:nvSpPr>
        <p:spPr>
          <a:xfrm>
            <a:off x="9864725" y="4679315"/>
            <a:ext cx="2534285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GB">
                <a:solidFill>
                  <a:srgbClr val="FFC000"/>
                </a:solidFill>
              </a:rPr>
              <a:t>DML </a:t>
            </a:r>
            <a:endParaRPr lang="en-US" altLang="en-GB">
              <a:solidFill>
                <a:srgbClr val="FFC000"/>
              </a:solidFill>
            </a:endParaRPr>
          </a:p>
          <a:p>
            <a:pPr marL="342900" indent="-342900">
              <a:buAutoNum type="arabicPeriod"/>
            </a:pPr>
            <a:r>
              <a:rPr lang="en-US" altLang="en-GB">
                <a:solidFill>
                  <a:schemeClr val="bg1"/>
                </a:solidFill>
              </a:rPr>
              <a:t>INSERT</a:t>
            </a:r>
            <a:endParaRPr lang="en-US" altLang="en-GB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en-US" altLang="en-GB">
                <a:solidFill>
                  <a:schemeClr val="bg1"/>
                </a:solidFill>
              </a:rPr>
              <a:t>UPDATE</a:t>
            </a:r>
            <a:endParaRPr lang="en-US" altLang="en-GB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en-US" altLang="en-GB">
                <a:solidFill>
                  <a:schemeClr val="bg1"/>
                </a:solidFill>
              </a:rPr>
              <a:t>DELETE</a:t>
            </a:r>
            <a:endParaRPr lang="en-US" altLang="en-GB">
              <a:solidFill>
                <a:schemeClr val="bg1"/>
              </a:solidFill>
            </a:endParaRPr>
          </a:p>
          <a:p>
            <a:r>
              <a:rPr lang="en-US" altLang="en-GB">
                <a:solidFill>
                  <a:schemeClr val="bg1"/>
                </a:solidFill>
              </a:rPr>
              <a:t> </a:t>
            </a:r>
            <a:endParaRPr lang="en-US" altLang="en-GB">
              <a:solidFill>
                <a:schemeClr val="bg1"/>
              </a:solidFill>
            </a:endParaRPr>
          </a:p>
          <a:p>
            <a:r>
              <a:rPr lang="en-US" altLang="en-GB">
                <a:solidFill>
                  <a:schemeClr val="bg1"/>
                </a:solidFill>
              </a:rPr>
              <a:t>WHERE 90% OF FRAUD OCCUR</a:t>
            </a:r>
            <a:r>
              <a:rPr lang="en-US" altLang="en-GB"/>
              <a:t>S</a:t>
            </a:r>
            <a:endParaRPr lang="en-US" altLang="en-GB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Text Box 6"/>
          <p:cNvSpPr txBox="1"/>
          <p:nvPr/>
        </p:nvSpPr>
        <p:spPr>
          <a:xfrm>
            <a:off x="400685" y="9144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GB">
                <a:solidFill>
                  <a:srgbClr val="FFC000"/>
                </a:solidFill>
              </a:rPr>
              <a:t>CRIME SCENE</a:t>
            </a:r>
            <a:endParaRPr lang="en-US" altLang="en-GB">
              <a:solidFill>
                <a:srgbClr val="FFC000"/>
              </a:solidFill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463550" y="1008380"/>
            <a:ext cx="5740400" cy="28613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GB">
                <a:solidFill>
                  <a:schemeClr val="bg1"/>
                </a:solidFill>
              </a:rPr>
              <a:t>-- Create the table </a:t>
            </a:r>
            <a:endParaRPr lang="en-US" altLang="en-GB">
              <a:solidFill>
                <a:schemeClr val="bg1"/>
              </a:solidFill>
            </a:endParaRPr>
          </a:p>
          <a:p>
            <a:r>
              <a:rPr lang="en-US" altLang="en-GB">
                <a:solidFill>
                  <a:schemeClr val="bg1"/>
                </a:solidFill>
              </a:rPr>
              <a:t>CREATE TABLE tbl_Payroll (</a:t>
            </a:r>
            <a:endParaRPr lang="en-US" altLang="en-GB">
              <a:solidFill>
                <a:schemeClr val="bg1"/>
              </a:solidFill>
            </a:endParaRPr>
          </a:p>
          <a:p>
            <a:r>
              <a:rPr lang="en-US" altLang="en-GB">
                <a:solidFill>
                  <a:schemeClr val="bg1"/>
                </a:solidFill>
              </a:rPr>
              <a:t>Emp_ID INT,</a:t>
            </a:r>
            <a:endParaRPr lang="en-US" altLang="en-GB">
              <a:solidFill>
                <a:schemeClr val="bg1"/>
              </a:solidFill>
            </a:endParaRPr>
          </a:p>
          <a:p>
            <a:r>
              <a:rPr lang="en-US" altLang="en-GB">
                <a:solidFill>
                  <a:schemeClr val="bg1"/>
                </a:solidFill>
              </a:rPr>
              <a:t>Employee_Name VARCHAR(50),</a:t>
            </a:r>
            <a:endParaRPr lang="en-US" altLang="en-GB">
              <a:solidFill>
                <a:schemeClr val="bg1"/>
              </a:solidFill>
            </a:endParaRPr>
          </a:p>
          <a:p>
            <a:r>
              <a:rPr lang="en-US" altLang="en-GB">
                <a:solidFill>
                  <a:schemeClr val="bg1"/>
                </a:solidFill>
              </a:rPr>
              <a:t>Salary_USD INT</a:t>
            </a:r>
            <a:endParaRPr lang="en-US" altLang="en-GB">
              <a:solidFill>
                <a:schemeClr val="bg1"/>
              </a:solidFill>
            </a:endParaRPr>
          </a:p>
          <a:p>
            <a:r>
              <a:rPr lang="en-US" altLang="en-GB">
                <a:solidFill>
                  <a:schemeClr val="bg1"/>
                </a:solidFill>
              </a:rPr>
              <a:t>);</a:t>
            </a:r>
            <a:endParaRPr lang="en-US" altLang="en-GB">
              <a:solidFill>
                <a:schemeClr val="bg1"/>
              </a:solidFill>
            </a:endParaRPr>
          </a:p>
          <a:p>
            <a:r>
              <a:rPr lang="en-US" altLang="en-GB">
                <a:solidFill>
                  <a:schemeClr val="bg1"/>
                </a:solidFill>
              </a:rPr>
              <a:t>-- Insert the target data</a:t>
            </a:r>
            <a:endParaRPr lang="en-US" altLang="en-GB">
              <a:solidFill>
                <a:schemeClr val="bg1"/>
              </a:solidFill>
            </a:endParaRPr>
          </a:p>
          <a:p>
            <a:r>
              <a:rPr lang="en-US" altLang="en-GB">
                <a:solidFill>
                  <a:schemeClr val="bg1"/>
                </a:solidFill>
              </a:rPr>
              <a:t>INSERT INTO tbl_Payroll VALUES (101, ‘Alice’ , 8500) ;</a:t>
            </a:r>
            <a:endParaRPr lang="en-US" altLang="en-GB">
              <a:solidFill>
                <a:schemeClr val="bg1"/>
              </a:solidFill>
            </a:endParaRPr>
          </a:p>
          <a:p>
            <a:r>
              <a:rPr lang="en-US" altLang="en-GB">
                <a:solidFill>
                  <a:schemeClr val="bg1"/>
                </a:solidFill>
              </a:rPr>
              <a:t>INSERT INTO tbl_</a:t>
            </a:r>
            <a:r>
              <a:rPr lang="en-US" altLang="en-GB">
                <a:solidFill>
                  <a:schemeClr val="bg1"/>
                </a:solidFill>
                <a:sym typeface="+mn-ea"/>
              </a:rPr>
              <a:t>Payroll VALUES (102, ‘bob’ , 6200) ;</a:t>
            </a:r>
            <a:endParaRPr lang="en-US" altLang="en-GB">
              <a:solidFill>
                <a:schemeClr val="bg1"/>
              </a:solidFill>
            </a:endParaRPr>
          </a:p>
          <a:p>
            <a:r>
              <a:rPr lang="en-US" altLang="en-GB">
                <a:solidFill>
                  <a:schemeClr val="bg1"/>
                </a:solidFill>
              </a:rPr>
              <a:t>INSERT INTO tbl_</a:t>
            </a:r>
            <a:r>
              <a:rPr lang="en-US" altLang="en-GB">
                <a:solidFill>
                  <a:schemeClr val="bg1"/>
                </a:solidFill>
                <a:sym typeface="+mn-ea"/>
              </a:rPr>
              <a:t>Payroll VALUES </a:t>
            </a:r>
            <a:r>
              <a:rPr lang="en-US" altLang="en-GB">
                <a:solidFill>
                  <a:schemeClr val="bg1"/>
                </a:solidFill>
                <a:sym typeface="+mn-ea"/>
              </a:rPr>
              <a:t>(103, ‘Charlie’ , 9100) ;</a:t>
            </a:r>
            <a:endParaRPr lang="en-US" altLang="en-GB">
              <a:solidFill>
                <a:schemeClr val="bg1"/>
              </a:solidFill>
              <a:sym typeface="+mn-ea"/>
            </a:endParaRPr>
          </a:p>
        </p:txBody>
      </p:sp>
      <p:graphicFrame>
        <p:nvGraphicFramePr>
          <p:cNvPr id="10" name="Table 9"/>
          <p:cNvGraphicFramePr/>
          <p:nvPr>
            <p:custDataLst>
              <p:tags r:id="rId1"/>
            </p:custDataLst>
          </p:nvPr>
        </p:nvGraphicFramePr>
        <p:xfrm>
          <a:off x="7022465" y="2319020"/>
          <a:ext cx="4725035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550"/>
                <a:gridCol w="1802765"/>
                <a:gridCol w="1315720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Emp_ID</a:t>
                      </a:r>
                      <a:endParaRPr lang="en-US" altLang="en-GB" sz="1800">
                        <a:solidFill>
                          <a:schemeClr val="bg1"/>
                        </a:solidFill>
                        <a:sym typeface="+mn-ea"/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Employee_Name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Salary_USD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101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Alice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8500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102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bob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6200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103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Charlie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9100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11" name="Text Box 10"/>
          <p:cNvSpPr txBox="1"/>
          <p:nvPr/>
        </p:nvSpPr>
        <p:spPr>
          <a:xfrm>
            <a:off x="7022465" y="1464310"/>
            <a:ext cx="4064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GB">
                <a:solidFill>
                  <a:schemeClr val="bg1"/>
                </a:solidFill>
              </a:rPr>
              <a:t>ACTIVE TABLE: tbl_Payroll</a:t>
            </a:r>
            <a:endParaRPr lang="en-US" altLang="en-GB">
              <a:solidFill>
                <a:schemeClr val="bg1"/>
              </a:solidFill>
            </a:endParaRPr>
          </a:p>
          <a:p>
            <a:r>
              <a:rPr lang="en-US" altLang="en-GB">
                <a:solidFill>
                  <a:schemeClr val="accent1">
                    <a:lumMod val="75000"/>
                  </a:schemeClr>
                </a:solidFill>
              </a:rPr>
              <a:t>SELECT </a:t>
            </a:r>
            <a:r>
              <a:rPr lang="en-US" altLang="en-GB">
                <a:solidFill>
                  <a:schemeClr val="bg1"/>
                </a:solidFill>
              </a:rPr>
              <a:t>* tbl_Payroll</a:t>
            </a:r>
            <a:endParaRPr lang="en-US" altLang="en-GB">
              <a:solidFill>
                <a:schemeClr val="bg1"/>
              </a:solidFill>
            </a:endParaRPr>
          </a:p>
        </p:txBody>
      </p:sp>
      <p:graphicFrame>
        <p:nvGraphicFramePr>
          <p:cNvPr id="15" name="Table 14"/>
          <p:cNvGraphicFramePr/>
          <p:nvPr/>
        </p:nvGraphicFramePr>
        <p:xfrm>
          <a:off x="463550" y="5238750"/>
          <a:ext cx="428625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4585"/>
                <a:gridCol w="1835785"/>
                <a:gridCol w="1325880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Emp_ID</a:t>
                      </a:r>
                      <a:endParaRPr lang="en-US" altLang="en-GB" sz="1800">
                        <a:solidFill>
                          <a:schemeClr val="bg1"/>
                        </a:solidFill>
                        <a:sym typeface="+mn-ea"/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Employee_Name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Salary_USD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101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Alice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8500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102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bob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6200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rgbClr val="FF0000"/>
                          </a:solidFill>
                        </a:rPr>
                        <a:t>103</a:t>
                      </a:r>
                      <a:endParaRPr lang="en-US" altLang="en-GB">
                        <a:solidFill>
                          <a:srgbClr val="FF0000"/>
                        </a:solidFill>
                      </a:endParaRP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rgbClr val="FF0000"/>
                          </a:solidFill>
                          <a:sym typeface="+mn-ea"/>
                        </a:rPr>
                        <a:t>Charlie</a:t>
                      </a:r>
                      <a:endParaRPr lang="en-US" altLang="en-GB" sz="1800">
                        <a:solidFill>
                          <a:srgbClr val="FF0000"/>
                        </a:solidFill>
                        <a:sym typeface="+mn-ea"/>
                      </a:endParaRP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rgbClr val="FF0000"/>
                          </a:solidFill>
                          <a:sym typeface="+mn-ea"/>
                        </a:rPr>
                        <a:t>9100</a:t>
                      </a:r>
                      <a:endParaRPr lang="en-US" altLang="en-GB" sz="1800">
                        <a:solidFill>
                          <a:srgbClr val="FF0000"/>
                        </a:solidFill>
                        <a:sym typeface="+mn-ea"/>
                      </a:endParaRPr>
                    </a:p>
                  </a:txBody>
                  <a:tcPr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6" name="Text Box 15"/>
          <p:cNvSpPr txBox="1"/>
          <p:nvPr/>
        </p:nvSpPr>
        <p:spPr>
          <a:xfrm>
            <a:off x="463550" y="4781550"/>
            <a:ext cx="25825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GB">
                <a:solidFill>
                  <a:srgbClr val="FFC000"/>
                </a:solidFill>
              </a:rPr>
              <a:t>BEFORE</a:t>
            </a:r>
            <a:endParaRPr lang="en-US" altLang="en-GB">
              <a:solidFill>
                <a:srgbClr val="FFC000"/>
              </a:solidFill>
            </a:endParaRPr>
          </a:p>
        </p:txBody>
      </p:sp>
      <p:sp>
        <p:nvSpPr>
          <p:cNvPr id="17" name="Text Box 16"/>
          <p:cNvSpPr txBox="1"/>
          <p:nvPr/>
        </p:nvSpPr>
        <p:spPr>
          <a:xfrm>
            <a:off x="5193030" y="5370830"/>
            <a:ext cx="245046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GB">
                <a:solidFill>
                  <a:srgbClr val="FFC000"/>
                </a:solidFill>
              </a:rPr>
              <a:t>COMMAND</a:t>
            </a:r>
            <a:endParaRPr lang="en-US" altLang="en-GB">
              <a:solidFill>
                <a:srgbClr val="FFC000"/>
              </a:solidFill>
            </a:endParaRPr>
          </a:p>
          <a:p>
            <a:r>
              <a:rPr lang="en-US" altLang="en-GB">
                <a:solidFill>
                  <a:srgbClr val="00B050"/>
                </a:solidFill>
              </a:rPr>
              <a:t>EXECUTE:</a:t>
            </a:r>
            <a:r>
              <a:rPr lang="en-US" altLang="en-GB">
                <a:solidFill>
                  <a:schemeClr val="bg1"/>
                </a:solidFill>
              </a:rPr>
              <a:t> </a:t>
            </a:r>
            <a:r>
              <a:rPr lang="en-US" altLang="en-GB">
                <a:solidFill>
                  <a:srgbClr val="00B0F0"/>
                </a:solidFill>
              </a:rPr>
              <a:t>DELETE FROM </a:t>
            </a:r>
            <a:r>
              <a:rPr lang="en-US" altLang="en-GB">
                <a:solidFill>
                  <a:schemeClr val="bg1"/>
                </a:solidFill>
              </a:rPr>
              <a:t>tbl_Payroll;</a:t>
            </a:r>
            <a:endParaRPr lang="en-US" altLang="en-GB">
              <a:solidFill>
                <a:schemeClr val="bg1"/>
              </a:solidFill>
            </a:endParaRPr>
          </a:p>
          <a:p>
            <a:r>
              <a:rPr lang="en-US" altLang="en-GB">
                <a:solidFill>
                  <a:srgbClr val="00B0F0"/>
                </a:solidFill>
              </a:rPr>
              <a:t>WHERE</a:t>
            </a:r>
            <a:r>
              <a:rPr lang="en-US" altLang="en-GB">
                <a:solidFill>
                  <a:schemeClr val="bg1"/>
                </a:solidFill>
              </a:rPr>
              <a:t> Emp_ID=</a:t>
            </a:r>
            <a:r>
              <a:rPr lang="en-US" altLang="en-GB">
                <a:solidFill>
                  <a:srgbClr val="00B0F0"/>
                </a:solidFill>
              </a:rPr>
              <a:t>103</a:t>
            </a:r>
            <a:r>
              <a:rPr lang="en-US" altLang="en-GB">
                <a:solidFill>
                  <a:schemeClr val="bg1"/>
                </a:solidFill>
              </a:rPr>
              <a:t>;</a:t>
            </a:r>
            <a:endParaRPr lang="en-US" altLang="en-GB">
              <a:solidFill>
                <a:schemeClr val="bg1"/>
              </a:solidFill>
            </a:endParaRPr>
          </a:p>
        </p:txBody>
      </p:sp>
      <p:graphicFrame>
        <p:nvGraphicFramePr>
          <p:cNvPr id="20" name="Table 19"/>
          <p:cNvGraphicFramePr/>
          <p:nvPr>
            <p:custDataLst>
              <p:tags r:id="rId2"/>
            </p:custDataLst>
          </p:nvPr>
        </p:nvGraphicFramePr>
        <p:xfrm>
          <a:off x="7830185" y="5149850"/>
          <a:ext cx="4264025" cy="1551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8695"/>
                <a:gridCol w="1849755"/>
                <a:gridCol w="1425575"/>
              </a:tblGrid>
              <a:tr h="72453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Emp_ID</a:t>
                      </a:r>
                      <a:endParaRPr lang="en-US" altLang="en-GB" sz="1800">
                        <a:solidFill>
                          <a:schemeClr val="bg1"/>
                        </a:solidFill>
                        <a:sym typeface="+mn-ea"/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Employee_Name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Salary_USD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</a:tr>
              <a:tr h="41338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101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Alice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8500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</a:tr>
              <a:tr h="4140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102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bob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6200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21" name="Text Box 20"/>
          <p:cNvSpPr txBox="1"/>
          <p:nvPr/>
        </p:nvSpPr>
        <p:spPr>
          <a:xfrm>
            <a:off x="7830185" y="478155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GB">
                <a:solidFill>
                  <a:srgbClr val="FFC000"/>
                </a:solidFill>
              </a:rPr>
              <a:t>AFTER</a:t>
            </a:r>
            <a:endParaRPr lang="en-US" altLang="en-GB">
              <a:solidFill>
                <a:srgbClr val="FFC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15" name="Table 14"/>
          <p:cNvGraphicFramePr/>
          <p:nvPr/>
        </p:nvGraphicFramePr>
        <p:xfrm>
          <a:off x="147320" y="871855"/>
          <a:ext cx="428625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4585"/>
                <a:gridCol w="1835785"/>
                <a:gridCol w="1325880"/>
              </a:tblGrid>
              <a:tr h="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Emp_ID</a:t>
                      </a:r>
                      <a:endParaRPr lang="en-US" altLang="en-GB" sz="1800">
                        <a:solidFill>
                          <a:schemeClr val="bg1"/>
                        </a:solidFill>
                        <a:sym typeface="+mn-ea"/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Employee_Name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Salary_USD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101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Alice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8500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102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bob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6200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103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Charlie</a:t>
                      </a:r>
                      <a:endParaRPr lang="en-US" altLang="en-GB" sz="1800">
                        <a:solidFill>
                          <a:schemeClr val="bg1"/>
                        </a:solidFill>
                        <a:sym typeface="+mn-ea"/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9100</a:t>
                      </a:r>
                      <a:endParaRPr lang="en-US" altLang="en-GB" sz="1800">
                        <a:solidFill>
                          <a:schemeClr val="bg1"/>
                        </a:solidFill>
                        <a:sym typeface="+mn-ea"/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17" name="Text Box 16"/>
          <p:cNvSpPr txBox="1"/>
          <p:nvPr/>
        </p:nvSpPr>
        <p:spPr>
          <a:xfrm>
            <a:off x="5003165" y="871855"/>
            <a:ext cx="2450465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GB">
                <a:solidFill>
                  <a:srgbClr val="FFC000"/>
                </a:solidFill>
              </a:rPr>
              <a:t>COMMAND</a:t>
            </a:r>
            <a:endParaRPr lang="en-US" altLang="en-GB">
              <a:solidFill>
                <a:srgbClr val="FFC000"/>
              </a:solidFill>
            </a:endParaRPr>
          </a:p>
          <a:p>
            <a:r>
              <a:rPr lang="en-US" altLang="en-GB">
                <a:solidFill>
                  <a:srgbClr val="00B050"/>
                </a:solidFill>
              </a:rPr>
              <a:t>EXECUTE:</a:t>
            </a:r>
            <a:r>
              <a:rPr lang="en-US" altLang="en-GB">
                <a:solidFill>
                  <a:schemeClr val="bg1"/>
                </a:solidFill>
              </a:rPr>
              <a:t> </a:t>
            </a:r>
            <a:r>
              <a:rPr lang="en-US" altLang="en-GB">
                <a:solidFill>
                  <a:schemeClr val="accent1">
                    <a:lumMod val="75000"/>
                  </a:schemeClr>
                </a:solidFill>
              </a:rPr>
              <a:t>UPDATE</a:t>
            </a:r>
            <a:r>
              <a:rPr lang="en-US" altLang="en-GB">
                <a:solidFill>
                  <a:srgbClr val="00B0F0"/>
                </a:solidFill>
              </a:rPr>
              <a:t> </a:t>
            </a:r>
            <a:r>
              <a:rPr lang="en-US" altLang="en-GB">
                <a:solidFill>
                  <a:schemeClr val="bg1"/>
                </a:solidFill>
              </a:rPr>
              <a:t>tbl_Payroll;</a:t>
            </a:r>
            <a:endParaRPr lang="en-US" altLang="en-GB">
              <a:solidFill>
                <a:schemeClr val="bg1"/>
              </a:solidFill>
            </a:endParaRPr>
          </a:p>
          <a:p>
            <a:r>
              <a:rPr lang="en-US" altLang="en-GB">
                <a:solidFill>
                  <a:schemeClr val="bg1"/>
                </a:solidFill>
              </a:rPr>
              <a:t>SET Status = ‘Deleted’</a:t>
            </a:r>
            <a:endParaRPr lang="en-US" altLang="en-GB">
              <a:solidFill>
                <a:schemeClr val="bg1"/>
              </a:solidFill>
            </a:endParaRPr>
          </a:p>
          <a:p>
            <a:r>
              <a:rPr lang="en-US" altLang="en-GB">
                <a:solidFill>
                  <a:srgbClr val="00B0F0"/>
                </a:solidFill>
              </a:rPr>
              <a:t>WHERE</a:t>
            </a:r>
            <a:r>
              <a:rPr lang="en-US" altLang="en-GB">
                <a:solidFill>
                  <a:schemeClr val="bg1"/>
                </a:solidFill>
              </a:rPr>
              <a:t> Emp_ID=</a:t>
            </a:r>
            <a:r>
              <a:rPr lang="en-US" altLang="en-GB">
                <a:solidFill>
                  <a:srgbClr val="00B0F0"/>
                </a:solidFill>
              </a:rPr>
              <a:t>103</a:t>
            </a:r>
            <a:r>
              <a:rPr lang="en-US" altLang="en-GB">
                <a:solidFill>
                  <a:schemeClr val="bg1"/>
                </a:solidFill>
              </a:rPr>
              <a:t>;</a:t>
            </a:r>
            <a:endParaRPr lang="en-US" altLang="en-GB">
              <a:solidFill>
                <a:schemeClr val="bg1"/>
              </a:solidFill>
            </a:endParaRPr>
          </a:p>
        </p:txBody>
      </p:sp>
      <p:graphicFrame>
        <p:nvGraphicFramePr>
          <p:cNvPr id="20" name="Table 19"/>
          <p:cNvGraphicFramePr/>
          <p:nvPr>
            <p:custDataLst>
              <p:tags r:id="rId1"/>
            </p:custDataLst>
          </p:nvPr>
        </p:nvGraphicFramePr>
        <p:xfrm>
          <a:off x="7369810" y="882650"/>
          <a:ext cx="4264025" cy="15411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8695"/>
                <a:gridCol w="1849755"/>
                <a:gridCol w="1425575"/>
              </a:tblGrid>
              <a:tr h="71374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Emp_ID</a:t>
                      </a:r>
                      <a:endParaRPr lang="en-US" altLang="en-GB" sz="1800">
                        <a:solidFill>
                          <a:schemeClr val="bg1"/>
                        </a:solidFill>
                        <a:sym typeface="+mn-ea"/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Employee_Name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Salary_USD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</a:tr>
              <a:tr h="41338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101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Alice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8500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</a:tr>
              <a:tr h="4140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102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bob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6200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5" name="Text Box 4"/>
          <p:cNvSpPr txBox="1"/>
          <p:nvPr/>
        </p:nvSpPr>
        <p:spPr>
          <a:xfrm>
            <a:off x="147320" y="54483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GB">
                <a:solidFill>
                  <a:srgbClr val="FFC000"/>
                </a:solidFill>
              </a:rPr>
              <a:t>BEFORE</a:t>
            </a:r>
            <a:endParaRPr lang="en-US" altLang="en-GB">
              <a:solidFill>
                <a:srgbClr val="FFC000"/>
              </a:solidFill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7450455" y="544830"/>
            <a:ext cx="40957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GB">
                <a:solidFill>
                  <a:srgbClr val="FFC000"/>
                </a:solidFill>
              </a:rPr>
              <a:t>AFTER</a:t>
            </a:r>
            <a:endParaRPr lang="en-US" altLang="en-GB">
              <a:solidFill>
                <a:srgbClr val="FFC000"/>
              </a:solidFill>
            </a:endParaRPr>
          </a:p>
        </p:txBody>
      </p:sp>
      <p:graphicFrame>
        <p:nvGraphicFramePr>
          <p:cNvPr id="10" name="Table 9"/>
          <p:cNvGraphicFramePr/>
          <p:nvPr/>
        </p:nvGraphicFramePr>
        <p:xfrm>
          <a:off x="147320" y="3095625"/>
          <a:ext cx="428625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4585"/>
                <a:gridCol w="1835785"/>
                <a:gridCol w="1325880"/>
              </a:tblGrid>
              <a:tr h="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Emp_ID</a:t>
                      </a:r>
                      <a:endParaRPr lang="en-US" altLang="en-GB" sz="1800">
                        <a:solidFill>
                          <a:schemeClr val="bg1"/>
                        </a:solidFill>
                        <a:sym typeface="+mn-ea"/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Employee_Name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Salary_USD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101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Alice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8500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102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bob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6200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103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Charlie</a:t>
                      </a:r>
                      <a:endParaRPr lang="en-US" altLang="en-GB" sz="1800">
                        <a:solidFill>
                          <a:schemeClr val="bg1"/>
                        </a:solidFill>
                        <a:sym typeface="+mn-ea"/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9100</a:t>
                      </a:r>
                      <a:endParaRPr lang="en-US" altLang="en-GB" sz="1800">
                        <a:solidFill>
                          <a:schemeClr val="bg1"/>
                        </a:solidFill>
                        <a:sym typeface="+mn-ea"/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11" name="Text Box 10"/>
          <p:cNvSpPr txBox="1"/>
          <p:nvPr/>
        </p:nvSpPr>
        <p:spPr>
          <a:xfrm>
            <a:off x="147320" y="272732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GB">
                <a:solidFill>
                  <a:srgbClr val="FFC000"/>
                </a:solidFill>
              </a:rPr>
              <a:t>BEFORE</a:t>
            </a:r>
            <a:endParaRPr lang="en-US" altLang="en-GB">
              <a:solidFill>
                <a:srgbClr val="FFC000"/>
              </a:solidFill>
            </a:endParaRPr>
          </a:p>
        </p:txBody>
      </p:sp>
      <p:sp>
        <p:nvSpPr>
          <p:cNvPr id="12" name="Text Box 11"/>
          <p:cNvSpPr txBox="1"/>
          <p:nvPr/>
        </p:nvSpPr>
        <p:spPr>
          <a:xfrm>
            <a:off x="5003165" y="3227705"/>
            <a:ext cx="245046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GB">
                <a:solidFill>
                  <a:srgbClr val="FFC000"/>
                </a:solidFill>
              </a:rPr>
              <a:t>COMMAND</a:t>
            </a:r>
            <a:endParaRPr lang="en-US" altLang="en-GB">
              <a:solidFill>
                <a:srgbClr val="FFC000"/>
              </a:solidFill>
            </a:endParaRPr>
          </a:p>
          <a:p>
            <a:r>
              <a:rPr lang="en-US" altLang="en-GB">
                <a:solidFill>
                  <a:srgbClr val="00B050"/>
                </a:solidFill>
              </a:rPr>
              <a:t>EXECUTE:</a:t>
            </a:r>
            <a:r>
              <a:rPr lang="en-US" altLang="en-GB">
                <a:solidFill>
                  <a:schemeClr val="bg1"/>
                </a:solidFill>
              </a:rPr>
              <a:t> </a:t>
            </a:r>
            <a:r>
              <a:rPr lang="en-US" altLang="en-GB">
                <a:solidFill>
                  <a:srgbClr val="00B0F0"/>
                </a:solidFill>
              </a:rPr>
              <a:t>DROP TABLE </a:t>
            </a:r>
            <a:r>
              <a:rPr lang="en-US" altLang="en-GB">
                <a:solidFill>
                  <a:schemeClr val="bg1"/>
                </a:solidFill>
              </a:rPr>
              <a:t>tbl_Payroll;</a:t>
            </a:r>
            <a:endParaRPr lang="en-US" altLang="en-GB">
              <a:solidFill>
                <a:schemeClr val="bg1"/>
              </a:solidFill>
            </a:endParaRPr>
          </a:p>
          <a:p>
            <a:endParaRPr lang="en-US" altLang="en-GB">
              <a:solidFill>
                <a:schemeClr val="bg1"/>
              </a:solidFill>
            </a:endParaRPr>
          </a:p>
        </p:txBody>
      </p:sp>
      <p:sp>
        <p:nvSpPr>
          <p:cNvPr id="13" name="Text Box 12"/>
          <p:cNvSpPr txBox="1"/>
          <p:nvPr/>
        </p:nvSpPr>
        <p:spPr>
          <a:xfrm>
            <a:off x="8547735" y="309562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GB">
                <a:solidFill>
                  <a:srgbClr val="FFC000"/>
                </a:solidFill>
              </a:rPr>
              <a:t>AFTER</a:t>
            </a:r>
            <a:endParaRPr lang="en-US" altLang="en-GB">
              <a:solidFill>
                <a:srgbClr val="FFC000"/>
              </a:solidFill>
            </a:endParaRPr>
          </a:p>
        </p:txBody>
      </p:sp>
      <p:sp>
        <p:nvSpPr>
          <p:cNvPr id="14" name="Text Box 13"/>
          <p:cNvSpPr txBox="1"/>
          <p:nvPr/>
        </p:nvSpPr>
        <p:spPr>
          <a:xfrm>
            <a:off x="7569835" y="364299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GB">
                <a:solidFill>
                  <a:srgbClr val="FF0000"/>
                </a:solidFill>
              </a:rPr>
              <a:t>ERROR</a:t>
            </a:r>
            <a:r>
              <a:rPr lang="en-US" altLang="en-GB">
                <a:solidFill>
                  <a:schemeClr val="bg1"/>
                </a:solidFill>
              </a:rPr>
              <a:t>: Table ‘tbl_Payroll’ does not exist</a:t>
            </a:r>
            <a:r>
              <a:rPr lang="en-US" altLang="en-GB"/>
              <a:t>.</a:t>
            </a:r>
            <a:endParaRPr lang="en-US" altLang="en-GB"/>
          </a:p>
        </p:txBody>
      </p:sp>
      <p:sp>
        <p:nvSpPr>
          <p:cNvPr id="18" name="Text Box 17"/>
          <p:cNvSpPr txBox="1"/>
          <p:nvPr/>
        </p:nvSpPr>
        <p:spPr>
          <a:xfrm>
            <a:off x="147320" y="4959350"/>
            <a:ext cx="53257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GB">
                <a:solidFill>
                  <a:schemeClr val="accent1">
                    <a:lumMod val="50000"/>
                  </a:schemeClr>
                </a:solidFill>
                <a:sym typeface="+mn-ea"/>
              </a:rPr>
              <a:t>SELECT </a:t>
            </a:r>
            <a:r>
              <a:rPr lang="en-US" altLang="en-GB">
                <a:solidFill>
                  <a:schemeClr val="bg1"/>
                </a:solidFill>
                <a:sym typeface="+mn-ea"/>
              </a:rPr>
              <a:t>* FROM tbl_Payroll WHERE Status = ‘deleted’;</a:t>
            </a:r>
            <a:endParaRPr lang="en-GB" altLang="en-US"/>
          </a:p>
        </p:txBody>
      </p:sp>
      <p:sp>
        <p:nvSpPr>
          <p:cNvPr id="21" name="Text Box 20"/>
          <p:cNvSpPr txBox="1"/>
          <p:nvPr/>
        </p:nvSpPr>
        <p:spPr>
          <a:xfrm>
            <a:off x="147320" y="463740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GB">
                <a:solidFill>
                  <a:srgbClr val="FFC000"/>
                </a:solidFill>
              </a:rPr>
              <a:t>UPDATE</a:t>
            </a:r>
            <a:endParaRPr lang="en-US" altLang="en-GB">
              <a:solidFill>
                <a:srgbClr val="FFC000"/>
              </a:solidFill>
            </a:endParaRPr>
          </a:p>
        </p:txBody>
      </p:sp>
      <p:sp>
        <p:nvSpPr>
          <p:cNvPr id="24" name="Text Box 23"/>
          <p:cNvSpPr txBox="1"/>
          <p:nvPr/>
        </p:nvSpPr>
        <p:spPr>
          <a:xfrm>
            <a:off x="147320" y="5509260"/>
            <a:ext cx="790511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GB">
                <a:solidFill>
                  <a:schemeClr val="accent1">
                    <a:lumMod val="50000"/>
                  </a:schemeClr>
                </a:solidFill>
              </a:rPr>
              <a:t>SELECT</a:t>
            </a:r>
            <a:r>
              <a:rPr lang="en-US" altLang="en-GB">
                <a:solidFill>
                  <a:schemeClr val="bg1"/>
                </a:solidFill>
              </a:rPr>
              <a:t> </a:t>
            </a:r>
            <a:r>
              <a:rPr lang="en-US" altLang="en-GB">
                <a:solidFill>
                  <a:schemeClr val="bg1"/>
                </a:solidFill>
                <a:sym typeface="+mn-ea"/>
              </a:rPr>
              <a:t>Emp_ID , Employee_Name, Salary_USD</a:t>
            </a:r>
            <a:endParaRPr lang="en-US" altLang="en-GB">
              <a:solidFill>
                <a:schemeClr val="bg1"/>
              </a:solidFill>
              <a:sym typeface="+mn-ea"/>
            </a:endParaRPr>
          </a:p>
          <a:p>
            <a:r>
              <a:rPr lang="en-US" altLang="en-GB">
                <a:solidFill>
                  <a:schemeClr val="bg1"/>
                </a:solidFill>
              </a:rPr>
              <a:t>FROM tbl_Payroll</a:t>
            </a:r>
            <a:endParaRPr lang="en-US" altLang="en-GB">
              <a:solidFill>
                <a:schemeClr val="bg1"/>
              </a:solidFill>
            </a:endParaRPr>
          </a:p>
          <a:p>
            <a:r>
              <a:rPr lang="en-US" altLang="en-GB">
                <a:solidFill>
                  <a:schemeClr val="bg1"/>
                </a:solidFill>
              </a:rPr>
              <a:t>WHERE Status = ‘Active’;</a:t>
            </a:r>
            <a:endParaRPr lang="en-US" altLang="en-GB">
              <a:solidFill>
                <a:schemeClr val="bg1"/>
              </a:solidFill>
            </a:endParaRPr>
          </a:p>
        </p:txBody>
      </p:sp>
      <p:graphicFrame>
        <p:nvGraphicFramePr>
          <p:cNvPr id="27" name="Table 26"/>
          <p:cNvGraphicFramePr/>
          <p:nvPr/>
        </p:nvGraphicFramePr>
        <p:xfrm>
          <a:off x="6019800" y="4959350"/>
          <a:ext cx="428625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4585"/>
                <a:gridCol w="1835785"/>
                <a:gridCol w="1325880"/>
              </a:tblGrid>
              <a:tr h="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Emp_ID</a:t>
                      </a:r>
                      <a:endParaRPr lang="en-US" altLang="en-GB" sz="1800">
                        <a:solidFill>
                          <a:schemeClr val="bg1"/>
                        </a:solidFill>
                        <a:sym typeface="+mn-ea"/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Employee_Name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Salary_USD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101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Alice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8500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chemeClr val="bg1"/>
                          </a:solidFill>
                        </a:rPr>
                        <a:t>102</a:t>
                      </a:r>
                      <a:endParaRPr lang="en-US" altLang="en-GB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bob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6200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>
                          <a:solidFill>
                            <a:srgbClr val="00B050"/>
                          </a:solidFill>
                        </a:rPr>
                        <a:t>103</a:t>
                      </a:r>
                      <a:endParaRPr lang="en-US" altLang="en-GB">
                        <a:solidFill>
                          <a:srgbClr val="00B050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rgbClr val="00B050"/>
                          </a:solidFill>
                          <a:sym typeface="+mn-ea"/>
                        </a:rPr>
                        <a:t>Charlie</a:t>
                      </a:r>
                      <a:endParaRPr lang="en-US" altLang="en-GB" sz="1800">
                        <a:solidFill>
                          <a:srgbClr val="00B050"/>
                        </a:solidFill>
                        <a:sym typeface="+mn-ea"/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rgbClr val="00B050"/>
                          </a:solidFill>
                          <a:sym typeface="+mn-ea"/>
                        </a:rPr>
                        <a:t>9100</a:t>
                      </a:r>
                      <a:endParaRPr lang="en-US" altLang="en-GB" sz="1800">
                        <a:solidFill>
                          <a:srgbClr val="00B050"/>
                        </a:solidFill>
                        <a:sym typeface="+mn-ea"/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/>
          <p:nvPr>
            <p:custDataLst>
              <p:tags r:id="rId2"/>
            </p:custDataLst>
          </p:nvPr>
        </p:nvGraphicFramePr>
        <p:xfrm>
          <a:off x="10220325" y="4950460"/>
          <a:ext cx="1325880" cy="14719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STATUS</a:t>
                      </a:r>
                      <a:endParaRPr lang="en-US" altLang="en-GB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</a:tr>
              <a:tr h="36893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Active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</a:tr>
              <a:tr h="3683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>
                          <a:solidFill>
                            <a:schemeClr val="bg1"/>
                          </a:solidFill>
                          <a:sym typeface="+mn-ea"/>
                        </a:rPr>
                        <a:t>Active</a:t>
                      </a:r>
                      <a:endParaRPr lang="en-GB" altLang="en-US"/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</a:tr>
              <a:tr h="36893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sz="1800" b="1">
                          <a:solidFill>
                            <a:srgbClr val="FF0000"/>
                          </a:solidFill>
                          <a:sym typeface="+mn-ea"/>
                        </a:rPr>
                        <a:t>Deleted</a:t>
                      </a:r>
                      <a:endParaRPr lang="en-US" altLang="en-GB" sz="1800" b="1">
                        <a:solidFill>
                          <a:srgbClr val="FF0000"/>
                        </a:solidFill>
                        <a:sym typeface="+mn-ea"/>
                      </a:endParaRPr>
                    </a:p>
                  </a:txBody>
                  <a:tcPr>
                    <a:solidFill>
                      <a:schemeClr val="bg2">
                        <a:lumMod val="25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29" name="Text Box 28"/>
          <p:cNvSpPr txBox="1"/>
          <p:nvPr/>
        </p:nvSpPr>
        <p:spPr>
          <a:xfrm>
            <a:off x="6019800" y="4498975"/>
            <a:ext cx="4064000" cy="3790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en-GB">
                <a:solidFill>
                  <a:schemeClr val="accent1">
                    <a:lumMod val="50000"/>
                  </a:schemeClr>
                </a:solidFill>
                <a:sym typeface="+mn-ea"/>
              </a:rPr>
              <a:t>SELECT</a:t>
            </a:r>
            <a:r>
              <a:rPr lang="en-US" altLang="en-GB">
                <a:solidFill>
                  <a:schemeClr val="bg1"/>
                </a:solidFill>
                <a:sym typeface="+mn-ea"/>
              </a:rPr>
              <a:t> * FROM tbl_Payroll;</a:t>
            </a:r>
            <a:endParaRPr lang="en-GB" altLang="en-US"/>
          </a:p>
          <a:p>
            <a:endParaRPr lang="en-GB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tags/tag1.xml><?xml version="1.0" encoding="utf-8"?>
<p:tagLst xmlns:p="http://schemas.openxmlformats.org/presentationml/2006/main">
  <p:tag name="KSO_WM_DIAGRAM_VIRTUALLY_FRAME" val="{&quot;height&quot;:263.409049190327,&quot;left&quot;:63.5508173542554,&quot;top&quot;:210.9822834645669,&quot;width&quot;:774.1265842205478}"/>
</p:tagLst>
</file>

<file path=ppt/tags/tag2.xml><?xml version="1.0" encoding="utf-8"?>
<p:tagLst xmlns:p="http://schemas.openxmlformats.org/presentationml/2006/main">
  <p:tag name="KSO_WM_DIAGRAM_VIRTUALLY_FRAME" val="{&quot;height&quot;:263.409049190327,&quot;left&quot;:63.5508173542554,&quot;top&quot;:210.9822834645669,&quot;width&quot;:774.1265842205478}"/>
</p:tagLst>
</file>

<file path=ppt/tags/tag3.xml><?xml version="1.0" encoding="utf-8"?>
<p:tagLst xmlns:p="http://schemas.openxmlformats.org/presentationml/2006/main">
  <p:tag name="KSO_WM_DIAGRAM_VIRTUALLY_FRAME" val="{&quot;height&quot;:263.409049190327,&quot;left&quot;:63.5508173542554,&quot;top&quot;:210.9822834645669,&quot;width&quot;:774.1265842205478}"/>
</p:tagLst>
</file>

<file path=ppt/tags/tag4.xml><?xml version="1.0" encoding="utf-8"?>
<p:tagLst xmlns:p="http://schemas.openxmlformats.org/presentationml/2006/main">
  <p:tag name="TABLE_ENDDRAG_ORIGIN_RECT" val="372*136"/>
  <p:tag name="TABLE_ENDDRAG_RECT" val="552*123*372*136"/>
</p:tagLst>
</file>

<file path=ppt/tags/tag5.xml><?xml version="1.0" encoding="utf-8"?>
<p:tagLst xmlns:p="http://schemas.openxmlformats.org/presentationml/2006/main">
  <p:tag name="TABLE_ENDDRAG_ORIGIN_RECT" val="315*122"/>
  <p:tag name="TABLE_ENDDRAG_RECT" val="629*405*315*122"/>
</p:tagLst>
</file>

<file path=ppt/tags/tag6.xml><?xml version="1.0" encoding="utf-8"?>
<p:tagLst xmlns:p="http://schemas.openxmlformats.org/presentationml/2006/main">
  <p:tag name="TABLE_ENDDRAG_ORIGIN_RECT" val="315*122"/>
  <p:tag name="TABLE_ENDDRAG_RECT" val="629*405*315*122"/>
</p:tagLst>
</file>

<file path=ppt/tags/tag7.xml><?xml version="1.0" encoding="utf-8"?>
<p:tagLst xmlns:p="http://schemas.openxmlformats.org/presentationml/2006/main">
  <p:tag name="TABLE_ENDDRAG_ORIGIN_RECT" val="104*115"/>
  <p:tag name="TABLE_ENDDRAG_RECT" val="811*368*104*115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3734</Words>
  <Application>WPS Presentation</Application>
  <PresentationFormat>宽屏</PresentationFormat>
  <Paragraphs>359</Paragraphs>
  <Slides>6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4" baseType="lpstr">
      <vt:lpstr>Arial</vt:lpstr>
      <vt:lpstr>SimSun</vt:lpstr>
      <vt:lpstr>Wingdings</vt:lpstr>
      <vt:lpstr>Calibri</vt:lpstr>
      <vt:lpstr>Microsoft YaHei</vt:lpstr>
      <vt:lpstr>Arial Unicode MS</vt:lpstr>
      <vt:lpstr>Calibri Light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Microsoft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PC</dc:creator>
  <cp:lastModifiedBy>unjuehevo</cp:lastModifiedBy>
  <cp:revision>134</cp:revision>
  <dcterms:created xsi:type="dcterms:W3CDTF">2015-12-25T06:51:00Z</dcterms:created>
  <dcterms:modified xsi:type="dcterms:W3CDTF">2026-05-29T11:18:02Z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2057-12.2.0.23202</vt:lpwstr>
  </property>
  <property fmtid="{D5CDD505-2E9C-101B-9397-08002B2CF9AE}" pid="3" name="ICV">
    <vt:lpwstr>0E0A2CB1B94C45AFB9960A8857A89181_13</vt:lpwstr>
  </property>
</Properties>
</file>
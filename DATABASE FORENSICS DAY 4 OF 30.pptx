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1"/>
  </p:handoutMasterIdLst>
  <p:sldIdLst>
    <p:sldId id="288" r:id="rId3"/>
    <p:sldId id="274" r:id="rId5"/>
    <p:sldId id="291" r:id="rId6"/>
    <p:sldId id="262" r:id="rId7"/>
    <p:sldId id="298" r:id="rId8"/>
    <p:sldId id="296" r:id="rId9"/>
    <p:sldId id="299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161515"/>
    <a:srgbClr val="322920"/>
    <a:srgbClr val="034650"/>
    <a:srgbClr val="2C292C"/>
    <a:srgbClr val="471D0F"/>
    <a:srgbClr val="1E887A"/>
    <a:srgbClr val="3F6666"/>
    <a:srgbClr val="3E1D89"/>
    <a:srgbClr val="360CCF"/>
    <a:srgbClr val="BA36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5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handoutMaster" Target="handoutMasters/handoutMaster1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ea typeface="Arial" panose="020B0604020202020204" pitchFamily="34" charset="0"/>
              </a:defRPr>
            </a:lvl1pPr>
          </a:lstStyle>
          <a:p>
            <a:fld id="{DCA5C2E7-9D8F-47E6-AD76-B5B08028EF9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z="1200" smtClean="0">
                <a:sym typeface="+mn-ea"/>
              </a:rPr>
              <a:t>Click to edit Master text style</a:t>
            </a:r>
            <a:endParaRPr lang="zh-CN" altLang="en-US" sz="1200" smtClean="0"/>
          </a:p>
          <a:p>
            <a:pPr lvl="1"/>
            <a:r>
              <a:rPr lang="zh-CN" altLang="en-US" sz="1200" smtClean="0">
                <a:sym typeface="+mn-ea"/>
              </a:rPr>
              <a:t>Second level</a:t>
            </a:r>
            <a:endParaRPr lang="zh-CN" altLang="en-US" sz="1200" smtClean="0"/>
          </a:p>
          <a:p>
            <a:pPr lvl="2"/>
            <a:r>
              <a:rPr lang="zh-CN" altLang="en-US" sz="1200" smtClean="0">
                <a:sym typeface="+mn-ea"/>
              </a:rPr>
              <a:t>Third level</a:t>
            </a:r>
            <a:endParaRPr lang="zh-CN" altLang="en-US" sz="1200" smtClean="0"/>
          </a:p>
          <a:p>
            <a:pPr lvl="3"/>
            <a:r>
              <a:rPr lang="zh-CN" altLang="en-US" sz="1200" smtClean="0">
                <a:sym typeface="+mn-ea"/>
              </a:rPr>
              <a:t>Fourth level</a:t>
            </a:r>
            <a:endParaRPr lang="zh-CN" altLang="en-US" sz="1200" smtClean="0"/>
          </a:p>
          <a:p>
            <a:pPr lvl="4"/>
            <a:r>
              <a:rPr lang="zh-CN" altLang="en-US" sz="1200" smtClean="0">
                <a:sym typeface="+mn-ea"/>
              </a:rPr>
              <a:t>Fifth level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ea typeface="Arial" panose="020B0604020202020204" pitchFamily="34" charset="0"/>
              </a:defRPr>
            </a:lvl1pPr>
          </a:lstStyle>
          <a:p>
            <a:fld id="{3AE85B77-8AE0-464C-9A26-6A01A479EBF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Arial" panose="020B0604020202020204" pitchFamily="34" charset="0"/>
        <a:cs typeface="+mn-cs"/>
        <a:sym typeface="Arial" panose="020B0604020202020204" pitchFamily="34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Arial" panose="020B0604020202020204" pitchFamily="34" charset="0"/>
        <a:cs typeface="+mn-cs"/>
        <a:sym typeface="Arial" panose="020B0604020202020204" pitchFamily="34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Arial" panose="020B0604020202020204" pitchFamily="34" charset="0"/>
        <a:cs typeface="+mn-cs"/>
        <a:sym typeface="Arial" panose="020B0604020202020204" pitchFamily="34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Arial" panose="020B0604020202020204" pitchFamily="34" charset="0"/>
        <a:cs typeface="+mn-cs"/>
        <a:sym typeface="Arial" panose="020B0604020202020204" pitchFamily="34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Arial" panose="020B0604020202020204" pitchFamily="34" charset="0"/>
        <a:cs typeface="+mn-cs"/>
        <a:sym typeface="Arial" panose="020B0604020202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GB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GB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GB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GB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Click to edit Master title style</a:t>
            </a:r>
            <a:endParaRPr lang="zh-CN" altLang="en-US" smtClean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Click to edit Master title style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5374B-67E0-43BB-AAEC-D34305E2587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586E4-5CDA-4957-9A81-9500A0862C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Click to edit Master title style</a:t>
            </a:r>
            <a:endParaRPr lang="zh-CN" altLang="en-US" smtClean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smtClean="0"/>
              <a:t>Click to edit Master text style</a:t>
            </a:r>
            <a:endParaRPr lang="zh-CN" altLang="en-US" smtClean="0"/>
          </a:p>
          <a:p>
            <a:pPr lvl="1"/>
            <a:r>
              <a:rPr lang="zh-CN" altLang="en-US" smtClean="0"/>
              <a:t>Second level</a:t>
            </a:r>
            <a:endParaRPr lang="zh-CN" altLang="en-US" smtClean="0"/>
          </a:p>
          <a:p>
            <a:pPr lvl="2"/>
            <a:r>
              <a:rPr lang="zh-CN" altLang="en-US" smtClean="0"/>
              <a:t>Third level</a:t>
            </a:r>
            <a:endParaRPr lang="zh-CN" altLang="en-US" smtClean="0"/>
          </a:p>
          <a:p>
            <a:pPr lvl="3"/>
            <a:r>
              <a:rPr lang="zh-CN" altLang="en-US" smtClean="0"/>
              <a:t>Fourth level</a:t>
            </a:r>
            <a:endParaRPr lang="zh-CN" altLang="en-US" smtClean="0"/>
          </a:p>
          <a:p>
            <a:pPr lvl="4"/>
            <a:r>
              <a:rPr lang="zh-CN" altLang="en-US" smtClean="0"/>
              <a:t>Fifth level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5374B-67E0-43BB-AAEC-D34305E2587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586E4-5CDA-4957-9A81-9500A0862C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5374B-67E0-43BB-AAEC-D34305E2587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586E4-5CDA-4957-9A81-9500A0862C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Click to edit Master title style</a:t>
            </a:r>
            <a:endParaRPr lang="zh-CN" altLang="en-US"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</p:spPr>
        <p:txBody>
          <a:bodyPr/>
          <a:lstStyle>
            <a:lvl1pPr>
              <a:defRPr/>
            </a:lvl1pPr>
          </a:lstStyle>
          <a:p>
            <a:fld id="{5A079F21-3BE8-4E0A-A2CF-C18BDEAD91D7}" type="datetime1">
              <a:rPr lang="zh-CN" altLang="en-US"/>
            </a:fld>
            <a:endParaRPr lang="zh-CN" altLang="en-US" sz="1865" dirty="0">
              <a:solidFill>
                <a:schemeClr val="tx1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zh-CN"/>
              <a:t> </a:t>
            </a:r>
            <a:endParaRPr lang="zh-CN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</p:spPr>
        <p:txBody>
          <a:bodyPr/>
          <a:lstStyle>
            <a:lvl1pPr>
              <a:defRPr/>
            </a:lvl1pPr>
          </a:lstStyle>
          <a:p>
            <a:fld id="{70336DA7-0B35-4766-B3FA-87CC82BF78CC}" type="slidenum">
              <a:rPr lang="zh-CN" altLang="en-US"/>
            </a:fld>
            <a:endParaRPr lang="zh-CN" altLang="en-US" sz="1865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Click to edit Master title style</a:t>
            </a:r>
            <a:endParaRPr lang="zh-CN" altLang="en-US"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Click to edit Master text style</a:t>
            </a:r>
            <a:endParaRPr lang="zh-CN" altLang="en-US" smtClean="0"/>
          </a:p>
          <a:p>
            <a:pPr lvl="1"/>
            <a:r>
              <a:rPr lang="zh-CN" altLang="en-US" smtClean="0"/>
              <a:t>Second level</a:t>
            </a:r>
            <a:endParaRPr lang="zh-CN" altLang="en-US" smtClean="0"/>
          </a:p>
          <a:p>
            <a:pPr lvl="2"/>
            <a:r>
              <a:rPr lang="zh-CN" altLang="en-US" smtClean="0"/>
              <a:t>Third level</a:t>
            </a:r>
            <a:endParaRPr lang="zh-CN" altLang="en-US" smtClean="0"/>
          </a:p>
          <a:p>
            <a:pPr lvl="3"/>
            <a:r>
              <a:rPr lang="zh-CN" altLang="en-US" smtClean="0"/>
              <a:t>Fourth level</a:t>
            </a:r>
            <a:endParaRPr lang="zh-CN" altLang="en-US" smtClean="0"/>
          </a:p>
          <a:p>
            <a:pPr lvl="4"/>
            <a:r>
              <a:rPr lang="zh-CN" altLang="en-US" smtClean="0"/>
              <a:t>Fifth level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ea typeface="Arial" panose="020B0604020202020204" pitchFamily="34" charset="0"/>
              </a:defRPr>
            </a:lvl1pPr>
          </a:lstStyle>
          <a:p>
            <a:fld id="{C135374B-67E0-43BB-AAEC-D34305E2587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ea typeface="Arial" panose="020B0604020202020204" pitchFamily="34" charset="0"/>
              </a:defRPr>
            </a:lvl1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ea typeface="Arial" panose="020B0604020202020204" pitchFamily="34" charset="0"/>
              </a:defRPr>
            </a:lvl1pPr>
          </a:lstStyle>
          <a:p>
            <a:fld id="{292586E4-5CDA-4957-9A81-9500A0862CB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Arial" panose="020B0604020202020204" pitchFamily="34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Arial" panose="020B0604020202020204" pitchFamily="34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Arial" panose="020B0604020202020204" pitchFamily="34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Arial" panose="020B0604020202020204" pitchFamily="34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Arial" panose="020B0604020202020204" pitchFamily="34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Arial" panose="020B0604020202020204" pitchFamily="34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.jpeg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4.xml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2286000" y="379095"/>
            <a:ext cx="7620000" cy="1353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800" dirty="0">
                <a:solidFill>
                  <a:schemeClr val="bg1"/>
                </a:solidFill>
                <a:effectLst>
                  <a:outerShdw blurRad="60007" dist="310007" dir="7680000" sy="30000" kx="1300200" algn="ctr" rotWithShape="0">
                    <a:schemeClr val="bg1">
                      <a:alpha val="32000"/>
                    </a:scheme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  <a:t>     </a:t>
            </a:r>
            <a:r>
              <a:rPr lang="en-US" altLang="zh-CN" sz="4800" dirty="0">
                <a:solidFill>
                  <a:schemeClr val="bg1"/>
                </a:solidFill>
                <a:effectLst>
                  <a:outerShdw blurRad="60007" dist="310007" dir="7680000" sy="30000" kx="1300200" algn="ctr" rotWithShape="0">
                    <a:schemeClr val="bg1">
                      <a:alpha val="32000"/>
                    </a:scheme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  <a:t> Database Forensics</a:t>
            </a:r>
            <a:r>
              <a:rPr lang="en-US" altLang="zh-CN" sz="3800" dirty="0">
                <a:solidFill>
                  <a:schemeClr val="bg1"/>
                </a:solidFill>
                <a:effectLst>
                  <a:outerShdw blurRad="60007" dist="310007" dir="7680000" sy="30000" kx="1300200" algn="ctr" rotWithShape="0">
                    <a:schemeClr val="bg1">
                      <a:alpha val="32000"/>
                    </a:scheme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endParaRPr lang="en-US" altLang="zh-CN" sz="3800" dirty="0">
              <a:solidFill>
                <a:schemeClr val="bg1"/>
              </a:solidFill>
              <a:effectLst>
                <a:outerShdw blurRad="60007" dist="310007" dir="7680000" sy="30000" kx="1300200" algn="ctr" rotWithShape="0">
                  <a:schemeClr val="bg1">
                    <a:alpha val="32000"/>
                  </a:schemeClr>
                </a:outerShdw>
              </a:effectLst>
              <a:latin typeface="Arial" panose="020B0604020202020204" pitchFamily="34" charset="0"/>
              <a:ea typeface="Arial" panose="020B0604020202020204" pitchFamily="34" charset="0"/>
            </a:endParaRPr>
          </a:p>
          <a:p>
            <a:endParaRPr lang="en-US" altLang="zh-CN" sz="1000" dirty="0">
              <a:solidFill>
                <a:schemeClr val="bg1"/>
              </a:solidFill>
              <a:effectLst>
                <a:outerShdw blurRad="60007" dist="310007" dir="7680000" sy="30000" kx="1300200" algn="ctr" rotWithShape="0">
                  <a:schemeClr val="bg1">
                    <a:alpha val="32000"/>
                  </a:schemeClr>
                </a:outerShdw>
              </a:effectLst>
              <a:latin typeface="Arial" panose="020B0604020202020204" pitchFamily="34" charset="0"/>
              <a:ea typeface="Arial" panose="020B0604020202020204" pitchFamily="34" charset="0"/>
            </a:endParaRPr>
          </a:p>
          <a:p>
            <a:r>
              <a:rPr lang="en-US" altLang="zh-CN" sz="2400" dirty="0">
                <a:solidFill>
                  <a:schemeClr val="bg1"/>
                </a:solidFill>
                <a:effectLst>
                  <a:outerShdw blurRad="60007" dist="310007" dir="7680000" sy="30000" kx="1300200" algn="ctr" rotWithShape="0">
                    <a:schemeClr val="bg1">
                      <a:alpha val="32000"/>
                    </a:scheme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  <a:t>How Data Solves Crimes in Large Organisations</a:t>
            </a:r>
            <a:endParaRPr lang="en-US" altLang="zh-CN" sz="2400" dirty="0">
              <a:solidFill>
                <a:schemeClr val="bg1"/>
              </a:solidFill>
              <a:effectLst>
                <a:outerShdw blurRad="60007" dist="310007" dir="7680000" sy="30000" kx="1300200" algn="ctr" rotWithShape="0">
                  <a:schemeClr val="bg1">
                    <a:alpha val="32000"/>
                  </a:schemeClr>
                </a:outerShdw>
              </a:effectLst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448435" y="2380615"/>
            <a:ext cx="9443085" cy="88836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/>
            <a:r>
              <a:rPr lang="en-US" altLang="zh-CN" sz="2200" b="1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A </a:t>
            </a:r>
            <a:r>
              <a:rPr lang="en-US" altLang="zh-CN" sz="2200" b="1" dirty="0" smtClean="0">
                <a:solidFill>
                  <a:schemeClr val="accent2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 7</a:t>
            </a:r>
            <a:r>
              <a:rPr lang="en-US" altLang="zh-CN" sz="2200" b="1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-slide guide to investigating data </a:t>
            </a:r>
            <a:endParaRPr lang="en-US" altLang="zh-CN" sz="2200" b="1" dirty="0" smtClean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ctr"/>
            <a:r>
              <a:rPr lang="en-US" altLang="zh-CN" sz="2200" b="1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at scale with SQL/ and audit logs</a:t>
            </a:r>
            <a:endParaRPr lang="en-US" altLang="zh-CN" sz="2200" b="1" dirty="0" smtClean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endParaRPr lang="en-US" altLang="zh-CN" sz="2200" b="1" dirty="0" smtClean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endParaRPr lang="en-US" altLang="zh-CN" sz="2200" b="1" dirty="0" smtClean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endParaRPr lang="en-US" altLang="zh-CN" sz="2200" b="1" dirty="0" smtClean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6344285" y="5059045"/>
            <a:ext cx="406400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200" b="1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Day </a:t>
            </a:r>
            <a:r>
              <a:rPr lang="en-US" altLang="zh-CN" sz="2200" b="1" dirty="0" smtClean="0">
                <a:solidFill>
                  <a:schemeClr val="accent2"/>
                </a:solidFill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4 </a:t>
            </a:r>
            <a:r>
              <a:rPr lang="en-US" altLang="zh-CN" sz="2200" b="1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of 30 | June 2026 </a:t>
            </a:r>
            <a:endParaRPr lang="en-US" altLang="zh-CN" b="1" dirty="0" smtClean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endParaRPr lang="en-GB" altLang="en-US"/>
          </a:p>
        </p:txBody>
      </p:sp>
      <p:sp>
        <p:nvSpPr>
          <p:cNvPr id="16" name="Text Box 15"/>
          <p:cNvSpPr txBox="1"/>
          <p:nvPr/>
        </p:nvSpPr>
        <p:spPr>
          <a:xfrm>
            <a:off x="97790" y="5017135"/>
            <a:ext cx="3946525" cy="6134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EVODIA UNJUEH AKU</a:t>
            </a:r>
            <a:endParaRPr lang="en-US" altLang="zh-CN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  <a:sym typeface="+mn-ea"/>
            </a:endParaRPr>
          </a:p>
          <a:p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unjuehevo@gmail.com</a:t>
            </a:r>
            <a:endParaRPr lang="en-US" altLang="zh-CN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endParaRPr lang="en-US" altLang="en-GB">
              <a:solidFill>
                <a:schemeClr val="bg1"/>
              </a:solidFill>
            </a:endParaRPr>
          </a:p>
          <a:p>
            <a:endParaRPr lang="en-US" altLang="en-GB">
              <a:solidFill>
                <a:schemeClr val="bg1"/>
              </a:solidFill>
            </a:endParaRPr>
          </a:p>
        </p:txBody>
      </p:sp>
      <p:pic>
        <p:nvPicPr>
          <p:cNvPr id="20" name="Picture 19" descr="WhatsApp Image 2026-05-26 at 9.15.32 AM"/>
          <p:cNvPicPr>
            <a:picLocks noChangeAspect="1"/>
          </p:cNvPicPr>
          <p:nvPr/>
        </p:nvPicPr>
        <p:blipFill>
          <a:blip r:embed="rId1"/>
          <a:srcRect l="11601" t="7675" r="19054" b="14253"/>
          <a:stretch>
            <a:fillRect/>
          </a:stretch>
        </p:blipFill>
        <p:spPr>
          <a:xfrm>
            <a:off x="0" y="0"/>
            <a:ext cx="807085" cy="859155"/>
          </a:xfrm>
          <a:prstGeom prst="rect">
            <a:avLst/>
          </a:prstGeom>
        </p:spPr>
      </p:pic>
      <p:pic>
        <p:nvPicPr>
          <p:cNvPr id="21" name="Picture 20" descr="WhatsApp Image 2026-05-26 at 9.15.32 AM"/>
          <p:cNvPicPr>
            <a:picLocks noChangeAspect="1"/>
          </p:cNvPicPr>
          <p:nvPr/>
        </p:nvPicPr>
        <p:blipFill>
          <a:blip r:embed="rId1"/>
          <a:srcRect l="18064" t="13385" r="17739" b="15487"/>
          <a:stretch>
            <a:fillRect/>
          </a:stretch>
        </p:blipFill>
        <p:spPr>
          <a:xfrm>
            <a:off x="11438255" y="5977255"/>
            <a:ext cx="753745" cy="8807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ver dir="d"/>
      </p:transition>
    </mc:Choice>
    <mc:Fallback>
      <p:transition spd="slow">
        <p:cover dir="d"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62"/>
          <p:cNvGrpSpPr/>
          <p:nvPr>
            <p:custDataLst>
              <p:tags r:id="rId1"/>
            </p:custDataLst>
          </p:nvPr>
        </p:nvGrpSpPr>
        <p:grpSpPr bwMode="auto">
          <a:xfrm>
            <a:off x="738183" y="2694249"/>
            <a:ext cx="3913505" cy="1560196"/>
            <a:chOff x="-349700" y="1138886"/>
            <a:chExt cx="3713777" cy="1171252"/>
          </a:xfrm>
        </p:grpSpPr>
        <p:sp>
          <p:nvSpPr>
            <p:cNvPr id="17" name="TextBox 19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-349700" y="1447311"/>
              <a:ext cx="3713777" cy="86282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noAutofit/>
            </a:bodyPr>
            <a:lstStyle/>
            <a:p>
              <a:endPara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18" name="矩形 64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318575" y="1138886"/>
              <a:ext cx="2535709" cy="26075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noAutofit/>
            </a:bodyPr>
            <a:lstStyle/>
            <a:p>
              <a:pPr algn="ctr"/>
              <a:endParaRPr lang="en-US" altLang="zh-CN" b="1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</p:grpSp>
      <p:sp>
        <p:nvSpPr>
          <p:cNvPr id="4" name="Text Box 3"/>
          <p:cNvSpPr txBox="1"/>
          <p:nvPr/>
        </p:nvSpPr>
        <p:spPr>
          <a:xfrm>
            <a:off x="1614170" y="107950"/>
            <a:ext cx="9576435" cy="624205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noAutofit/>
          </a:bodyPr>
          <a:p>
            <a:pPr algn="ctr"/>
            <a:r>
              <a:rPr lang="en-US" altLang="en-GB" sz="2200" b="1">
                <a:solidFill>
                  <a:schemeClr val="bg1"/>
                </a:solidFill>
              </a:rPr>
              <a:t>DATABASE  FORENSICS</a:t>
            </a:r>
            <a:r>
              <a:rPr lang="en-US" altLang="en-GB" sz="2200" b="1">
                <a:solidFill>
                  <a:srgbClr val="FFC000"/>
                </a:solidFill>
              </a:rPr>
              <a:t> </a:t>
            </a:r>
            <a:r>
              <a:rPr lang="en-US" altLang="en-GB" sz="2200" b="1">
                <a:solidFill>
                  <a:schemeClr val="accent2"/>
                </a:solidFill>
              </a:rPr>
              <a:t>= </a:t>
            </a:r>
            <a:r>
              <a:rPr lang="en-US" altLang="en-GB" sz="2200" b="1">
                <a:solidFill>
                  <a:schemeClr val="bg1"/>
                </a:solidFill>
              </a:rPr>
              <a:t>DIGITAL EVIDENCE</a:t>
            </a:r>
            <a:endParaRPr lang="en-US" altLang="en-GB" sz="2200" b="1">
              <a:solidFill>
                <a:schemeClr val="bg1"/>
              </a:solidFill>
            </a:endParaRPr>
          </a:p>
        </p:txBody>
      </p:sp>
      <p:pic>
        <p:nvPicPr>
          <p:cNvPr id="8" name="Picture 7" descr="WhatsApp Image 2026-05-26 at 9.15.32 AM"/>
          <p:cNvPicPr>
            <a:picLocks noChangeAspect="1"/>
          </p:cNvPicPr>
          <p:nvPr/>
        </p:nvPicPr>
        <p:blipFill>
          <a:blip r:embed="rId4"/>
          <a:srcRect l="11601" t="7675" r="19054" b="14253"/>
          <a:stretch>
            <a:fillRect/>
          </a:stretch>
        </p:blipFill>
        <p:spPr>
          <a:xfrm>
            <a:off x="0" y="0"/>
            <a:ext cx="807085" cy="859155"/>
          </a:xfrm>
          <a:prstGeom prst="rect">
            <a:avLst/>
          </a:prstGeom>
        </p:spPr>
      </p:pic>
      <p:pic>
        <p:nvPicPr>
          <p:cNvPr id="9" name="Picture 8" descr="WhatsApp Image 2026-05-26 at 9.15.32 AM"/>
          <p:cNvPicPr>
            <a:picLocks noChangeAspect="1"/>
          </p:cNvPicPr>
          <p:nvPr/>
        </p:nvPicPr>
        <p:blipFill>
          <a:blip r:embed="rId4"/>
          <a:srcRect l="11601" t="7675" r="19054" b="14253"/>
          <a:stretch>
            <a:fillRect/>
          </a:stretch>
        </p:blipFill>
        <p:spPr>
          <a:xfrm>
            <a:off x="11384915" y="5998845"/>
            <a:ext cx="807085" cy="859155"/>
          </a:xfrm>
          <a:prstGeom prst="rect">
            <a:avLst/>
          </a:prstGeom>
        </p:spPr>
      </p:pic>
      <p:sp>
        <p:nvSpPr>
          <p:cNvPr id="14" name="Text Box 13"/>
          <p:cNvSpPr txBox="1"/>
          <p:nvPr/>
        </p:nvSpPr>
        <p:spPr>
          <a:xfrm>
            <a:off x="1809115" y="544195"/>
            <a:ext cx="8674100" cy="6464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en-GB" sz="2800" b="1">
                <a:solidFill>
                  <a:schemeClr val="accent2"/>
                </a:solidFill>
              </a:rPr>
              <a:t>FORENSIC RECONSTRUCTION OF DATABASE</a:t>
            </a:r>
            <a:endParaRPr lang="en-US" altLang="en-GB" sz="2800" b="1">
              <a:solidFill>
                <a:srgbClr val="FFC000"/>
              </a:solidFill>
            </a:endParaRPr>
          </a:p>
          <a:p>
            <a:pPr algn="ctr"/>
            <a:endParaRPr lang="en-US" altLang="en-GB" sz="2800" b="1">
              <a:solidFill>
                <a:srgbClr val="FFC000"/>
              </a:solidFill>
            </a:endParaRPr>
          </a:p>
        </p:txBody>
      </p:sp>
      <p:sp>
        <p:nvSpPr>
          <p:cNvPr id="15" name="Text Box 14"/>
          <p:cNvSpPr txBox="1"/>
          <p:nvPr/>
        </p:nvSpPr>
        <p:spPr>
          <a:xfrm>
            <a:off x="399415" y="3044825"/>
            <a:ext cx="5144770" cy="21380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 sz="2400" b="1">
                <a:solidFill>
                  <a:schemeClr val="bg1"/>
                </a:solidFill>
              </a:rPr>
              <a:t>B.</a:t>
            </a:r>
            <a:r>
              <a:rPr lang="en-US" altLang="en-GB" sz="2400" b="1">
                <a:solidFill>
                  <a:srgbClr val="FF0000"/>
                </a:solidFill>
              </a:rPr>
              <a:t> </a:t>
            </a:r>
            <a:r>
              <a:rPr lang="en-US" altLang="en-GB" sz="2400" b="1">
                <a:solidFill>
                  <a:schemeClr val="accent2"/>
                </a:solidFill>
              </a:rPr>
              <a:t>TRANSACTION LOGS</a:t>
            </a:r>
            <a:endParaRPr lang="en-US" altLang="en-GB" sz="2400" b="1">
              <a:solidFill>
                <a:schemeClr val="accent2"/>
              </a:solidFill>
            </a:endParaRPr>
          </a:p>
          <a:p>
            <a:pPr marL="342900" indent="-342900">
              <a:buAutoNum type="arabicPeriod"/>
            </a:pPr>
            <a:r>
              <a:rPr lang="en-US" altLang="en-GB" b="1">
                <a:solidFill>
                  <a:schemeClr val="bg1"/>
                </a:solidFill>
              </a:rPr>
              <a:t>The DB’s  CCTV Footage</a:t>
            </a:r>
            <a:endParaRPr lang="en-US" altLang="en-GB" b="1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endParaRPr lang="en-US" altLang="en-GB" b="1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r>
              <a:rPr lang="en-US" altLang="en-GB" b="1">
                <a:solidFill>
                  <a:schemeClr val="bg1"/>
                </a:solidFill>
              </a:rPr>
              <a:t>Transaction log shows you the crime scene.</a:t>
            </a:r>
            <a:endParaRPr lang="en-US" altLang="en-GB" b="1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endParaRPr lang="en-US" altLang="en-GB" b="1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r>
              <a:rPr lang="en-US" altLang="en-GB" b="1">
                <a:solidFill>
                  <a:schemeClr val="bg1"/>
                </a:solidFill>
              </a:rPr>
              <a:t>It’s not a table. It’s a sequential file </a:t>
            </a:r>
            <a:r>
              <a:rPr lang="en-US" altLang="en-GB" b="1">
                <a:solidFill>
                  <a:schemeClr val="bg1"/>
                </a:solidFill>
              </a:rPr>
              <a:t>(.ldf) in SQL Server</a:t>
            </a:r>
            <a:endParaRPr lang="en-US" altLang="en-GB" b="1">
              <a:solidFill>
                <a:schemeClr val="bg1"/>
              </a:solidFill>
            </a:endParaRPr>
          </a:p>
        </p:txBody>
      </p:sp>
      <p:sp>
        <p:nvSpPr>
          <p:cNvPr id="19" name="Text Box 18"/>
          <p:cNvSpPr txBox="1"/>
          <p:nvPr/>
        </p:nvSpPr>
        <p:spPr>
          <a:xfrm>
            <a:off x="399415" y="1127125"/>
            <a:ext cx="10985500" cy="16300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GB" sz="2800" b="1">
                <a:solidFill>
                  <a:schemeClr val="accent2"/>
                </a:solidFill>
              </a:rPr>
              <a:t>PART ONE </a:t>
            </a:r>
            <a:endParaRPr lang="en-US" altLang="en-GB" sz="2800" b="1">
              <a:solidFill>
                <a:schemeClr val="accent2"/>
              </a:solidFill>
            </a:endParaRPr>
          </a:p>
          <a:p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</a:rPr>
              <a:t>A company found a $12,000 overpayment. The payroll shows no anomaly. HR said, “ Nothing was deleted.”</a:t>
            </a:r>
            <a:endParaRPr lang="en-US" altLang="en-GB">
              <a:solidFill>
                <a:schemeClr val="bg1"/>
              </a:solidFill>
            </a:endParaRPr>
          </a:p>
          <a:p>
            <a:endParaRPr lang="en-US" altLang="en-GB">
              <a:solidFill>
                <a:srgbClr val="FFC000"/>
              </a:solidFill>
            </a:endParaRPr>
          </a:p>
          <a:p>
            <a:r>
              <a:rPr lang="en-US" altLang="en-GB">
                <a:solidFill>
                  <a:schemeClr val="accent2"/>
                </a:solidFill>
              </a:rPr>
              <a:t>Rebuilding the truth from deleted data. </a:t>
            </a:r>
            <a:r>
              <a:rPr lang="en-US" altLang="en-GB">
                <a:solidFill>
                  <a:schemeClr val="bg1"/>
                </a:solidFill>
              </a:rPr>
              <a:t>(</a:t>
            </a:r>
            <a:r>
              <a:rPr lang="en-US" altLang="en-GB" b="1">
                <a:solidFill>
                  <a:schemeClr val="accent2"/>
                </a:solidFill>
              </a:rPr>
              <a:t>How we recover </a:t>
            </a:r>
            <a:r>
              <a:rPr lang="en-US" altLang="en-GB" b="1">
                <a:solidFill>
                  <a:schemeClr val="bg1"/>
                </a:solidFill>
              </a:rPr>
              <a:t>what </a:t>
            </a:r>
            <a:r>
              <a:rPr lang="en-US" altLang="en-GB" b="1">
                <a:solidFill>
                  <a:schemeClr val="accent2"/>
                </a:solidFill>
              </a:rPr>
              <a:t>happened, </a:t>
            </a:r>
            <a:r>
              <a:rPr lang="en-US" altLang="en-GB" b="1">
                <a:solidFill>
                  <a:schemeClr val="bg1"/>
                </a:solidFill>
              </a:rPr>
              <a:t>when</a:t>
            </a:r>
            <a:r>
              <a:rPr lang="en-US" altLang="en-GB" b="1">
                <a:solidFill>
                  <a:schemeClr val="accent2"/>
                </a:solidFill>
              </a:rPr>
              <a:t>, and by </a:t>
            </a:r>
            <a:r>
              <a:rPr lang="en-US" altLang="en-GB" b="1">
                <a:solidFill>
                  <a:schemeClr val="bg1"/>
                </a:solidFill>
              </a:rPr>
              <a:t>who - even after deletion</a:t>
            </a:r>
            <a:r>
              <a:rPr lang="en-US" altLang="en-GB">
                <a:solidFill>
                  <a:schemeClr val="bg1"/>
                </a:solidFill>
              </a:rPr>
              <a:t>)</a:t>
            </a:r>
            <a:endParaRPr lang="en-US" altLang="en-GB">
              <a:solidFill>
                <a:schemeClr val="bg1"/>
              </a:solidFill>
            </a:endParaRPr>
          </a:p>
        </p:txBody>
      </p:sp>
      <p:sp>
        <p:nvSpPr>
          <p:cNvPr id="20" name="Text Box 19"/>
          <p:cNvSpPr txBox="1"/>
          <p:nvPr/>
        </p:nvSpPr>
        <p:spPr>
          <a:xfrm>
            <a:off x="106680" y="6087745"/>
            <a:ext cx="78073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>
                <a:solidFill>
                  <a:schemeClr val="bg1"/>
                </a:solidFill>
              </a:rPr>
              <a:t>QUESTION: If the record is gone from the UI where do we find it?</a:t>
            </a:r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/>
              <a:t> </a:t>
            </a:r>
            <a:r>
              <a:rPr lang="en-US" altLang="en-GB">
                <a:solidFill>
                  <a:srgbClr val="FF0000"/>
                </a:solidFill>
              </a:rPr>
              <a:t>INTERROGATE THE TRANSACTION LOG</a:t>
            </a:r>
            <a:endParaRPr lang="en-US" altLang="en-GB">
              <a:solidFill>
                <a:srgbClr val="FF0000"/>
              </a:solidFill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7126605" y="3025140"/>
            <a:ext cx="4257675" cy="35864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 b="1">
                <a:solidFill>
                  <a:schemeClr val="accent2"/>
                </a:solidFill>
              </a:rPr>
              <a:t>BANK TELLER’S NOTE BOOK</a:t>
            </a:r>
            <a:endParaRPr lang="en-US" altLang="en-GB" b="1">
              <a:solidFill>
                <a:schemeClr val="accent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b="1">
                <a:solidFill>
                  <a:schemeClr val="bg1"/>
                </a:solidFill>
              </a:rPr>
              <a:t>RULE </a:t>
            </a:r>
            <a:r>
              <a:rPr lang="en-US" altLang="en-GB" b="1">
                <a:solidFill>
                  <a:schemeClr val="accent2">
                    <a:lumMod val="75000"/>
                  </a:schemeClr>
                </a:solidFill>
              </a:rPr>
              <a:t>1</a:t>
            </a:r>
            <a:r>
              <a:rPr lang="en-US" altLang="en-GB" b="1">
                <a:solidFill>
                  <a:schemeClr val="bg1"/>
                </a:solidFill>
              </a:rPr>
              <a:t>: write before changing money</a:t>
            </a:r>
            <a:endParaRPr lang="en-US" altLang="en-GB" b="1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b="1">
                <a:solidFill>
                  <a:schemeClr val="bg1"/>
                </a:solidFill>
                <a:sym typeface="+mn-ea"/>
              </a:rPr>
              <a:t>RULE </a:t>
            </a:r>
            <a:r>
              <a:rPr lang="en-US" altLang="en-GB" b="1">
                <a:solidFill>
                  <a:schemeClr val="accent2">
                    <a:lumMod val="75000"/>
                  </a:schemeClr>
                </a:solidFill>
                <a:sym typeface="+mn-ea"/>
              </a:rPr>
              <a:t>2</a:t>
            </a:r>
            <a:r>
              <a:rPr lang="en-US" altLang="en-GB" b="1">
                <a:solidFill>
                  <a:schemeClr val="bg1"/>
                </a:solidFill>
                <a:sym typeface="+mn-ea"/>
              </a:rPr>
              <a:t>: Never erase old lines</a:t>
            </a:r>
            <a:endParaRPr lang="en-US" altLang="en-GB" b="1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b="1">
                <a:solidFill>
                  <a:schemeClr val="bg1"/>
                </a:solidFill>
                <a:sym typeface="+mn-ea"/>
              </a:rPr>
              <a:t>RULE </a:t>
            </a:r>
            <a:r>
              <a:rPr lang="en-US" altLang="en-GB" b="1">
                <a:solidFill>
                  <a:schemeClr val="accent2">
                    <a:lumMod val="75000"/>
                  </a:schemeClr>
                </a:solidFill>
                <a:sym typeface="+mn-ea"/>
              </a:rPr>
              <a:t>3</a:t>
            </a:r>
            <a:r>
              <a:rPr lang="en-US" altLang="en-GB" b="1">
                <a:solidFill>
                  <a:schemeClr val="bg1"/>
                </a:solidFill>
                <a:sym typeface="+mn-ea"/>
              </a:rPr>
              <a:t>:  Every action  = </a:t>
            </a:r>
            <a:r>
              <a:rPr lang="en-US" altLang="en-GB" b="1">
                <a:solidFill>
                  <a:schemeClr val="accent2">
                    <a:lumMod val="75000"/>
                  </a:schemeClr>
                </a:solidFill>
                <a:sym typeface="+mn-ea"/>
              </a:rPr>
              <a:t>1 </a:t>
            </a:r>
            <a:r>
              <a:rPr lang="en-US" altLang="en-GB" b="1">
                <a:solidFill>
                  <a:schemeClr val="bg1"/>
                </a:solidFill>
                <a:sym typeface="+mn-ea"/>
              </a:rPr>
              <a:t>new line</a:t>
            </a:r>
            <a:endParaRPr lang="en-US" altLang="en-GB" b="1">
              <a:solidFill>
                <a:schemeClr val="bg1"/>
              </a:solidFill>
              <a:sym typeface="+mn-ea"/>
            </a:endParaRPr>
          </a:p>
          <a:p>
            <a:endParaRPr lang="en-US" altLang="en-GB" b="1">
              <a:solidFill>
                <a:schemeClr val="bg1"/>
              </a:solidFill>
              <a:sym typeface="+mn-ea"/>
            </a:endParaRPr>
          </a:p>
          <a:p>
            <a:r>
              <a:rPr lang="en-US" altLang="en-GB" b="1">
                <a:solidFill>
                  <a:schemeClr val="bg1"/>
                </a:solidFill>
                <a:sym typeface="+mn-ea"/>
              </a:rPr>
              <a:t>SQL Server does same thing.</a:t>
            </a:r>
            <a:endParaRPr lang="en-US" altLang="en-GB" b="1">
              <a:solidFill>
                <a:schemeClr val="bg1"/>
              </a:solidFill>
              <a:sym typeface="+mn-ea"/>
            </a:endParaRPr>
          </a:p>
          <a:p>
            <a:endParaRPr lang="en-US" altLang="en-GB" b="1">
              <a:solidFill>
                <a:schemeClr val="bg1"/>
              </a:solidFill>
              <a:sym typeface="+mn-ea"/>
            </a:endParaRPr>
          </a:p>
          <a:p>
            <a:r>
              <a:rPr lang="en-US" altLang="en-GB" b="1">
                <a:solidFill>
                  <a:schemeClr val="bg1"/>
                </a:solidFill>
                <a:sym typeface="+mn-ea"/>
              </a:rPr>
              <a:t>Every DELETE, UPDATE, TRUNCATE = </a:t>
            </a:r>
            <a:r>
              <a:rPr lang="en-US" altLang="en-GB" b="1">
                <a:solidFill>
                  <a:schemeClr val="accent2">
                    <a:lumMod val="75000"/>
                  </a:schemeClr>
                </a:solidFill>
                <a:sym typeface="+mn-ea"/>
              </a:rPr>
              <a:t>1</a:t>
            </a:r>
            <a:r>
              <a:rPr lang="en-US" altLang="en-GB" b="1">
                <a:solidFill>
                  <a:schemeClr val="bg1"/>
                </a:solidFill>
                <a:sym typeface="+mn-ea"/>
              </a:rPr>
              <a:t> log record</a:t>
            </a:r>
            <a:endParaRPr lang="en-US" altLang="en-GB" b="1">
              <a:solidFill>
                <a:schemeClr val="bg1"/>
              </a:solidFill>
              <a:sym typeface="+mn-ea"/>
            </a:endParaRPr>
          </a:p>
          <a:p>
            <a:endParaRPr lang="en-US" altLang="en-GB" sz="1600" b="1">
              <a:solidFill>
                <a:schemeClr val="bg1"/>
              </a:solidFill>
              <a:sym typeface="+mn-ea"/>
            </a:endParaRPr>
          </a:p>
          <a:p>
            <a:r>
              <a:rPr lang="en-US" altLang="en-GB" sz="1600" b="1">
                <a:solidFill>
                  <a:schemeClr val="accent2"/>
                </a:solidFill>
              </a:rPr>
              <a:t>This is WRITE-AHEAD LOGGING(WAL) = FOUNDATION OF FORENSICS</a:t>
            </a:r>
            <a:endParaRPr lang="en-US" altLang="en-GB" sz="1600" b="1">
              <a:solidFill>
                <a:schemeClr val="accent2"/>
              </a:solidFill>
            </a:endParaRPr>
          </a:p>
          <a:p>
            <a:endParaRPr lang="en-US" altLang="en-GB" sz="1600" b="1">
              <a:solidFill>
                <a:schemeClr val="accent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doors dir="ver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8" name="Text Box 17"/>
          <p:cNvSpPr txBox="1"/>
          <p:nvPr/>
        </p:nvSpPr>
        <p:spPr>
          <a:xfrm>
            <a:off x="0" y="89535"/>
            <a:ext cx="12191365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ctr">
              <a:buNone/>
            </a:pPr>
            <a:r>
              <a:rPr lang="en-US" altLang="en-GB" sz="3000" b="1">
                <a:solidFill>
                  <a:schemeClr val="accent2"/>
                </a:solidFill>
              </a:rPr>
              <a:t>TRANSACTION LOG </a:t>
            </a:r>
            <a:endParaRPr lang="en-US" altLang="en-GB" sz="3000" b="1">
              <a:solidFill>
                <a:schemeClr val="accent2"/>
              </a:solidFill>
            </a:endParaRPr>
          </a:p>
        </p:txBody>
      </p:sp>
      <p:sp>
        <p:nvSpPr>
          <p:cNvPr id="2" name="Curved Left Arrow 1"/>
          <p:cNvSpPr/>
          <p:nvPr/>
        </p:nvSpPr>
        <p:spPr>
          <a:xfrm>
            <a:off x="5885815" y="729615"/>
            <a:ext cx="730885" cy="798830"/>
          </a:xfrm>
          <a:prstGeom prst="curvedLef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>
              <a:solidFill>
                <a:schemeClr val="tx1"/>
              </a:solidFill>
            </a:endParaRPr>
          </a:p>
        </p:txBody>
      </p:sp>
      <p:sp>
        <p:nvSpPr>
          <p:cNvPr id="3" name="Curved Right Arrow 2"/>
          <p:cNvSpPr/>
          <p:nvPr/>
        </p:nvSpPr>
        <p:spPr>
          <a:xfrm>
            <a:off x="5238115" y="1363980"/>
            <a:ext cx="730885" cy="840105"/>
          </a:xfrm>
          <a:prstGeom prst="curvedRigh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>
              <a:solidFill>
                <a:schemeClr val="tx1"/>
              </a:solidFill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5886450" y="2116455"/>
            <a:ext cx="4345940" cy="3994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GB" altLang="en-US"/>
          </a:p>
        </p:txBody>
      </p:sp>
      <p:sp>
        <p:nvSpPr>
          <p:cNvPr id="7" name="Curved Left Arrow 6"/>
          <p:cNvSpPr/>
          <p:nvPr/>
        </p:nvSpPr>
        <p:spPr>
          <a:xfrm>
            <a:off x="5615940" y="1640205"/>
            <a:ext cx="730885" cy="798830"/>
          </a:xfrm>
          <a:prstGeom prst="curvedLef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>
              <a:solidFill>
                <a:schemeClr val="tx1"/>
              </a:solidFill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6701790" y="995680"/>
            <a:ext cx="23895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b="1">
                <a:solidFill>
                  <a:schemeClr val="accent2"/>
                </a:solidFill>
              </a:rPr>
              <a:t>T</a:t>
            </a:r>
            <a:r>
              <a:rPr lang="en-US" altLang="en-GB" b="1">
                <a:solidFill>
                  <a:schemeClr val="accent2"/>
                </a:solidFill>
              </a:rPr>
              <a:t>RANSACTION SYSTEM</a:t>
            </a:r>
            <a:endParaRPr lang="en-US" altLang="en-GB" b="1">
              <a:solidFill>
                <a:schemeClr val="accent2"/>
              </a:solidFill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6481445" y="1550035"/>
            <a:ext cx="264033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>
                <a:solidFill>
                  <a:schemeClr val="bg1"/>
                </a:solidFill>
              </a:rPr>
              <a:t>Core engine that process </a:t>
            </a:r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</a:rPr>
              <a:t>data changes and relies </a:t>
            </a:r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</a:rPr>
              <a:t>on logs to maintain data</a:t>
            </a:r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</a:rPr>
              <a:t> integrity and consistency.</a:t>
            </a:r>
            <a:endParaRPr lang="en-US" altLang="en-GB">
              <a:solidFill>
                <a:schemeClr val="bg1"/>
              </a:solidFill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121285" y="3268345"/>
            <a:ext cx="1172083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>
                <a:solidFill>
                  <a:schemeClr val="accent2"/>
                </a:solidFill>
              </a:rPr>
              <a:t>Job:</a:t>
            </a:r>
            <a:r>
              <a:rPr lang="en-US" altLang="en-GB">
                <a:solidFill>
                  <a:schemeClr val="bg1"/>
                </a:solidFill>
              </a:rPr>
              <a:t>  Make DB “ACID compliant”. Every change  = </a:t>
            </a:r>
            <a:r>
              <a:rPr lang="en-US" altLang="en-GB">
                <a:solidFill>
                  <a:schemeClr val="accent2"/>
                </a:solidFill>
              </a:rPr>
              <a:t>1</a:t>
            </a:r>
            <a:r>
              <a:rPr lang="en-US" altLang="en-GB">
                <a:solidFill>
                  <a:schemeClr val="bg1"/>
                </a:solidFill>
              </a:rPr>
              <a:t> log recorded before data changes (Atomicity, Consistency, Isolation, Durability.)REDO completed work or UNDO half back changes, prevent data corruption.</a:t>
            </a:r>
            <a:endParaRPr lang="en-US" altLang="en-GB">
              <a:solidFill>
                <a:schemeClr val="bg1"/>
              </a:solidFill>
            </a:endParaRPr>
          </a:p>
          <a:p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chemeClr val="accent2"/>
                </a:solidFill>
              </a:rPr>
              <a:t>Analogy:</a:t>
            </a:r>
            <a:r>
              <a:rPr lang="en-US" altLang="en-GB">
                <a:solidFill>
                  <a:schemeClr val="bg1"/>
                </a:solidFill>
              </a:rPr>
              <a:t> It’s like CCTV </a:t>
            </a:r>
            <a:r>
              <a:rPr lang="en-US" altLang="en-GB">
                <a:solidFill>
                  <a:schemeClr val="accent2"/>
                </a:solidFill>
              </a:rPr>
              <a:t>+ </a:t>
            </a:r>
            <a:r>
              <a:rPr lang="en-US" altLang="en-GB">
                <a:solidFill>
                  <a:schemeClr val="bg1"/>
                </a:solidFill>
              </a:rPr>
              <a:t>Receipt. Before SQL updates your bank balance, it writes: “Old = 1000, New = 900, Time = 10: 32am, User = John”</a:t>
            </a:r>
            <a:endParaRPr lang="en-US" altLang="en-GB">
              <a:solidFill>
                <a:schemeClr val="bg1"/>
              </a:solidFill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4976495" y="642620"/>
            <a:ext cx="10795" cy="223774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1" name="Text Box 20"/>
          <p:cNvSpPr txBox="1"/>
          <p:nvPr/>
        </p:nvSpPr>
        <p:spPr>
          <a:xfrm>
            <a:off x="17780" y="642620"/>
            <a:ext cx="470789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>
                <a:solidFill>
                  <a:schemeClr val="bg1"/>
                </a:solidFill>
              </a:rPr>
              <a:t>file(.ldf)                                   Every transaction is logged into this file before it is inserted into the database</a:t>
            </a:r>
            <a:endParaRPr lang="en-US" altLang="en-GB">
              <a:solidFill>
                <a:schemeClr val="bg1"/>
              </a:solidFill>
            </a:endParaRPr>
          </a:p>
        </p:txBody>
      </p:sp>
      <p:sp>
        <p:nvSpPr>
          <p:cNvPr id="23" name="Text Box 22"/>
          <p:cNvSpPr txBox="1"/>
          <p:nvPr/>
        </p:nvSpPr>
        <p:spPr>
          <a:xfrm>
            <a:off x="75565" y="1861185"/>
            <a:ext cx="46501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>
                <a:solidFill>
                  <a:schemeClr val="bg1"/>
                </a:solidFill>
              </a:rPr>
              <a:t>DB                                                                     DATA</a:t>
            </a:r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</a:rPr>
              <a:t>DB                   TRANSACTION LOG                DATA</a:t>
            </a:r>
            <a:endParaRPr lang="en-US" altLang="en-GB">
              <a:solidFill>
                <a:schemeClr val="bg1"/>
              </a:solidFill>
            </a:endParaRPr>
          </a:p>
        </p:txBody>
      </p:sp>
      <p:cxnSp>
        <p:nvCxnSpPr>
          <p:cNvPr id="24" name="Straight Arrow Connector 23"/>
          <p:cNvCxnSpPr/>
          <p:nvPr/>
        </p:nvCxnSpPr>
        <p:spPr>
          <a:xfrm flipH="1">
            <a:off x="929640" y="2016760"/>
            <a:ext cx="2854960" cy="31750"/>
          </a:xfrm>
          <a:prstGeom prst="straightConnector1">
            <a:avLst/>
          </a:prstGeom>
          <a:ln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flipH="1">
            <a:off x="638810" y="2341245"/>
            <a:ext cx="542290" cy="12065"/>
          </a:xfrm>
          <a:prstGeom prst="straightConnector1">
            <a:avLst/>
          </a:prstGeom>
          <a:ln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H="1" flipV="1">
            <a:off x="3366135" y="2299335"/>
            <a:ext cx="501650" cy="10160"/>
          </a:xfrm>
          <a:prstGeom prst="straightConnector1">
            <a:avLst/>
          </a:prstGeom>
          <a:ln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>
            <a:off x="1181100" y="775970"/>
            <a:ext cx="1191895" cy="20955"/>
          </a:xfrm>
          <a:prstGeom prst="straightConnector1">
            <a:avLst/>
          </a:prstGeom>
          <a:ln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9" name="Text Box 28"/>
          <p:cNvSpPr txBox="1"/>
          <p:nvPr/>
        </p:nvSpPr>
        <p:spPr>
          <a:xfrm>
            <a:off x="190500" y="4754880"/>
            <a:ext cx="74676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b="1">
                <a:solidFill>
                  <a:schemeClr val="accent2"/>
                </a:solidFill>
              </a:rPr>
              <a:t>RECOVERY MODEL </a:t>
            </a:r>
            <a:endParaRPr lang="en-US" altLang="en-GB" b="1">
              <a:solidFill>
                <a:schemeClr val="accent2"/>
              </a:solidFill>
            </a:endParaRP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altLang="en-GB" b="1">
                <a:solidFill>
                  <a:schemeClr val="bg1"/>
                </a:solidFill>
              </a:rPr>
              <a:t>Simple: Dev, text</a:t>
            </a:r>
            <a:endParaRPr lang="en-US" altLang="en-GB" b="1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altLang="en-GB" b="1">
                <a:solidFill>
                  <a:schemeClr val="bg1"/>
                </a:solidFill>
              </a:rPr>
              <a:t>Full: Production fully logged. Regular backup and preserve the log chain</a:t>
            </a:r>
            <a:endParaRPr lang="en-US" altLang="en-GB" b="1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altLang="en-GB" b="1">
                <a:solidFill>
                  <a:schemeClr val="bg1"/>
                </a:solidFill>
              </a:rPr>
              <a:t>Bulk logged</a:t>
            </a:r>
            <a:endParaRPr lang="en-US" altLang="en-GB" b="1">
              <a:solidFill>
                <a:schemeClr val="bg1"/>
              </a:solidFill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7865110" y="4467225"/>
            <a:ext cx="406400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b="1">
                <a:solidFill>
                  <a:schemeClr val="accent2"/>
                </a:solidFill>
              </a:rPr>
              <a:t>BLIND SPOT</a:t>
            </a:r>
            <a:endParaRPr lang="en-US" altLang="en-GB" b="1">
              <a:solidFill>
                <a:schemeClr val="accent2"/>
              </a:solidFill>
            </a:endParaRPr>
          </a:p>
          <a:p>
            <a:pPr marL="342900" indent="-342900">
              <a:buAutoNum type="arabicPeriod"/>
            </a:pPr>
            <a:r>
              <a:rPr lang="en-US" altLang="en-GB">
                <a:solidFill>
                  <a:schemeClr val="bg1"/>
                </a:solidFill>
              </a:rPr>
              <a:t>The wrong recovery model</a:t>
            </a:r>
            <a:endParaRPr lang="en-US" altLang="en-GB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r>
              <a:rPr lang="en-US" altLang="en-GB">
                <a:solidFill>
                  <a:schemeClr val="bg1"/>
                </a:solidFill>
              </a:rPr>
              <a:t>Log corruption</a:t>
            </a:r>
            <a:endParaRPr lang="en-US" altLang="en-GB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r>
              <a:rPr lang="en-US" altLang="en-GB">
                <a:solidFill>
                  <a:schemeClr val="bg1"/>
                </a:solidFill>
              </a:rPr>
              <a:t>VLF Over load(Poor maintenance)</a:t>
            </a:r>
            <a:endParaRPr lang="en-US" altLang="en-GB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r>
              <a:rPr lang="en-US" altLang="en-GB">
                <a:solidFill>
                  <a:schemeClr val="bg1"/>
                </a:solidFill>
              </a:rPr>
              <a:t>Malicious Intervention(clear, detach or delete the log files)</a:t>
            </a:r>
            <a:endParaRPr lang="en-US" altLang="en-GB">
              <a:solidFill>
                <a:schemeClr val="bg1"/>
              </a:solidFill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190500" y="6137275"/>
            <a:ext cx="11165205" cy="7188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None/>
            </a:pPr>
            <a:r>
              <a:rPr lang="en-US" altLang="en-GB" b="1">
                <a:solidFill>
                  <a:schemeClr val="bg1"/>
                </a:solidFill>
              </a:rPr>
              <a:t>A. </a:t>
            </a:r>
            <a:r>
              <a:rPr lang="en-US" altLang="en-GB" b="1">
                <a:solidFill>
                  <a:schemeClr val="accent2"/>
                </a:solidFill>
              </a:rPr>
              <a:t>99.99% </a:t>
            </a:r>
            <a:r>
              <a:rPr lang="en-US" altLang="en-GB" b="1">
                <a:solidFill>
                  <a:schemeClr val="bg1"/>
                </a:solidFill>
              </a:rPr>
              <a:t>Effective for Crash Recovery   B.</a:t>
            </a:r>
            <a:r>
              <a:rPr lang="en-US" altLang="en-GB" b="1">
                <a:solidFill>
                  <a:schemeClr val="accent2"/>
                </a:solidFill>
              </a:rPr>
              <a:t> 0% to 50% </a:t>
            </a:r>
            <a:r>
              <a:rPr lang="en-US" altLang="en-GB" b="1">
                <a:solidFill>
                  <a:schemeClr val="bg1"/>
                </a:solidFill>
              </a:rPr>
              <a:t>Effective for Forensics( If unmanaged)   </a:t>
            </a:r>
            <a:endParaRPr lang="en-US" altLang="en-GB" b="1">
              <a:solidFill>
                <a:schemeClr val="bg1"/>
              </a:solidFill>
            </a:endParaRPr>
          </a:p>
          <a:p>
            <a:pPr indent="0">
              <a:buNone/>
            </a:pPr>
            <a:r>
              <a:rPr lang="en-US" altLang="en-GB" b="1">
                <a:solidFill>
                  <a:schemeClr val="bg1"/>
                </a:solidFill>
              </a:rPr>
              <a:t>C.  </a:t>
            </a:r>
            <a:r>
              <a:rPr lang="en-US" altLang="en-GB" b="1">
                <a:solidFill>
                  <a:schemeClr val="accent2"/>
                </a:solidFill>
              </a:rPr>
              <a:t>100% </a:t>
            </a:r>
            <a:r>
              <a:rPr lang="en-US" altLang="en-GB" b="1">
                <a:solidFill>
                  <a:schemeClr val="bg1"/>
                </a:solidFill>
              </a:rPr>
              <a:t>Effective for Point-in-Time Recovey.</a:t>
            </a:r>
            <a:endParaRPr lang="en-US" altLang="en-GB" b="1">
              <a:solidFill>
                <a:schemeClr val="bg1"/>
              </a:solidFill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9317355" y="995680"/>
            <a:ext cx="2802255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b="1">
                <a:solidFill>
                  <a:schemeClr val="accent2"/>
                </a:solidFill>
              </a:rPr>
              <a:t>THE LIFE CYCLE</a:t>
            </a:r>
            <a:endParaRPr lang="en-US" altLang="en-GB" b="1">
              <a:solidFill>
                <a:schemeClr val="accent2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en-GB">
                <a:solidFill>
                  <a:schemeClr val="bg1"/>
                </a:solidFill>
              </a:rPr>
              <a:t>The request</a:t>
            </a:r>
            <a:endParaRPr lang="en-US" altLang="en-GB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en-GB">
                <a:solidFill>
                  <a:schemeClr val="bg1"/>
                </a:solidFill>
              </a:rPr>
              <a:t>Memory first(RAM)buffer pool</a:t>
            </a:r>
            <a:endParaRPr lang="en-US" altLang="en-GB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en-GB">
                <a:solidFill>
                  <a:schemeClr val="bg1"/>
                </a:solidFill>
              </a:rPr>
              <a:t>The log sequential  write</a:t>
            </a:r>
            <a:endParaRPr lang="en-US" altLang="en-GB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en-GB">
                <a:solidFill>
                  <a:schemeClr val="bg1"/>
                </a:solidFill>
              </a:rPr>
              <a:t>The checkpoint.</a:t>
            </a:r>
            <a:endParaRPr lang="en-US" altLang="en-GB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WhatsApp Image 2026-05-26 at 9.15.32 AM"/>
          <p:cNvPicPr>
            <a:picLocks noChangeAspect="1"/>
          </p:cNvPicPr>
          <p:nvPr/>
        </p:nvPicPr>
        <p:blipFill>
          <a:blip r:embed="rId1"/>
          <a:srcRect l="11601" t="7675" r="19054" b="14253"/>
          <a:stretch>
            <a:fillRect/>
          </a:stretch>
        </p:blipFill>
        <p:spPr>
          <a:xfrm>
            <a:off x="0" y="0"/>
            <a:ext cx="807085" cy="859155"/>
          </a:xfrm>
          <a:prstGeom prst="rect">
            <a:avLst/>
          </a:prstGeom>
        </p:spPr>
      </p:pic>
      <p:pic>
        <p:nvPicPr>
          <p:cNvPr id="5" name="Picture 4" descr="WhatsApp Image 2026-05-26 at 9.15.32 AM"/>
          <p:cNvPicPr>
            <a:picLocks noChangeAspect="1"/>
          </p:cNvPicPr>
          <p:nvPr/>
        </p:nvPicPr>
        <p:blipFill>
          <a:blip r:embed="rId1"/>
          <a:srcRect l="11601" t="7675" r="19054" b="14253"/>
          <a:stretch>
            <a:fillRect/>
          </a:stretch>
        </p:blipFill>
        <p:spPr>
          <a:xfrm>
            <a:off x="11363325" y="5998845"/>
            <a:ext cx="807085" cy="859155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807085" y="182880"/>
            <a:ext cx="643763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b="1">
                <a:solidFill>
                  <a:schemeClr val="accent2"/>
                </a:solidFill>
              </a:rPr>
              <a:t>THREE THINGS EVERY LOG RECORD CONTAINS</a:t>
            </a:r>
            <a:endParaRPr lang="en-US" altLang="en-GB" b="1">
              <a:solidFill>
                <a:schemeClr val="accent2"/>
              </a:solidFill>
            </a:endParaRPr>
          </a:p>
          <a:p>
            <a:endParaRPr lang="en-US" altLang="en-GB"/>
          </a:p>
          <a:p>
            <a:pPr marL="342900" indent="-342900">
              <a:buAutoNum type="arabicPeriod"/>
            </a:pPr>
            <a:r>
              <a:rPr lang="en-US" altLang="en-GB" b="1">
                <a:solidFill>
                  <a:schemeClr val="accent2"/>
                </a:solidFill>
              </a:rPr>
              <a:t>LSN</a:t>
            </a:r>
            <a:r>
              <a:rPr lang="en-US" altLang="en-GB">
                <a:solidFill>
                  <a:schemeClr val="bg1"/>
                </a:solidFill>
              </a:rPr>
              <a:t> - Log Sequence Number = timestamp/ID of the action</a:t>
            </a:r>
            <a:endParaRPr lang="en-US" altLang="en-GB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r>
              <a:rPr lang="en-US" altLang="en-GB" b="1">
                <a:solidFill>
                  <a:schemeClr val="accent2"/>
                </a:solidFill>
              </a:rPr>
              <a:t>Operation </a:t>
            </a:r>
            <a:r>
              <a:rPr lang="en-US" altLang="en-GB">
                <a:solidFill>
                  <a:schemeClr val="bg1"/>
                </a:solidFill>
              </a:rPr>
              <a:t>- LOP_DELETE, LOP_INSERT, LOP_MODIFY_ROW</a:t>
            </a:r>
            <a:endParaRPr lang="en-US" altLang="en-GB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r>
              <a:rPr lang="en-US" altLang="en-GB" b="1">
                <a:solidFill>
                  <a:schemeClr val="accent2"/>
                </a:solidFill>
              </a:rPr>
              <a:t>Before/After</a:t>
            </a:r>
            <a:r>
              <a:rPr lang="en-US" altLang="en-GB">
                <a:solidFill>
                  <a:schemeClr val="bg1"/>
                </a:solidFill>
              </a:rPr>
              <a:t> Image - Old data vs New data. </a:t>
            </a:r>
            <a:endParaRPr lang="en-US" altLang="en-GB">
              <a:solidFill>
                <a:schemeClr val="bg1"/>
              </a:solidFill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135255" y="2461260"/>
            <a:ext cx="587375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b="1">
                <a:solidFill>
                  <a:schemeClr val="bg1"/>
                </a:solidFill>
              </a:rPr>
              <a:t>UPDATE User SET SALARY = 5000 WHERE ID = 1</a:t>
            </a:r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rgbClr val="00B050"/>
                </a:solidFill>
              </a:rPr>
              <a:t>Log stores : </a:t>
            </a:r>
            <a:r>
              <a:rPr lang="en-US" altLang="en-GB" b="1">
                <a:solidFill>
                  <a:schemeClr val="bg1"/>
                </a:solidFill>
              </a:rPr>
              <a:t>Before:  Salary = 3000</a:t>
            </a:r>
            <a:r>
              <a:rPr lang="en-US" altLang="en-GB" b="1">
                <a:solidFill>
                  <a:srgbClr val="00B050"/>
                </a:solidFill>
              </a:rPr>
              <a:t>|</a:t>
            </a:r>
            <a:r>
              <a:rPr lang="en-US" altLang="en-GB" b="1">
                <a:solidFill>
                  <a:schemeClr val="bg1"/>
                </a:solidFill>
              </a:rPr>
              <a:t>After: Salary = 5000</a:t>
            </a:r>
            <a:endParaRPr lang="en-US" altLang="en-GB" b="1">
              <a:solidFill>
                <a:schemeClr val="bg1"/>
              </a:solidFill>
            </a:endParaRPr>
          </a:p>
          <a:p>
            <a:endParaRPr lang="en-US" altLang="en-GB" b="1">
              <a:solidFill>
                <a:schemeClr val="bg1"/>
              </a:solidFill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7245350" y="99695"/>
            <a:ext cx="4732655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b="1">
                <a:solidFill>
                  <a:schemeClr val="accent2"/>
                </a:solidFill>
              </a:rPr>
              <a:t>TRANSACTION INFORMATION</a:t>
            </a:r>
            <a:endParaRPr lang="en-US" altLang="en-GB" b="1">
              <a:solidFill>
                <a:schemeClr val="accent2"/>
              </a:solidFill>
            </a:endParaRPr>
          </a:p>
          <a:p>
            <a:pPr marL="342900" indent="-342900">
              <a:buAutoNum type="arabicPeriod"/>
            </a:pPr>
            <a:r>
              <a:rPr lang="en-US" altLang="en-GB">
                <a:solidFill>
                  <a:schemeClr val="bg1"/>
                </a:solidFill>
              </a:rPr>
              <a:t>All information needed to revert state </a:t>
            </a:r>
            <a:endParaRPr lang="en-US" altLang="en-GB">
              <a:solidFill>
                <a:schemeClr val="bg1"/>
              </a:solidFill>
            </a:endParaRPr>
          </a:p>
          <a:p>
            <a:endParaRPr lang="en-US" altLang="en-GB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>
                <a:solidFill>
                  <a:schemeClr val="bg1"/>
                </a:solidFill>
              </a:rPr>
              <a:t>At least 1 entry per change</a:t>
            </a:r>
            <a:endParaRPr lang="en-US" altLang="en-GB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>
                <a:solidFill>
                  <a:schemeClr val="bg1"/>
                </a:solidFill>
              </a:rPr>
              <a:t>Update-statement internally DELETE/INSERT with linking</a:t>
            </a:r>
            <a:endParaRPr lang="en-US" altLang="en-GB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>
                <a:solidFill>
                  <a:schemeClr val="bg1"/>
                </a:solidFill>
              </a:rPr>
              <a:t>Timestamps</a:t>
            </a:r>
            <a:endParaRPr lang="en-US" altLang="en-GB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>
                <a:solidFill>
                  <a:schemeClr val="bg1"/>
                </a:solidFill>
              </a:rPr>
              <a:t>Metadata</a:t>
            </a:r>
            <a:endParaRPr lang="en-US" altLang="en-GB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>
                <a:solidFill>
                  <a:schemeClr val="bg1"/>
                </a:solidFill>
              </a:rPr>
              <a:t>Overwritten information</a:t>
            </a:r>
            <a:endParaRPr lang="en-US" altLang="en-GB">
              <a:solidFill>
                <a:schemeClr val="bg1"/>
              </a:solidFill>
            </a:endParaRPr>
          </a:p>
          <a:p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</a:rPr>
              <a:t>2. DELETE-statement only  ‘mark as delete’</a:t>
            </a:r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</a:rPr>
              <a:t>3. Log types</a:t>
            </a:r>
            <a:endParaRPr lang="en-US" altLang="en-GB">
              <a:solidFill>
                <a:schemeClr val="bg1"/>
              </a:solidFill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2556510" y="427228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GB" altLang="en-US"/>
          </a:p>
        </p:txBody>
      </p:sp>
      <p:graphicFrame>
        <p:nvGraphicFramePr>
          <p:cNvPr id="17" name="Table 16"/>
          <p:cNvGraphicFramePr/>
          <p:nvPr>
            <p:custDataLst>
              <p:tags r:id="rId2"/>
            </p:custDataLst>
          </p:nvPr>
        </p:nvGraphicFramePr>
        <p:xfrm>
          <a:off x="211455" y="3667125"/>
          <a:ext cx="6486525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2175"/>
                <a:gridCol w="2162175"/>
                <a:gridCol w="2162175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chemeClr val="bg1"/>
                          </a:solidFill>
                        </a:rPr>
                        <a:t>ACTION</a:t>
                      </a:r>
                      <a:endParaRPr lang="en-US" altLang="en-GB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chemeClr val="bg1"/>
                          </a:solidFill>
                        </a:rPr>
                        <a:t>TABLE SHOWS</a:t>
                      </a:r>
                      <a:endParaRPr lang="en-US" altLang="en-GB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chemeClr val="bg1"/>
                          </a:solidFill>
                        </a:rPr>
                        <a:t>LOG SHOWS</a:t>
                      </a:r>
                      <a:endParaRPr lang="en-US" altLang="en-GB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</a:tr>
              <a:tr h="6400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chemeClr val="bg1"/>
                          </a:solidFill>
                        </a:rPr>
                        <a:t>DELETE</a:t>
                      </a:r>
                      <a:endParaRPr lang="en-US" altLang="en-GB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chemeClr val="bg1"/>
                          </a:solidFill>
                        </a:rPr>
                        <a:t>0 rows</a:t>
                      </a:r>
                      <a:endParaRPr lang="en-US" altLang="en-GB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chemeClr val="bg1"/>
                          </a:solidFill>
                        </a:rPr>
                        <a:t>“User X deleted ID </a:t>
                      </a:r>
                      <a:endParaRPr lang="en-US" altLang="en-GB">
                        <a:solidFill>
                          <a:schemeClr val="bg1"/>
                        </a:solidFill>
                      </a:endParaRPr>
                    </a:p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chemeClr val="bg1"/>
                          </a:solidFill>
                        </a:rPr>
                        <a:t>45 at 2:03am”</a:t>
                      </a:r>
                      <a:endParaRPr lang="en-US" altLang="en-GB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</a:tr>
              <a:tr h="6400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chemeClr val="bg1"/>
                          </a:solidFill>
                        </a:rPr>
                        <a:t>UPDATE</a:t>
                      </a:r>
                      <a:endParaRPr lang="en-US" altLang="en-GB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chemeClr val="bg1"/>
                          </a:solidFill>
                        </a:rPr>
                        <a:t>New values only</a:t>
                      </a:r>
                      <a:endParaRPr lang="en-US" altLang="en-GB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chemeClr val="bg1"/>
                          </a:solidFill>
                        </a:rPr>
                        <a:t>“Old = 3000,</a:t>
                      </a:r>
                      <a:endParaRPr lang="en-US" altLang="en-GB">
                        <a:solidFill>
                          <a:schemeClr val="bg1"/>
                        </a:solidFill>
                      </a:endParaRPr>
                    </a:p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chemeClr val="bg1"/>
                          </a:solidFill>
                        </a:rPr>
                        <a:t> New = 5000”</a:t>
                      </a:r>
                      <a:endParaRPr lang="en-US" altLang="en-GB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</a:tr>
              <a:tr h="9144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chemeClr val="bg1"/>
                          </a:solidFill>
                        </a:rPr>
                        <a:t>TRUNCATE</a:t>
                      </a:r>
                      <a:endParaRPr lang="en-US" altLang="en-GB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chemeClr val="bg1"/>
                          </a:solidFill>
                        </a:rPr>
                        <a:t>Empty table</a:t>
                      </a:r>
                      <a:endParaRPr lang="en-US" altLang="en-GB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chemeClr val="bg1"/>
                          </a:solidFill>
                        </a:rPr>
                        <a:t>”All pages </a:t>
                      </a:r>
                      <a:endParaRPr lang="en-US" altLang="en-GB">
                        <a:solidFill>
                          <a:schemeClr val="bg1"/>
                        </a:solidFill>
                      </a:endParaRPr>
                    </a:p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chemeClr val="bg1"/>
                          </a:solidFill>
                        </a:rPr>
                        <a:t>deallocated at </a:t>
                      </a:r>
                      <a:endParaRPr lang="en-US" altLang="en-GB">
                        <a:solidFill>
                          <a:schemeClr val="bg1"/>
                        </a:solidFill>
                      </a:endParaRPr>
                    </a:p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chemeClr val="bg1"/>
                          </a:solidFill>
                        </a:rPr>
                        <a:t>2: 05am”</a:t>
                      </a:r>
                      <a:endParaRPr lang="en-US" altLang="en-GB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8" name="Text Box 17"/>
          <p:cNvSpPr txBox="1"/>
          <p:nvPr/>
        </p:nvSpPr>
        <p:spPr>
          <a:xfrm>
            <a:off x="0" y="6327775"/>
            <a:ext cx="122961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b="1">
                <a:solidFill>
                  <a:schemeClr val="bg1"/>
                </a:solidFill>
              </a:rPr>
              <a:t>Attackers can wipe tables. They forget the log is write only CCTV.</a:t>
            </a:r>
            <a:endParaRPr lang="en-US" altLang="en-GB" b="1">
              <a:solidFill>
                <a:schemeClr val="bg1"/>
              </a:solidFill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7245350" y="3667125"/>
            <a:ext cx="4925060" cy="31807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 b="1">
                <a:solidFill>
                  <a:schemeClr val="accent2"/>
                </a:solidFill>
              </a:rPr>
              <a:t>HOW TO MAKE THE RECOVERY PROCESS EFFECTIVE?</a:t>
            </a:r>
            <a:endParaRPr lang="en-US" altLang="en-GB" b="1">
              <a:solidFill>
                <a:schemeClr val="accent2"/>
              </a:solidFill>
            </a:endParaRPr>
          </a:p>
          <a:p>
            <a:pPr marL="342900" indent="-342900">
              <a:buAutoNum type="arabicPeriod"/>
            </a:pPr>
            <a:r>
              <a:rPr lang="en-US" altLang="en-GB">
                <a:solidFill>
                  <a:schemeClr val="bg1"/>
                </a:solidFill>
              </a:rPr>
              <a:t>Seperate the Physical Storage(Isolate the Risk) </a:t>
            </a:r>
            <a:r>
              <a:rPr lang="en-US" altLang="en-GB">
                <a:solidFill>
                  <a:srgbClr val="00B050"/>
                </a:solidFill>
              </a:rPr>
              <a:t>(.ldf )</a:t>
            </a:r>
            <a:r>
              <a:rPr lang="en-US" altLang="en-GB">
                <a:solidFill>
                  <a:schemeClr val="bg1"/>
                </a:solidFill>
              </a:rPr>
              <a:t>not in thesame physical drive array as </a:t>
            </a:r>
            <a:r>
              <a:rPr lang="en-US" altLang="en-GB">
                <a:solidFill>
                  <a:srgbClr val="00B050"/>
                </a:solidFill>
              </a:rPr>
              <a:t>(.mdf</a:t>
            </a:r>
            <a:r>
              <a:rPr lang="en-US" altLang="en-GB">
                <a:solidFill>
                  <a:schemeClr val="bg1"/>
                </a:solidFill>
              </a:rPr>
              <a:t>)data files.</a:t>
            </a:r>
            <a:endParaRPr lang="en-US" altLang="en-GB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r>
              <a:rPr lang="en-US" altLang="en-GB">
                <a:solidFill>
                  <a:schemeClr val="bg1"/>
                </a:solidFill>
              </a:rPr>
              <a:t>Implement Regular Log Backups(running transaction log backups every 15min or even 5min for critical financial systems.</a:t>
            </a:r>
            <a:endParaRPr lang="en-US" altLang="en-GB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r>
              <a:rPr lang="en-US" altLang="en-GB">
                <a:solidFill>
                  <a:schemeClr val="bg1"/>
                </a:solidFill>
              </a:rPr>
              <a:t>Size your Logs Correctly from the Start.</a:t>
            </a:r>
            <a:endParaRPr lang="en-US" altLang="en-GB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r>
              <a:rPr lang="en-US" altLang="en-GB">
                <a:solidFill>
                  <a:schemeClr val="bg1"/>
                </a:solidFill>
              </a:rPr>
              <a:t>Lock Down Log Modifications.</a:t>
            </a:r>
            <a:endParaRPr lang="en-US" altLang="en-GB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endParaRPr lang="en-US" altLang="en-GB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Text Box 5"/>
          <p:cNvSpPr txBox="1"/>
          <p:nvPr/>
        </p:nvSpPr>
        <p:spPr>
          <a:xfrm>
            <a:off x="97155" y="115570"/>
            <a:ext cx="8532495" cy="15322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 b="1">
                <a:solidFill>
                  <a:schemeClr val="accent2"/>
                </a:solidFill>
              </a:rPr>
              <a:t>LOG  STRUCTURE</a:t>
            </a:r>
            <a:endParaRPr lang="en-US" altLang="en-GB" b="1">
              <a:solidFill>
                <a:schemeClr val="accent2"/>
              </a:solidFill>
            </a:endParaRPr>
          </a:p>
          <a:p>
            <a:r>
              <a:rPr lang="en-US" altLang="en-GB" b="1">
                <a:solidFill>
                  <a:schemeClr val="accent2"/>
                </a:solidFill>
              </a:rPr>
              <a:t>VLF:</a:t>
            </a:r>
            <a:r>
              <a:rPr lang="en-US" altLang="en-GB">
                <a:solidFill>
                  <a:schemeClr val="bg1"/>
                </a:solidFill>
              </a:rPr>
              <a:t> Virtual Log File. Log file split into chunks. circular reuse</a:t>
            </a:r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accent2"/>
                </a:solidFill>
              </a:rPr>
              <a:t>LSN:</a:t>
            </a:r>
            <a:r>
              <a:rPr lang="en-US" altLang="en-GB">
                <a:solidFill>
                  <a:schemeClr val="bg1"/>
                </a:solidFill>
              </a:rPr>
              <a:t> LOG SEQUENCE NUMBER: 3-part address: VLF:Block:Slot. Unique ID for every action</a:t>
            </a:r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accent2"/>
                </a:solidFill>
              </a:rPr>
              <a:t>Log record: </a:t>
            </a:r>
            <a:r>
              <a:rPr lang="en-US" altLang="en-GB">
                <a:solidFill>
                  <a:schemeClr val="bg1"/>
                </a:solidFill>
              </a:rPr>
              <a:t>1 action = 1 record. Never update, only appended</a:t>
            </a:r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accent2"/>
                </a:solidFill>
              </a:rPr>
              <a:t>KEY: </a:t>
            </a:r>
            <a:r>
              <a:rPr lang="en-US" altLang="en-GB">
                <a:solidFill>
                  <a:schemeClr val="bg1"/>
                </a:solidFill>
              </a:rPr>
              <a:t>Old records get overwritten when VLF “inactive”. </a:t>
            </a:r>
            <a:r>
              <a:rPr lang="en-US" altLang="en-GB">
                <a:solidFill>
                  <a:srgbClr val="00B050"/>
                </a:solidFill>
              </a:rPr>
              <a:t>Don’t wait to collect evidence</a:t>
            </a:r>
            <a:endParaRPr lang="en-US" altLang="en-GB">
              <a:solidFill>
                <a:srgbClr val="00B050"/>
              </a:solidFill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97155" y="1647825"/>
            <a:ext cx="8532495" cy="2306955"/>
          </a:xfrm>
          <a:prstGeom prst="rect">
            <a:avLst/>
          </a:prstGeom>
          <a:solidFill>
            <a:srgbClr val="471D0F"/>
          </a:solidFill>
        </p:spPr>
        <p:txBody>
          <a:bodyPr wrap="square" rtlCol="0">
            <a:spAutoFit/>
          </a:bodyPr>
          <a:p>
            <a:r>
              <a:rPr lang="en-US" altLang="en-GB" b="1">
                <a:solidFill>
                  <a:schemeClr val="accent2"/>
                </a:solidFill>
              </a:rPr>
              <a:t>EVERY LOG RECORD CONTAINS - THE 7 FORENSIC FIELDS</a:t>
            </a:r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accent2"/>
                </a:solidFill>
              </a:rPr>
              <a:t>LSN:</a:t>
            </a:r>
            <a:r>
              <a:rPr lang="en-US" altLang="en-GB" b="1">
                <a:solidFill>
                  <a:schemeClr val="bg1"/>
                </a:solidFill>
              </a:rPr>
              <a:t>  Where/when in log sequence</a:t>
            </a:r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accent2"/>
                </a:solidFill>
              </a:rPr>
              <a:t>XACT ID:</a:t>
            </a:r>
            <a:r>
              <a:rPr lang="en-US" altLang="en-GB" b="1">
                <a:solidFill>
                  <a:schemeClr val="bg1"/>
                </a:solidFill>
              </a:rPr>
              <a:t> Transaction </a:t>
            </a:r>
            <a:r>
              <a:rPr lang="en-US" altLang="en-GB" b="1">
                <a:solidFill>
                  <a:schemeClr val="bg1"/>
                </a:solidFill>
              </a:rPr>
              <a:t>ID.  Groups all actions by 1 query</a:t>
            </a:r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accent2"/>
                </a:solidFill>
              </a:rPr>
              <a:t>Operation:</a:t>
            </a:r>
            <a:r>
              <a:rPr lang="en-US" altLang="en-GB" b="1">
                <a:solidFill>
                  <a:schemeClr val="bg1"/>
                </a:solidFill>
              </a:rPr>
              <a:t> LOP_INSERT, LOP_DELETE,LOP_MODIFY_ROW, LOP_BEGIN_XACT</a:t>
            </a:r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accent2"/>
                </a:solidFill>
              </a:rPr>
              <a:t>AllocUnit:</a:t>
            </a:r>
            <a:r>
              <a:rPr lang="en-US" altLang="en-GB" b="1">
                <a:solidFill>
                  <a:schemeClr val="bg1"/>
                </a:solidFill>
              </a:rPr>
              <a:t> Which table/index was hit</a:t>
            </a:r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accent2"/>
                </a:solidFill>
              </a:rPr>
              <a:t>Transaction SID:</a:t>
            </a:r>
            <a:r>
              <a:rPr lang="en-US" altLang="en-GB" b="1">
                <a:solidFill>
                  <a:schemeClr val="bg1"/>
                </a:solidFill>
              </a:rPr>
              <a:t> Who did it. convert with SUSER_SNAME()</a:t>
            </a:r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accent2"/>
                </a:solidFill>
              </a:rPr>
              <a:t>Begin Time: </a:t>
            </a:r>
            <a:r>
              <a:rPr lang="en-US" altLang="en-GB" b="1">
                <a:solidFill>
                  <a:schemeClr val="bg1"/>
                </a:solidFill>
              </a:rPr>
              <a:t>Timestamp of transaction start</a:t>
            </a:r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accent2"/>
                </a:solidFill>
              </a:rPr>
              <a:t>Before/After Image: </a:t>
            </a:r>
            <a:r>
              <a:rPr lang="en-US" altLang="en-GB" b="1">
                <a:solidFill>
                  <a:schemeClr val="bg1"/>
                </a:solidFill>
              </a:rPr>
              <a:t>Rowlog Contents 0 = old data, RowLog Contents 1 = new data</a:t>
            </a:r>
            <a:endParaRPr lang="en-US" altLang="en-GB" b="1">
              <a:solidFill>
                <a:schemeClr val="bg1"/>
              </a:solidFill>
            </a:endParaRPr>
          </a:p>
        </p:txBody>
      </p:sp>
      <p:graphicFrame>
        <p:nvGraphicFramePr>
          <p:cNvPr id="9" name="Table 8"/>
          <p:cNvGraphicFramePr/>
          <p:nvPr>
            <p:custDataLst>
              <p:tags r:id="rId1"/>
            </p:custDataLst>
          </p:nvPr>
        </p:nvGraphicFramePr>
        <p:xfrm>
          <a:off x="97155" y="3931920"/>
          <a:ext cx="8532495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6565"/>
                <a:gridCol w="2691765"/>
                <a:gridCol w="2844165"/>
              </a:tblGrid>
              <a:tr h="30861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chemeClr val="bg1"/>
                          </a:solidFill>
                        </a:rPr>
                        <a:t>PART</a:t>
                      </a:r>
                      <a:endParaRPr lang="en-US" altLang="en-GB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chemeClr val="bg1"/>
                          </a:solidFill>
                        </a:rPr>
                        <a:t>ROLE IN CRIME</a:t>
                      </a:r>
                      <a:endParaRPr lang="en-US" altLang="en-GB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chemeClr val="bg1"/>
                          </a:solidFill>
                        </a:rPr>
                        <a:t>FORENSIC VALUE</a:t>
                      </a:r>
                      <a:endParaRPr lang="en-US" altLang="en-GB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chemeClr val="bg1"/>
                          </a:solidFill>
                        </a:rPr>
                        <a:t>LOP_BEGIN_XACT</a:t>
                      </a:r>
                      <a:endParaRPr lang="en-US" altLang="en-GB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chemeClr val="bg1"/>
                          </a:solidFill>
                        </a:rPr>
                        <a:t>Scene opens</a:t>
                      </a:r>
                      <a:endParaRPr lang="en-US" altLang="en-GB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chemeClr val="bg1"/>
                          </a:solidFill>
                        </a:rPr>
                        <a:t>Who + When attack started</a:t>
                      </a:r>
                      <a:endParaRPr lang="en-US" altLang="en-GB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chemeClr val="bg1"/>
                          </a:solidFill>
                        </a:rPr>
                        <a:t>LOP_INSERT/DELETE/UPDATE</a:t>
                      </a:r>
                      <a:endParaRPr lang="en-US" altLang="en-GB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chemeClr val="bg1"/>
                          </a:solidFill>
                        </a:rPr>
                        <a:t>The attack</a:t>
                      </a:r>
                      <a:endParaRPr lang="en-US" altLang="en-GB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chemeClr val="bg1"/>
                          </a:solidFill>
                        </a:rPr>
                        <a:t>What data was changed</a:t>
                      </a:r>
                      <a:endParaRPr lang="en-US" altLang="en-GB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chemeClr val="bg1"/>
                          </a:solidFill>
                        </a:rPr>
                        <a:t>LOP_COMMIT_XACT</a:t>
                      </a:r>
                      <a:endParaRPr lang="en-US" altLang="en-GB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chemeClr val="bg1"/>
                          </a:solidFill>
                        </a:rPr>
                        <a:t>Scene closes + saves</a:t>
                      </a:r>
                      <a:endParaRPr lang="en-US" altLang="en-GB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chemeClr val="bg1"/>
                          </a:solidFill>
                        </a:rPr>
                        <a:t>Prove intent, not accident</a:t>
                      </a:r>
                      <a:endParaRPr lang="en-US" altLang="en-GB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chemeClr val="bg1"/>
                          </a:solidFill>
                        </a:rPr>
                        <a:t>LOP_ABORT</a:t>
                      </a:r>
                      <a:endParaRPr lang="en-US" altLang="en-GB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chemeClr val="bg1"/>
                          </a:solidFill>
                        </a:rPr>
                        <a:t>Attack failed</a:t>
                      </a:r>
                      <a:endParaRPr lang="en-US" altLang="en-GB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chemeClr val="bg1"/>
                          </a:solidFill>
                        </a:rPr>
                        <a:t>Shows attempted fraud</a:t>
                      </a:r>
                      <a:endParaRPr lang="en-US" altLang="en-GB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chemeClr val="bg1"/>
                          </a:solidFill>
                        </a:rPr>
                        <a:t>VLF_Truncation</a:t>
                      </a:r>
                      <a:endParaRPr lang="en-US" altLang="en-GB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chemeClr val="bg1"/>
                          </a:solidFill>
                        </a:rPr>
                        <a:t>CCTV tape reuse</a:t>
                      </a:r>
                      <a:endParaRPr lang="en-US" altLang="en-GB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chemeClr val="bg1"/>
                          </a:solidFill>
                        </a:rPr>
                        <a:t>Explains missing evidence</a:t>
                      </a:r>
                      <a:endParaRPr lang="en-US" altLang="en-GB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</a:tr>
              <a:tr h="6400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chemeClr val="bg1"/>
                          </a:solidFill>
                        </a:rPr>
                        <a:t>TRUNCATE/PAGE ops</a:t>
                      </a:r>
                      <a:endParaRPr lang="en-US" altLang="en-GB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chemeClr val="bg1"/>
                          </a:solidFill>
                        </a:rPr>
                        <a:t>Mass deletion tool</a:t>
                      </a:r>
                      <a:endParaRPr lang="en-US" altLang="en-GB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chemeClr val="bg1"/>
                          </a:solidFill>
                        </a:rPr>
                        <a:t>proves attacker used bulk tools</a:t>
                      </a:r>
                      <a:endParaRPr lang="en-US" altLang="en-GB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" name="Text Box 1"/>
          <p:cNvSpPr txBox="1"/>
          <p:nvPr/>
        </p:nvSpPr>
        <p:spPr>
          <a:xfrm>
            <a:off x="8750935" y="1647825"/>
            <a:ext cx="3366135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b="1">
                <a:solidFill>
                  <a:schemeClr val="accent2"/>
                </a:solidFill>
              </a:rPr>
              <a:t>TWO TYPES:</a:t>
            </a:r>
            <a:endParaRPr lang="en-US" altLang="en-GB" b="1">
              <a:solidFill>
                <a:schemeClr val="accent2"/>
              </a:solidFill>
            </a:endParaRPr>
          </a:p>
          <a:p>
            <a:r>
              <a:rPr lang="en-US" altLang="en-GB">
                <a:solidFill>
                  <a:srgbClr val="00B050"/>
                </a:solidFill>
              </a:rPr>
              <a:t>ACTIVE LOG</a:t>
            </a:r>
            <a:r>
              <a:rPr lang="en-US" altLang="en-GB">
                <a:solidFill>
                  <a:schemeClr val="bg1"/>
                </a:solidFill>
              </a:rPr>
              <a:t>-(Still running or haven’t been safely written down to the main data file. This can never be overwritten</a:t>
            </a:r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rgbClr val="00B050"/>
                </a:solidFill>
              </a:rPr>
              <a:t>INACTIVE LOG-</a:t>
            </a:r>
            <a:r>
              <a:rPr lang="en-US" altLang="en-GB">
                <a:solidFill>
                  <a:schemeClr val="bg1"/>
                </a:solidFill>
              </a:rPr>
              <a:t>Contains old transactions that are finished and finalized</a:t>
            </a:r>
            <a:endParaRPr lang="en-US" altLang="en-GB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Text Box 6"/>
          <p:cNvSpPr txBox="1"/>
          <p:nvPr/>
        </p:nvSpPr>
        <p:spPr>
          <a:xfrm>
            <a:off x="135890" y="91440"/>
            <a:ext cx="43287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>
                <a:solidFill>
                  <a:srgbClr val="FFC000"/>
                </a:solidFill>
              </a:rPr>
              <a:t>SSMS (SQL CODE)</a:t>
            </a:r>
            <a:endParaRPr lang="en-US" altLang="en-GB">
              <a:solidFill>
                <a:srgbClr val="FFC000"/>
              </a:solidFill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135255" y="459740"/>
            <a:ext cx="5740400" cy="3692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>
                <a:solidFill>
                  <a:schemeClr val="bg1"/>
                </a:solidFill>
              </a:rPr>
              <a:t>-- Step </a:t>
            </a:r>
            <a:r>
              <a:rPr lang="en-US" altLang="en-GB">
                <a:solidFill>
                  <a:srgbClr val="FF0000"/>
                </a:solidFill>
              </a:rPr>
              <a:t>1</a:t>
            </a:r>
            <a:r>
              <a:rPr lang="en-US" altLang="en-GB">
                <a:solidFill>
                  <a:schemeClr val="bg1"/>
                </a:solidFill>
              </a:rPr>
              <a:t>: See if log exists </a:t>
            </a:r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</a:rPr>
              <a:t>DBCC LOGINFO</a:t>
            </a:r>
            <a:endParaRPr lang="en-US" altLang="en-GB">
              <a:solidFill>
                <a:schemeClr val="bg1"/>
              </a:solidFill>
            </a:endParaRPr>
          </a:p>
          <a:p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  <a:sym typeface="+mn-ea"/>
              </a:rPr>
              <a:t>-- Step </a:t>
            </a:r>
            <a:r>
              <a:rPr lang="en-US" altLang="en-GB">
                <a:solidFill>
                  <a:srgbClr val="FF0000"/>
                </a:solidFill>
                <a:sym typeface="+mn-ea"/>
              </a:rPr>
              <a:t>2</a:t>
            </a:r>
            <a:r>
              <a:rPr lang="en-US" altLang="en-GB">
                <a:solidFill>
                  <a:schemeClr val="bg1"/>
                </a:solidFill>
                <a:sym typeface="+mn-ea"/>
              </a:rPr>
              <a:t>:  Read uncommitted log  who did what</a:t>
            </a:r>
            <a:endParaRPr lang="en-US" altLang="en-GB">
              <a:solidFill>
                <a:schemeClr val="bg1"/>
              </a:solidFill>
              <a:sym typeface="+mn-ea"/>
            </a:endParaRPr>
          </a:p>
          <a:p>
            <a:r>
              <a:rPr lang="en-US" altLang="en-GB">
                <a:solidFill>
                  <a:schemeClr val="bg1"/>
                </a:solidFill>
              </a:rPr>
              <a:t>SELECT</a:t>
            </a:r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</a:rPr>
              <a:t>[Current LSN], [Operation], [Transaction Name],</a:t>
            </a:r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</a:rPr>
              <a:t>[Begin Time],[Transaction SID]) as Username,</a:t>
            </a:r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</a:rPr>
              <a:t>[Rowlog Contents </a:t>
            </a:r>
            <a:r>
              <a:rPr lang="en-US" altLang="en-GB">
                <a:solidFill>
                  <a:srgbClr val="FF0000"/>
                </a:solidFill>
              </a:rPr>
              <a:t>0</a:t>
            </a:r>
            <a:r>
              <a:rPr lang="en-US" altLang="en-GB">
                <a:solidFill>
                  <a:schemeClr val="bg1"/>
                </a:solidFill>
              </a:rPr>
              <a:t>], [Rowlog Contents </a:t>
            </a:r>
            <a:r>
              <a:rPr lang="en-US" altLang="en-GB">
                <a:solidFill>
                  <a:srgbClr val="FF0000"/>
                </a:solidFill>
              </a:rPr>
              <a:t>1</a:t>
            </a:r>
            <a:r>
              <a:rPr lang="en-US" altLang="en-GB">
                <a:solidFill>
                  <a:schemeClr val="bg1"/>
                </a:solidFill>
              </a:rPr>
              <a:t>]</a:t>
            </a:r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</a:rPr>
              <a:t>FROM fn_dblog(NULL,NULL)</a:t>
            </a:r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</a:rPr>
              <a:t>WHERE [Operation] IN</a:t>
            </a:r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</a:rPr>
              <a:t>( </a:t>
            </a:r>
            <a:r>
              <a:rPr lang="en-US" altLang="en-GB">
                <a:solidFill>
                  <a:srgbClr val="00B050"/>
                </a:solidFill>
              </a:rPr>
              <a:t>‘LOP_DELETE’, ‘LOP_INSERT’, ‘LOP_MODIFY_ROW’</a:t>
            </a:r>
            <a:r>
              <a:rPr lang="en-US" altLang="en-GB">
                <a:solidFill>
                  <a:schemeClr val="bg1"/>
                </a:solidFill>
              </a:rPr>
              <a:t>)</a:t>
            </a:r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</a:rPr>
              <a:t>ORDER BY [Current LSN] DESC</a:t>
            </a:r>
            <a:endParaRPr lang="en-US" altLang="en-GB">
              <a:solidFill>
                <a:schemeClr val="bg1"/>
              </a:solidFill>
            </a:endParaRPr>
          </a:p>
          <a:p>
            <a:endParaRPr lang="en-US" altLang="en-GB">
              <a:solidFill>
                <a:schemeClr val="bg1"/>
              </a:solidFill>
              <a:sym typeface="+mn-ea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6924675" y="246380"/>
            <a:ext cx="493077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>
                <a:solidFill>
                  <a:schemeClr val="bg1"/>
                </a:solidFill>
              </a:rPr>
              <a:t> RUN: INSERT 1 row      </a:t>
            </a:r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</a:rPr>
              <a:t> UPDATE it </a:t>
            </a:r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</a:rPr>
              <a:t> DELETE it.</a:t>
            </a:r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</a:rPr>
              <a:t> Then  run </a:t>
            </a:r>
            <a:r>
              <a:rPr lang="en-US" altLang="en-GB">
                <a:solidFill>
                  <a:srgbClr val="00B050"/>
                </a:solidFill>
              </a:rPr>
              <a:t>fn_dblog. </a:t>
            </a:r>
            <a:endParaRPr lang="en-US" altLang="en-GB">
              <a:solidFill>
                <a:srgbClr val="00B050"/>
              </a:solidFill>
            </a:endParaRPr>
          </a:p>
          <a:p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</a:rPr>
              <a:t>  you will see that the log saw everything.</a:t>
            </a:r>
            <a:endParaRPr lang="en-US" altLang="en-GB">
              <a:solidFill>
                <a:schemeClr val="bg1"/>
              </a:solidFill>
            </a:endParaRPr>
          </a:p>
        </p:txBody>
      </p:sp>
      <p:sp>
        <p:nvSpPr>
          <p:cNvPr id="19" name="Text Box 18"/>
          <p:cNvSpPr txBox="1"/>
          <p:nvPr/>
        </p:nvSpPr>
        <p:spPr>
          <a:xfrm>
            <a:off x="0" y="4277995"/>
            <a:ext cx="6389370" cy="22853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AutoNum type="arabicPeriod"/>
            </a:pPr>
            <a:r>
              <a:rPr lang="en-US" altLang="en-GB">
                <a:solidFill>
                  <a:schemeClr val="bg1"/>
                </a:solidFill>
              </a:rPr>
              <a:t>Table lie. Log testify</a:t>
            </a:r>
            <a:endParaRPr lang="en-US" altLang="en-GB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r>
              <a:rPr lang="en-US" altLang="en-GB">
                <a:solidFill>
                  <a:schemeClr val="bg1"/>
                </a:solidFill>
              </a:rPr>
              <a:t>DELETE is not deletion, it is relocation</a:t>
            </a:r>
            <a:endParaRPr lang="en-US" altLang="en-GB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r>
              <a:rPr lang="en-US" altLang="en-GB">
                <a:solidFill>
                  <a:schemeClr val="bg1"/>
                </a:solidFill>
              </a:rPr>
              <a:t>Every crime has three crime timestamps BEGIN time = planning.</a:t>
            </a:r>
            <a:endParaRPr lang="en-US" altLang="en-GB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r>
              <a:rPr lang="en-US" altLang="en-GB">
                <a:solidFill>
                  <a:schemeClr val="bg1"/>
                </a:solidFill>
              </a:rPr>
              <a:t> Operation time = execution. COMMIT time = intent. All 3 log.</a:t>
            </a:r>
            <a:endParaRPr lang="en-US" altLang="en-GB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r>
              <a:rPr lang="en-US" altLang="en-GB">
                <a:solidFill>
                  <a:schemeClr val="bg1"/>
                </a:solidFill>
              </a:rPr>
              <a:t>Bulk operation are attacker favorite</a:t>
            </a:r>
            <a:endParaRPr lang="en-US" altLang="en-GB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r>
              <a:rPr lang="en-US" altLang="en-GB">
                <a:solidFill>
                  <a:schemeClr val="bg1"/>
                </a:solidFill>
              </a:rPr>
              <a:t>COMMIT proves internt  in court</a:t>
            </a:r>
            <a:endParaRPr lang="en-US" altLang="en-GB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r>
              <a:rPr lang="en-US" altLang="en-GB">
                <a:solidFill>
                  <a:schemeClr val="bg1"/>
                </a:solidFill>
              </a:rPr>
              <a:t>Speed beats skill</a:t>
            </a:r>
            <a:endParaRPr lang="en-US" altLang="en-GB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r>
              <a:rPr lang="en-US" altLang="en-GB">
                <a:solidFill>
                  <a:schemeClr val="bg1"/>
                </a:solidFill>
              </a:rPr>
              <a:t>Absence of evidence is evidence</a:t>
            </a:r>
            <a:endParaRPr lang="en-US" altLang="en-GB">
              <a:solidFill>
                <a:schemeClr val="bg1"/>
              </a:solidFill>
            </a:endParaRPr>
          </a:p>
        </p:txBody>
      </p:sp>
      <p:sp>
        <p:nvSpPr>
          <p:cNvPr id="23" name="Text Box 22"/>
          <p:cNvSpPr txBox="1"/>
          <p:nvPr/>
        </p:nvSpPr>
        <p:spPr>
          <a:xfrm>
            <a:off x="135890" y="3909695"/>
            <a:ext cx="39281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b="1">
                <a:solidFill>
                  <a:schemeClr val="accent2"/>
                </a:solidFill>
              </a:rPr>
              <a:t>KEY TAKE AWAY</a:t>
            </a:r>
            <a:endParaRPr lang="en-US" altLang="en-GB" b="1">
              <a:solidFill>
                <a:schemeClr val="accent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9" name="Table 8"/>
          <p:cNvGraphicFramePr/>
          <p:nvPr>
            <p:custDataLst>
              <p:tags r:id="rId1"/>
            </p:custDataLst>
          </p:nvPr>
        </p:nvGraphicFramePr>
        <p:xfrm>
          <a:off x="287655" y="330835"/>
          <a:ext cx="11616055" cy="61956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5420"/>
                <a:gridCol w="3117215"/>
                <a:gridCol w="2563495"/>
                <a:gridCol w="2378710"/>
                <a:gridCol w="2101215"/>
              </a:tblGrid>
              <a:tr h="92646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chemeClr val="bg1"/>
                          </a:solidFill>
                        </a:rPr>
                        <a:t>COMMAND</a:t>
                      </a:r>
                      <a:endParaRPr lang="en-US" altLang="en-GB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chemeClr val="bg1"/>
                          </a:solidFill>
                        </a:rPr>
                        <a:t>SCOPE OF ACTION</a:t>
                      </a:r>
                      <a:endParaRPr lang="en-US" altLang="en-GB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chemeClr val="bg1"/>
                          </a:solidFill>
                        </a:rPr>
                        <a:t>LOG SIGNATURE/LOG FOOTPRINT</a:t>
                      </a:r>
                      <a:endParaRPr lang="en-US" altLang="en-GB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chemeClr val="bg1"/>
                          </a:solidFill>
                        </a:rPr>
                        <a:t>STEALTH LEVEL</a:t>
                      </a:r>
                      <a:endParaRPr lang="en-US" altLang="en-GB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chemeClr val="bg1"/>
                          </a:solidFill>
                        </a:rPr>
                        <a:t>FORENSIC DEFINITION</a:t>
                      </a:r>
                      <a:endParaRPr lang="en-US" altLang="en-GB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</a:tr>
              <a:tr h="9499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rgbClr val="FF0000"/>
                          </a:solidFill>
                        </a:rPr>
                        <a:t>UPDATE</a:t>
                      </a:r>
                      <a:endParaRPr lang="en-US" altLang="en-GB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chemeClr val="bg1"/>
                          </a:solidFill>
                        </a:rPr>
                        <a:t>Modifies specific values inside existing rows</a:t>
                      </a:r>
                      <a:endParaRPr lang="en-US" altLang="en-GB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chemeClr val="bg1"/>
                          </a:solidFill>
                        </a:rPr>
                        <a:t>LOP_MODIFY_ROW(Only captures the change, not the whole table)</a:t>
                      </a:r>
                      <a:endParaRPr lang="en-US" altLang="en-GB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rgbClr val="FF0000"/>
                          </a:solidFill>
                        </a:rPr>
                        <a:t>MAXIMUM </a:t>
                      </a:r>
                      <a:r>
                        <a:rPr lang="en-US" altLang="en-GB">
                          <a:solidFill>
                            <a:schemeClr val="bg1"/>
                          </a:solidFill>
                        </a:rPr>
                        <a:t>SILENT</a:t>
                      </a:r>
                      <a:endParaRPr lang="en-US" altLang="en-GB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chemeClr val="bg1"/>
                          </a:solidFill>
                        </a:rPr>
                        <a:t>HARDEST TO SPOT</a:t>
                      </a:r>
                      <a:endParaRPr lang="en-US" altLang="en-GB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</a:tr>
              <a:tr h="9144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chemeClr val="bg1"/>
                          </a:solidFill>
                        </a:rPr>
                        <a:t>DELETE</a:t>
                      </a:r>
                      <a:endParaRPr lang="en-US" altLang="en-GB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chemeClr val="bg1"/>
                          </a:solidFill>
                        </a:rPr>
                        <a:t>Removes specific rows row-by-row based on condition</a:t>
                      </a:r>
                      <a:endParaRPr lang="en-US" altLang="en-GB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chemeClr val="bg1"/>
                          </a:solidFill>
                        </a:rPr>
                        <a:t>LOP_DELETE_ROWS(Heavy footprint;logs every single deleted row</a:t>
                      </a:r>
                      <a:endParaRPr lang="en-US" altLang="en-GB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chemeClr val="bg1"/>
                          </a:solidFill>
                        </a:rPr>
                        <a:t>LOW TRACEABLE</a:t>
                      </a:r>
                      <a:endParaRPr lang="en-US" altLang="en-GB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chemeClr val="bg1"/>
                          </a:solidFill>
                        </a:rPr>
                        <a:t>STRAIGHT FORWARD</a:t>
                      </a:r>
                      <a:endParaRPr lang="en-US" altLang="en-GB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</a:tr>
              <a:tr h="9144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chemeClr val="accent4"/>
                          </a:solidFill>
                        </a:rPr>
                        <a:t>TRUNCATE</a:t>
                      </a:r>
                      <a:endParaRPr lang="en-US" altLang="en-GB">
                        <a:solidFill>
                          <a:schemeClr val="accent4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chemeClr val="bg1"/>
                          </a:solidFill>
                        </a:rPr>
                        <a:t>Empties the table by dropping it’s underlying data pages</a:t>
                      </a:r>
                      <a:endParaRPr lang="en-US" altLang="en-GB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chemeClr val="bg1"/>
                          </a:solidFill>
                        </a:rPr>
                        <a:t>LOP_MODIFY_HEADER(Light footprint;logs only page deallocation)</a:t>
                      </a:r>
                      <a:endParaRPr lang="en-US" altLang="en-GB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chemeClr val="accent4"/>
                          </a:solidFill>
                        </a:rPr>
                        <a:t>MEDIUM</a:t>
                      </a:r>
                      <a:r>
                        <a:rPr lang="en-US" altLang="en-GB">
                          <a:solidFill>
                            <a:schemeClr val="bg1"/>
                          </a:solidFill>
                        </a:rPr>
                        <a:t> LOUD</a:t>
                      </a:r>
                      <a:endParaRPr lang="en-US" altLang="en-GB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chemeClr val="bg1"/>
                          </a:solidFill>
                        </a:rPr>
                        <a:t>INTERMEDIATE</a:t>
                      </a:r>
                      <a:endParaRPr lang="en-US" altLang="en-GB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</a:tr>
              <a:tr h="249047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chemeClr val="bg1"/>
                          </a:solidFill>
                        </a:rPr>
                        <a:t>DROP</a:t>
                      </a:r>
                      <a:endParaRPr lang="en-US" altLang="en-GB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chemeClr val="bg1"/>
                          </a:solidFill>
                        </a:rPr>
                        <a:t>Obliterate the entire table object from the databasecschema</a:t>
                      </a:r>
                      <a:endParaRPr lang="en-US" altLang="en-GB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chemeClr val="bg1"/>
                          </a:solidFill>
                        </a:rPr>
                        <a:t>LOP_DROP_DROP_DROP(Logs the destruction of the tables definition)</a:t>
                      </a:r>
                      <a:endParaRPr lang="en-US" altLang="en-GB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chemeClr val="bg1"/>
                          </a:solidFill>
                        </a:rPr>
                        <a:t>LOW CATASTROPHIC</a:t>
                      </a:r>
                      <a:endParaRPr lang="en-US" altLang="en-GB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chemeClr val="bg1"/>
                          </a:solidFill>
                        </a:rPr>
                        <a:t>IMMEDIATE DETECTION due to application crashes. Require reconstructing system metadata first.</a:t>
                      </a:r>
                      <a:endParaRPr lang="en-US" altLang="en-GB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tags/tag1.xml><?xml version="1.0" encoding="utf-8"?>
<p:tagLst xmlns:p="http://schemas.openxmlformats.org/presentationml/2006/main">
  <p:tag name="KSO_WM_DIAGRAM_VIRTUALLY_FRAME" val="{&quot;height&quot;:263.409049190327,&quot;left&quot;:63.5508173542554,&quot;top&quot;:210.9822834645669,&quot;width&quot;:774.1265842205478}"/>
</p:tagLst>
</file>

<file path=ppt/tags/tag2.xml><?xml version="1.0" encoding="utf-8"?>
<p:tagLst xmlns:p="http://schemas.openxmlformats.org/presentationml/2006/main">
  <p:tag name="KSO_WM_DIAGRAM_VIRTUALLY_FRAME" val="{&quot;height&quot;:263.409049190327,&quot;left&quot;:63.5508173542554,&quot;top&quot;:210.9822834645669,&quot;width&quot;:774.1265842205478}"/>
</p:tagLst>
</file>

<file path=ppt/tags/tag3.xml><?xml version="1.0" encoding="utf-8"?>
<p:tagLst xmlns:p="http://schemas.openxmlformats.org/presentationml/2006/main">
  <p:tag name="KSO_WM_DIAGRAM_VIRTUALLY_FRAME" val="{&quot;height&quot;:263.409049190327,&quot;left&quot;:63.5508173542554,&quot;top&quot;:210.9822834645669,&quot;width&quot;:774.1265842205478}"/>
</p:tagLst>
</file>

<file path=ppt/tags/tag4.xml><?xml version="1.0" encoding="utf-8"?>
<p:tagLst xmlns:p="http://schemas.openxmlformats.org/presentationml/2006/main">
  <p:tag name="TABLE_ENDDRAG_ORIGIN_RECT" val="510*195"/>
  <p:tag name="TABLE_ENDDRAG_RECT" val="91*266*510*195"/>
</p:tagLst>
</file>

<file path=ppt/tags/tag5.xml><?xml version="1.0" encoding="utf-8"?>
<p:tagLst xmlns:p="http://schemas.openxmlformats.org/presentationml/2006/main">
  <p:tag name="TABLE_ENDDRAG_ORIGIN_RECT" val="671*221"/>
  <p:tag name="TABLE_ENDDRAG_RECT" val="107*309*671*221"/>
</p:tagLst>
</file>

<file path=ppt/tags/tag6.xml><?xml version="1.0" encoding="utf-8"?>
<p:tagLst xmlns:p="http://schemas.openxmlformats.org/presentationml/2006/main">
  <p:tag name="TABLE_ENDDRAG_ORIGIN_RECT" val="914*475"/>
  <p:tag name="TABLE_ENDDRAG_RECT" val="22*14*914*476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Arial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Arial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Arial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Arial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Arial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Arial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6107</Words>
  <Application>WPS Presentation</Application>
  <PresentationFormat>宽屏</PresentationFormat>
  <Paragraphs>293</Paragraphs>
  <Slides>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6" baseType="lpstr">
      <vt:lpstr>Arial</vt:lpstr>
      <vt:lpstr>SimSun</vt:lpstr>
      <vt:lpstr>Wingdings</vt:lpstr>
      <vt:lpstr>Wingdings</vt:lpstr>
      <vt:lpstr>Calibri</vt:lpstr>
      <vt:lpstr>Microsoft YaHei</vt:lpstr>
      <vt:lpstr>Arial Unicode MS</vt:lpstr>
      <vt:lpstr>Calibri Light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PC</dc:creator>
  <cp:lastModifiedBy>unjuehevo</cp:lastModifiedBy>
  <cp:revision>146</cp:revision>
  <dcterms:created xsi:type="dcterms:W3CDTF">2015-12-25T06:51:00Z</dcterms:created>
  <dcterms:modified xsi:type="dcterms:W3CDTF">2026-06-01T16:49:19Z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2057-12.2.0.23202</vt:lpwstr>
  </property>
  <property fmtid="{D5CDD505-2E9C-101B-9397-08002B2CF9AE}" pid="3" name="ICV">
    <vt:lpwstr>5B29C696CDEA4114AC0F45815DDD9A44_13</vt:lpwstr>
  </property>
</Properties>
</file>
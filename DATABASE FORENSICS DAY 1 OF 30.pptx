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88" r:id="rId3"/>
    <p:sldId id="274" r:id="rId5"/>
    <p:sldId id="262" r:id="rId6"/>
    <p:sldId id="287" r:id="rId7"/>
    <p:sldId id="27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360CCF"/>
    <a:srgbClr val="BA3649"/>
    <a:srgbClr val="B6B6B5"/>
    <a:srgbClr val="808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CA5C2E7-9D8F-47E6-AD76-B5B08028EF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3AE85B77-8AE0-464C-9A26-6A01A479EB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A079F21-3BE8-4E0A-A2CF-C18BDEAD91D7}" type="datetime1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0336DA7-0B35-4766-B3FA-87CC82BF78CC}" type="slidenum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.jpe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286000" y="379095"/>
            <a:ext cx="7620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en-US" altLang="zh-CN" sz="4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Database Forensics</a:t>
            </a:r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altLang="zh-CN" sz="38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10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How Data Solves Crimes in Large Organizations</a:t>
            </a:r>
            <a:endParaRPr lang="en-US" altLang="zh-CN" sz="24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48435" y="2380615"/>
            <a:ext cx="9443085" cy="888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 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5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 slide guide to investigating data 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at scale with SQL and audit logs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344285" y="505904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Day 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1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of 30 | June 2026 </a:t>
            </a:r>
            <a:endParaRPr lang="en-US" altLang="zh-CN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97790" y="5017135"/>
            <a:ext cx="3946525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EVODIA UNJUEH AKU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unjuehevo@gmail.com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21" name="Picture 20" descr="WhatsApp Image 2026-05-26 at 9.15.32 AM"/>
          <p:cNvPicPr>
            <a:picLocks noChangeAspect="1"/>
          </p:cNvPicPr>
          <p:nvPr/>
        </p:nvPicPr>
        <p:blipFill>
          <a:blip r:embed="rId1"/>
          <a:srcRect l="18064" t="13385" r="17739" b="15487"/>
          <a:stretch>
            <a:fillRect/>
          </a:stretch>
        </p:blipFill>
        <p:spPr>
          <a:xfrm>
            <a:off x="11438255" y="5977255"/>
            <a:ext cx="753745" cy="880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62"/>
          <p:cNvGrpSpPr/>
          <p:nvPr>
            <p:custDataLst>
              <p:tags r:id="rId1"/>
            </p:custDataLst>
          </p:nvPr>
        </p:nvGrpSpPr>
        <p:grpSpPr bwMode="auto">
          <a:xfrm>
            <a:off x="738183" y="2694249"/>
            <a:ext cx="3913505" cy="1560196"/>
            <a:chOff x="-349700" y="1138886"/>
            <a:chExt cx="3713777" cy="1171252"/>
          </a:xfrm>
        </p:grpSpPr>
        <p:sp>
          <p:nvSpPr>
            <p:cNvPr id="17" name="TextBox 1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-349700" y="1447311"/>
              <a:ext cx="3713777" cy="8628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Organized collection </a:t>
              </a: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of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data</a:t>
              </a: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that’s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stored</a:t>
              </a: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and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managed</a:t>
              </a: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so you can quickly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find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,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update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and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analyze</a:t>
              </a: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it.</a:t>
              </a:r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8" name="矩形 6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18575" y="1138886"/>
              <a:ext cx="2535709" cy="2607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Database</a:t>
              </a:r>
              <a:endParaRPr lang="en-US" altLang="zh-CN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22" name="组合 62"/>
          <p:cNvGrpSpPr/>
          <p:nvPr>
            <p:custDataLst>
              <p:tags r:id="rId4"/>
            </p:custDataLst>
          </p:nvPr>
        </p:nvGrpSpPr>
        <p:grpSpPr bwMode="auto">
          <a:xfrm>
            <a:off x="6211283" y="2693445"/>
            <a:ext cx="4617085" cy="1461770"/>
            <a:chOff x="-129151" y="1202287"/>
            <a:chExt cx="4381450" cy="1097363"/>
          </a:xfrm>
        </p:grpSpPr>
        <p:sp>
          <p:nvSpPr>
            <p:cNvPr id="23" name="TextBox 1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-129151" y="1514525"/>
              <a:ext cx="4381450" cy="7851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Process of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collecting</a:t>
              </a: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and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analyzing</a:t>
              </a: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evidence to figure out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what happened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,</a:t>
              </a:r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usually after something went wrong.</a:t>
              </a:r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endParaRPr lang="en-US" altLang="zh-CN" sz="1865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r>
                <a:rPr lang="en-US" altLang="zh-CN" sz="1865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</a:t>
              </a:r>
              <a:endParaRPr lang="en-US" altLang="zh-CN" sz="1865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4" name="矩形 6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57158" y="1202287"/>
              <a:ext cx="2535709" cy="2764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Forensics</a:t>
              </a:r>
              <a:endPara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28" name="组合 62"/>
          <p:cNvGrpSpPr/>
          <p:nvPr>
            <p:custDataLst>
              <p:tags r:id="rId7"/>
            </p:custDataLst>
          </p:nvPr>
        </p:nvGrpSpPr>
        <p:grpSpPr bwMode="auto">
          <a:xfrm>
            <a:off x="641996" y="4155655"/>
            <a:ext cx="4175125" cy="1560194"/>
            <a:chOff x="-559401" y="1115528"/>
            <a:chExt cx="3962046" cy="1171251"/>
          </a:xfrm>
        </p:grpSpPr>
        <p:sp>
          <p:nvSpPr>
            <p:cNvPr id="29" name="TextBox 1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-559401" y="1478773"/>
              <a:ext cx="3962046" cy="8080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zh-CN" sz="1600" b="1" dirty="0">
                  <a:solidFill>
                    <a:srgbClr val="FFC0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The money is gone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and 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The money left at 2:14 AM from user ID 4832 on IP 192.168.1.5. </a:t>
              </a:r>
              <a:endPara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0" name="矩形 6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-311133" y="1115528"/>
              <a:ext cx="3556501" cy="2764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It’s the difference between</a:t>
              </a:r>
              <a:endPara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34" name="组合 62"/>
          <p:cNvGrpSpPr/>
          <p:nvPr>
            <p:custDataLst>
              <p:tags r:id="rId10"/>
            </p:custDataLst>
          </p:nvPr>
        </p:nvGrpSpPr>
        <p:grpSpPr bwMode="auto">
          <a:xfrm>
            <a:off x="6317615" y="4254500"/>
            <a:ext cx="4175125" cy="1262636"/>
            <a:chOff x="-30928" y="1162244"/>
            <a:chExt cx="3962046" cy="1028051"/>
          </a:xfrm>
        </p:grpSpPr>
        <p:sp>
          <p:nvSpPr>
            <p:cNvPr id="35" name="TextBox 1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-30928" y="1514546"/>
              <a:ext cx="3962046" cy="6757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Digging through a database logs and records to answer:</a:t>
              </a:r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Who did what, when and how? </a:t>
              </a:r>
              <a:endPara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6" name="矩形 6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90947" y="1162244"/>
              <a:ext cx="2535710" cy="3417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Database forensics</a:t>
              </a:r>
              <a:endPara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358265" y="230505"/>
            <a:ext cx="9576435" cy="62420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en-US" altLang="en-GB" sz="4000" b="1">
                <a:solidFill>
                  <a:schemeClr val="bg1"/>
                </a:solidFill>
              </a:rPr>
              <a:t>DATABASE  FORENSICS </a:t>
            </a:r>
            <a:r>
              <a:rPr lang="en-US" altLang="en-GB" sz="4000" b="1">
                <a:solidFill>
                  <a:srgbClr val="FF0000"/>
                </a:solidFill>
              </a:rPr>
              <a:t>=</a:t>
            </a:r>
            <a:r>
              <a:rPr lang="en-US" altLang="en-GB" sz="4000" b="1">
                <a:solidFill>
                  <a:schemeClr val="bg1"/>
                </a:solidFill>
              </a:rPr>
              <a:t> DIGITAL EVIDENCE</a:t>
            </a:r>
            <a:endParaRPr lang="en-US" altLang="en-GB" sz="40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6205" y="1506220"/>
            <a:ext cx="11830685" cy="956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200" b="1">
                <a:solidFill>
                  <a:schemeClr val="bg1"/>
                </a:solidFill>
              </a:rPr>
              <a:t>Collecting</a:t>
            </a:r>
            <a:r>
              <a:rPr lang="en-US" altLang="en-GB" sz="2200">
                <a:solidFill>
                  <a:schemeClr val="bg1"/>
                </a:solidFill>
              </a:rPr>
              <a:t>, </a:t>
            </a:r>
            <a:r>
              <a:rPr lang="en-US" altLang="en-GB" sz="2200" b="1">
                <a:solidFill>
                  <a:schemeClr val="bg1"/>
                </a:solidFill>
              </a:rPr>
              <a:t>analysing </a:t>
            </a:r>
            <a:r>
              <a:rPr lang="en-US" altLang="en-GB" sz="2200">
                <a:solidFill>
                  <a:schemeClr val="bg1"/>
                </a:solidFill>
              </a:rPr>
              <a:t> and </a:t>
            </a:r>
            <a:r>
              <a:rPr lang="en-US" altLang="en-GB" sz="2200" b="1">
                <a:solidFill>
                  <a:schemeClr val="bg1"/>
                </a:solidFill>
              </a:rPr>
              <a:t>reconstucting </a:t>
            </a:r>
            <a:r>
              <a:rPr lang="en-US" altLang="en-GB" sz="2200">
                <a:solidFill>
                  <a:schemeClr val="bg1"/>
                </a:solidFill>
              </a:rPr>
              <a:t>data from databases to investigate</a:t>
            </a:r>
            <a:r>
              <a:rPr lang="en-US" altLang="en-GB" sz="2200">
                <a:solidFill>
                  <a:srgbClr val="FF0000"/>
                </a:solidFill>
              </a:rPr>
              <a:t> </a:t>
            </a:r>
            <a:r>
              <a:rPr lang="en-US" altLang="en-GB" sz="2200" b="1">
                <a:solidFill>
                  <a:srgbClr val="FF0000"/>
                </a:solidFill>
              </a:rPr>
              <a:t>fraud</a:t>
            </a:r>
            <a:r>
              <a:rPr lang="en-US" altLang="en-GB" sz="2200" b="1">
                <a:solidFill>
                  <a:schemeClr val="bg1"/>
                </a:solidFill>
              </a:rPr>
              <a:t>, </a:t>
            </a:r>
            <a:r>
              <a:rPr lang="en-US" altLang="en-GB" sz="2200" b="1">
                <a:solidFill>
                  <a:srgbClr val="FF0000"/>
                </a:solidFill>
              </a:rPr>
              <a:t>breaches</a:t>
            </a:r>
            <a:r>
              <a:rPr lang="en-US" altLang="en-GB" sz="2200">
                <a:solidFill>
                  <a:schemeClr val="bg1"/>
                </a:solidFill>
              </a:rPr>
              <a:t> and </a:t>
            </a:r>
            <a:r>
              <a:rPr lang="en-US" altLang="en-GB" sz="2200" b="1">
                <a:solidFill>
                  <a:srgbClr val="FF0000"/>
                </a:solidFill>
              </a:rPr>
              <a:t>anomalies</a:t>
            </a:r>
            <a:r>
              <a:rPr lang="en-US" altLang="en-GB" sz="2200">
                <a:solidFill>
                  <a:srgbClr val="FF0000"/>
                </a:solidFill>
              </a:rPr>
              <a:t> </a:t>
            </a:r>
            <a:r>
              <a:rPr lang="en-US" altLang="en-GB" sz="2200">
                <a:solidFill>
                  <a:schemeClr val="bg1"/>
                </a:solidFill>
              </a:rPr>
              <a:t>in large organizations. </a:t>
            </a:r>
            <a:endParaRPr lang="en-US" altLang="en-GB" sz="2200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496695" y="6100445"/>
            <a:ext cx="8265160" cy="568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800" b="1">
                <a:solidFill>
                  <a:schemeClr val="bg1"/>
                </a:solidFill>
              </a:rPr>
              <a:t>SQL </a:t>
            </a:r>
            <a:r>
              <a:rPr lang="en-US" altLang="en-GB" sz="2800" b="1">
                <a:solidFill>
                  <a:srgbClr val="FF0000"/>
                </a:solidFill>
              </a:rPr>
              <a:t>+</a:t>
            </a:r>
            <a:r>
              <a:rPr lang="en-US" altLang="en-GB" sz="2800" b="1">
                <a:solidFill>
                  <a:schemeClr val="bg1"/>
                </a:solidFill>
              </a:rPr>
              <a:t> Audit Logs  </a:t>
            </a:r>
            <a:r>
              <a:rPr lang="en-US" altLang="en-GB" sz="2800" b="1">
                <a:solidFill>
                  <a:srgbClr val="FF0000"/>
                </a:solidFill>
              </a:rPr>
              <a:t>+</a:t>
            </a:r>
            <a:r>
              <a:rPr lang="en-US" altLang="en-GB" sz="2800" b="1">
                <a:solidFill>
                  <a:schemeClr val="bg1"/>
                </a:solidFill>
              </a:rPr>
              <a:t>  Timestamps</a:t>
            </a:r>
            <a:r>
              <a:rPr lang="en-US" altLang="en-GB" sz="2800" b="1">
                <a:solidFill>
                  <a:srgbClr val="FF0000"/>
                </a:solidFill>
              </a:rPr>
              <a:t> =</a:t>
            </a:r>
            <a:r>
              <a:rPr lang="en-US" altLang="en-GB" sz="2800" b="1">
                <a:solidFill>
                  <a:schemeClr val="bg1"/>
                </a:solidFill>
              </a:rPr>
              <a:t> The Truth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pic>
        <p:nvPicPr>
          <p:cNvPr id="8" name="Picture 7" descr="WhatsApp Image 2026-05-26 at 9.15.32 AM"/>
          <p:cNvPicPr>
            <a:picLocks noChangeAspect="1"/>
          </p:cNvPicPr>
          <p:nvPr/>
        </p:nvPicPr>
        <p:blipFill>
          <a:blip r:embed="rId13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9" name="Picture 8" descr="WhatsApp Image 2026-05-26 at 9.15.32 AM"/>
          <p:cNvPicPr>
            <a:picLocks noChangeAspect="1"/>
          </p:cNvPicPr>
          <p:nvPr/>
        </p:nvPicPr>
        <p:blipFill>
          <a:blip r:embed="rId13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flipH="1">
            <a:off x="5591175" y="2696210"/>
            <a:ext cx="31750" cy="303466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16205" y="2409825"/>
            <a:ext cx="11809730" cy="209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732155" y="612140"/>
            <a:ext cx="10631170" cy="548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3800" b="1">
                <a:solidFill>
                  <a:schemeClr val="bg1"/>
                </a:solidFill>
              </a:rPr>
              <a:t>WHY LARGE ORGANIZATIONS CAN’T IGNORE THIS</a:t>
            </a:r>
            <a:endParaRPr lang="en-US" altLang="en-GB" sz="3800" b="1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63325" y="5998845"/>
            <a:ext cx="807085" cy="8591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24815" y="1586230"/>
            <a:ext cx="4667885" cy="2232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en-GB" sz="2000" b="1">
                <a:solidFill>
                  <a:srgbClr val="FF0000"/>
                </a:solidFill>
              </a:rPr>
              <a:t>1. </a:t>
            </a:r>
            <a:r>
              <a:rPr lang="en-US" altLang="en-GB" sz="2000" b="1">
                <a:solidFill>
                  <a:schemeClr val="bg1"/>
                </a:solidFill>
              </a:rPr>
              <a:t>Scale = Complexity</a:t>
            </a:r>
            <a:endParaRPr lang="en-US" altLang="en-GB" sz="2000" b="1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Millions of transactions daily.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Manual checks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FF0000"/>
                </a:solidFill>
              </a:rPr>
              <a:t>don’t work. </a:t>
            </a:r>
            <a:endParaRPr lang="en-US" altLang="en-GB">
              <a:solidFill>
                <a:srgbClr val="FF00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Forensics uses SQL to find needles in haystacks.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416165" y="1756410"/>
            <a:ext cx="4510405" cy="2683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en-GB" sz="2000" b="1">
                <a:solidFill>
                  <a:srgbClr val="FF0000"/>
                </a:solidFill>
              </a:rPr>
              <a:t>2.</a:t>
            </a:r>
            <a:r>
              <a:rPr lang="en-US" altLang="en-GB" sz="2000" b="1">
                <a:solidFill>
                  <a:schemeClr val="bg1"/>
                </a:solidFill>
              </a:rPr>
              <a:t> Compliance and Legal Risk</a:t>
            </a:r>
            <a:endParaRPr lang="en-US" altLang="en-GB" sz="2000" b="1">
              <a:solidFill>
                <a:schemeClr val="bg1"/>
              </a:solidFill>
            </a:endParaRPr>
          </a:p>
          <a:p>
            <a:endParaRPr lang="en-US" altLang="en-GB">
              <a:solidFill>
                <a:srgbClr val="FFC000"/>
              </a:solidFill>
            </a:endParaRPr>
          </a:p>
          <a:p>
            <a:r>
              <a:rPr lang="en-US" altLang="en-GB">
                <a:solidFill>
                  <a:srgbClr val="FF0000"/>
                </a:solidFill>
              </a:rPr>
              <a:t>GDPR, SOX, PCI. </a:t>
            </a:r>
            <a:endParaRPr lang="en-US" altLang="en-GB">
              <a:solidFill>
                <a:srgbClr val="FF00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Auditors demand proof. Database logs are the evidence trail.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24815" y="4020820"/>
            <a:ext cx="6981190" cy="187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algn="l"/>
            <a:r>
              <a:rPr lang="en-US" altLang="en-GB" sz="2000" b="1">
                <a:solidFill>
                  <a:srgbClr val="FF0000"/>
                </a:solidFill>
              </a:rPr>
              <a:t>3.</a:t>
            </a:r>
            <a:r>
              <a:rPr lang="en-US" altLang="en-GB" sz="2000" b="1">
                <a:solidFill>
                  <a:schemeClr val="bg1"/>
                </a:solidFill>
              </a:rPr>
              <a:t> Fraud Hides in the Data</a:t>
            </a:r>
            <a:endParaRPr lang="en-US" altLang="en-GB" sz="2000" b="1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FF0000"/>
                </a:solidFill>
              </a:rPr>
              <a:t>70</a:t>
            </a:r>
            <a:r>
              <a:rPr lang="en-US" altLang="en-GB">
                <a:solidFill>
                  <a:schemeClr val="bg1"/>
                </a:solidFill>
              </a:rPr>
              <a:t>%+ of internal fraud shows up in db logs first.</a:t>
            </a:r>
            <a:endParaRPr lang="en-US" altLang="en-GB">
              <a:solidFill>
                <a:schemeClr val="bg1"/>
              </a:solidFill>
            </a:endParaRPr>
          </a:p>
          <a:p>
            <a:pPr algn="l"/>
            <a:r>
              <a:rPr lang="en-US" altLang="en-GB">
                <a:solidFill>
                  <a:schemeClr val="bg1"/>
                </a:solidFill>
              </a:rPr>
              <a:t>Forensics catches it before it becomes a </a:t>
            </a:r>
            <a:r>
              <a:rPr lang="en-US" altLang="en-GB">
                <a:solidFill>
                  <a:srgbClr val="FF0000"/>
                </a:solidFill>
              </a:rPr>
              <a:t>headline.</a:t>
            </a:r>
            <a:endParaRPr lang="en-US" altLang="en-GB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200150" y="317500"/>
            <a:ext cx="9791700" cy="7067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altLang="en-GB" sz="4000" b="1">
                <a:solidFill>
                  <a:schemeClr val="bg1"/>
                </a:solidFill>
              </a:rPr>
              <a:t>THE FORENSIC TOOLKIT</a:t>
            </a:r>
            <a:endParaRPr lang="en-US" altLang="en-GB" sz="4000" b="1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64000" y="1602105"/>
            <a:ext cx="4064000" cy="1421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bg1"/>
                </a:solidFill>
              </a:rPr>
              <a:t>DATA SOURCES: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Transaction logs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Audit trails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Backups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064000" y="335216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TOOLS: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SQL and Python/Pandas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SQL Server Profiler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PgAudit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063365" y="4922520"/>
            <a:ext cx="69284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METHOD: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Time-Based Analysis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Anomaly Detection</a:t>
            </a:r>
            <a:r>
              <a:rPr lang="en-US" altLang="en-GB">
                <a:solidFill>
                  <a:srgbClr val="FF0000"/>
                </a:solidFill>
              </a:rPr>
              <a:t> </a:t>
            </a:r>
            <a:endParaRPr lang="en-US" altLang="en-GB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Evidence Reconstruction </a:t>
            </a:r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14" name="Picture 13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026920" y="419735"/>
            <a:ext cx="84886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solidFill>
                  <a:schemeClr val="bg1"/>
                </a:solidFill>
              </a:rPr>
              <a:t>TERMS CHEAT SHEET</a:t>
            </a:r>
            <a:endParaRPr lang="en-US" altLang="en-GB" sz="4000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209040" y="2606040"/>
            <a:ext cx="88703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FFFF00"/>
                </a:solidFill>
              </a:rPr>
              <a:t>Audit Trail: </a:t>
            </a:r>
            <a:r>
              <a:rPr lang="en-US" altLang="en-GB">
                <a:solidFill>
                  <a:schemeClr val="bg1"/>
                </a:solidFill>
              </a:rPr>
              <a:t>Timestamped record of Who Changed What</a:t>
            </a:r>
            <a:endParaRPr lang="en-US" altLang="en-GB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FFFF00"/>
                </a:solidFill>
              </a:rPr>
              <a:t>Anomaly Detection</a:t>
            </a:r>
            <a:r>
              <a:rPr lang="en-US" altLang="en-GB">
                <a:solidFill>
                  <a:schemeClr val="bg1"/>
                </a:solidFill>
              </a:rPr>
              <a:t>: Spotting unusual patterns in data</a:t>
            </a:r>
            <a:endParaRPr lang="en-US" altLang="en-GB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FFFF00"/>
                </a:solidFill>
              </a:rPr>
              <a:t>SOX: </a:t>
            </a:r>
            <a:r>
              <a:rPr lang="en-US" altLang="en-GB">
                <a:solidFill>
                  <a:schemeClr val="bg1"/>
                </a:solidFill>
              </a:rPr>
              <a:t>US law requiring clean financial records</a:t>
            </a:r>
            <a:endParaRPr lang="en-US" altLang="en-GB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FFFF00"/>
                </a:solidFill>
              </a:rPr>
              <a:t>GDPR</a:t>
            </a:r>
            <a:r>
              <a:rPr lang="en-US" altLang="en-GB">
                <a:solidFill>
                  <a:schemeClr val="bg1"/>
                </a:solidFill>
              </a:rPr>
              <a:t>: EU law requiring data privacy and audit trails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64000" y="6308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>
                <a:solidFill>
                  <a:schemeClr val="bg1"/>
                </a:solidFill>
              </a:rPr>
              <a:t>EXPLORE THE FULL REPO ON GITHUB</a:t>
            </a:r>
            <a:r>
              <a:rPr lang="en-US" altLang="en-GB"/>
              <a:t>.</a:t>
            </a:r>
            <a:endParaRPr lang="en-US" altLang="en-GB"/>
          </a:p>
        </p:txBody>
      </p:sp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6" name="Picture 5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2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3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4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5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6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7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8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9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10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11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12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</Words>
  <Application>WPS Presentation</Application>
  <PresentationFormat>宽屏</PresentationFormat>
  <Paragraphs>101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unjuehevo</cp:lastModifiedBy>
  <cp:revision>116</cp:revision>
  <dcterms:created xsi:type="dcterms:W3CDTF">2015-12-25T06:51:00Z</dcterms:created>
  <dcterms:modified xsi:type="dcterms:W3CDTF">2026-05-27T10:05:28Z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2057-12.2.0.23202</vt:lpwstr>
  </property>
  <property fmtid="{D5CDD505-2E9C-101B-9397-08002B2CF9AE}" pid="3" name="ICV">
    <vt:lpwstr>92E1C9727AF64B869C7E39D523B60068_13</vt:lpwstr>
  </property>
</Properties>
</file>
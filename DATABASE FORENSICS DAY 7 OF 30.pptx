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288" r:id="rId3"/>
    <p:sldId id="274" r:id="rId5"/>
    <p:sldId id="262" r:id="rId6"/>
    <p:sldId id="287" r:id="rId7"/>
    <p:sldId id="27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360CCF"/>
    <a:srgbClr val="BA3649"/>
    <a:srgbClr val="B6B6B5"/>
    <a:srgbClr val="8080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DCA5C2E7-9D8F-47E6-AD76-B5B08028EF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fld id="{3AE85B77-8AE0-464C-9A26-6A01A479EB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  <a:sym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5A079F21-3BE8-4E0A-A2CF-C18BDEAD91D7}" type="datetime1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zh-CN"/>
              <a:t> </a:t>
            </a: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fld id="{70336DA7-0B35-4766-B3FA-87CC82BF78CC}" type="slidenum">
              <a:rPr lang="zh-CN" altLang="en-US"/>
            </a:fld>
            <a:endParaRPr lang="zh-CN" altLang="en-US" sz="1865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C135374B-67E0-43BB-AAEC-D34305E258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292586E4-5CDA-4957-9A81-9500A0862C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.jpe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286000" y="379095"/>
            <a:ext cx="7620000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    </a:t>
            </a:r>
            <a:r>
              <a:rPr lang="en-US" altLang="zh-CN" sz="4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Database Forensics</a:t>
            </a:r>
            <a:r>
              <a:rPr lang="en-US" altLang="zh-CN" sz="38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altLang="zh-CN" sz="38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10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altLang="zh-CN" sz="2400" dirty="0">
                <a:solidFill>
                  <a:schemeClr val="bg1"/>
                </a:solidFill>
                <a:effectLst>
                  <a:outerShdw blurRad="60007" dist="310007" dir="7680000" sy="30000" kx="1300200" algn="ctr" rotWithShape="0">
                    <a:schemeClr val="bg1">
                      <a:alpha val="32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How Data Solves Crimes in Large Organizations</a:t>
            </a:r>
            <a:endParaRPr lang="en-US" altLang="zh-CN" sz="2400" dirty="0">
              <a:solidFill>
                <a:schemeClr val="bg1"/>
              </a:solidFill>
              <a:effectLst>
                <a:outerShdw blurRad="60007" dist="310007" dir="7680000" sy="30000" kx="1300200" algn="ctr" rotWithShape="0">
                  <a:schemeClr val="bg1">
                    <a:alpha val="32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48435" y="2380615"/>
            <a:ext cx="9443085" cy="888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5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- slide guide to investigating data 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at scale with SQL and audit logs</a:t>
            </a:r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zh-CN" sz="2200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6344285" y="5059045"/>
            <a:ext cx="40640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Day </a:t>
            </a:r>
            <a:r>
              <a:rPr lang="en-US" altLang="zh-CN" sz="2200" b="1" dirty="0" smtClean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7 </a:t>
            </a:r>
            <a:r>
              <a:rPr lang="en-US" altLang="zh-CN" sz="2200" b="1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of 30 | June 2026 </a:t>
            </a:r>
            <a:endParaRPr lang="en-US" altLang="zh-CN" b="1" dirty="0" smtClean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GB" altLang="en-US"/>
          </a:p>
        </p:txBody>
      </p:sp>
      <p:sp>
        <p:nvSpPr>
          <p:cNvPr id="16" name="Text Box 15"/>
          <p:cNvSpPr txBox="1"/>
          <p:nvPr/>
        </p:nvSpPr>
        <p:spPr>
          <a:xfrm>
            <a:off x="97790" y="5017135"/>
            <a:ext cx="3946525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EVODIA UNJUEH AKU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sym typeface="+mn-ea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sym typeface="+mn-ea"/>
              </a:rPr>
              <a:t>unjuehevo@gmail.com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21" name="Picture 20" descr="WhatsApp Image 2026-05-26 at 9.15.32 AM"/>
          <p:cNvPicPr>
            <a:picLocks noChangeAspect="1"/>
          </p:cNvPicPr>
          <p:nvPr/>
        </p:nvPicPr>
        <p:blipFill>
          <a:blip r:embed="rId1"/>
          <a:srcRect l="18064" t="13385" r="17739" b="15487"/>
          <a:stretch>
            <a:fillRect/>
          </a:stretch>
        </p:blipFill>
        <p:spPr>
          <a:xfrm>
            <a:off x="11438255" y="5977255"/>
            <a:ext cx="753745" cy="880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62"/>
          <p:cNvGrpSpPr/>
          <p:nvPr>
            <p:custDataLst>
              <p:tags r:id="rId1"/>
            </p:custDataLst>
          </p:nvPr>
        </p:nvGrpSpPr>
        <p:grpSpPr bwMode="auto">
          <a:xfrm>
            <a:off x="116840" y="2089785"/>
            <a:ext cx="5405755" cy="3707765"/>
            <a:chOff x="-349264" y="1138886"/>
            <a:chExt cx="3713777" cy="2011916"/>
          </a:xfrm>
        </p:grpSpPr>
        <p:sp>
          <p:nvSpPr>
            <p:cNvPr id="17" name="TextBox 19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-349264" y="1362853"/>
              <a:ext cx="3713777" cy="178794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600">
                  <a:solidFill>
                    <a:schemeClr val="bg1"/>
                  </a:solidFill>
                  <a:sym typeface="+mn-ea"/>
                </a:rPr>
                <a:t>Uses only </a:t>
              </a:r>
              <a:r>
                <a:rPr lang="en-US" altLang="en-GB" sz="1600" b="1">
                  <a:solidFill>
                    <a:srgbClr val="FF0000"/>
                  </a:solidFill>
                  <a:sym typeface="+mn-ea"/>
                </a:rPr>
                <a:t>0</a:t>
              </a:r>
              <a:r>
                <a:rPr lang="en-US" altLang="en-GB" sz="1600">
                  <a:solidFill>
                    <a:schemeClr val="bg1"/>
                  </a:solidFill>
                  <a:sym typeface="+mn-ea"/>
                </a:rPr>
                <a:t> and </a:t>
              </a:r>
              <a:r>
                <a:rPr lang="en-US" altLang="en-GB" sz="1600" b="1">
                  <a:solidFill>
                    <a:srgbClr val="FF0000"/>
                  </a:solidFill>
                  <a:sym typeface="+mn-ea"/>
                </a:rPr>
                <a:t>1</a:t>
              </a:r>
              <a:endParaRPr lang="en-US" altLang="en-GB" sz="1600" b="1">
                <a:solidFill>
                  <a:srgbClr val="FF0000"/>
                </a:solidFill>
                <a:sym typeface="+mn-ea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Represents only positive values (including zero)</a:t>
              </a:r>
              <a:endPara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Has </a:t>
              </a:r>
              <a:r>
                <a:rPr lang="en-US" altLang="en-GB" sz="1600" dirty="0">
                  <a:solidFill>
                    <a:srgbClr val="FFFF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no </a:t>
              </a:r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sign bit</a:t>
              </a:r>
              <a:endPara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All bits are used for the value</a:t>
              </a:r>
              <a:endPara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endPara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o"/>
              </a:pPr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Think of it like: “</a:t>
              </a:r>
              <a:r>
                <a:rPr lang="en-US" altLang="en-GB" sz="1600" dirty="0">
                  <a:solidFill>
                    <a:srgbClr val="FFFF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no negatives allowed</a:t>
              </a:r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”</a:t>
              </a:r>
              <a:endPara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indent="0">
                <a:buFont typeface="Wingdings" panose="05000000000000000000" charset="0"/>
                <a:buNone/>
              </a:pPr>
              <a:r>
                <a:rPr lang="en-US" altLang="en-GB" sz="16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Uses </a:t>
              </a:r>
              <a:endParaRPr lang="en-US" altLang="en-GB" sz="16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Unsigned tells us how to INTERPRET the same 0s and 1s as a number.</a:t>
              </a: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Unsigned = meaning of that data.</a:t>
              </a: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To represent only positive numbers </a:t>
              </a:r>
              <a:r>
                <a:rPr lang="en-US" altLang="en-GB" sz="14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en-GB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age, count memory address, pixel values (0–255)</a:t>
              </a:r>
              <a:r>
                <a:rPr lang="en-US" altLang="en-GB" sz="1400" b="1" dirty="0">
                  <a:solidFill>
                    <a:srgbClr val="FF0000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)</a:t>
              </a:r>
              <a:endParaRPr lang="en-US" altLang="en-GB" sz="1400" b="1" dirty="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To get a larger positive range</a:t>
              </a: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Wingdings" panose="05000000000000000000" charset="0"/>
                <a:buChar char="q"/>
              </a:pPr>
              <a:r>
                <a:rPr lang="en-US" altLang="en-GB" sz="14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To avoid confusion in calculations</a:t>
              </a: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indent="0">
                <a:buFont typeface="Wingdings" panose="05000000000000000000" charset="0"/>
                <a:buNone/>
              </a:pP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indent="0">
                <a:buFont typeface="Wingdings" panose="05000000000000000000" charset="0"/>
                <a:buNone/>
              </a:pP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indent="0">
                <a:buFont typeface="Wingdings" panose="05000000000000000000" charset="0"/>
                <a:buNone/>
              </a:pP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indent="0">
                <a:buFont typeface="Wingdings" panose="05000000000000000000" charset="0"/>
                <a:buNone/>
              </a:pPr>
              <a:endParaRPr lang="en-US" altLang="en-GB" sz="14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18" name="矩形 6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-284699" y="1138886"/>
              <a:ext cx="3648776" cy="18089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en-US" altLang="zh-CN" b="1" dirty="0" smtClean="0">
                  <a:solidFill>
                    <a:srgbClr val="FFFF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Unsigned binary number</a:t>
              </a:r>
              <a:endParaRPr lang="en-US" altLang="zh-CN" b="1" dirty="0" smtClean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grpSp>
        <p:nvGrpSpPr>
          <p:cNvPr id="22" name="组合 62"/>
          <p:cNvGrpSpPr/>
          <p:nvPr>
            <p:custDataLst>
              <p:tags r:id="rId4"/>
            </p:custDataLst>
          </p:nvPr>
        </p:nvGrpSpPr>
        <p:grpSpPr bwMode="auto">
          <a:xfrm>
            <a:off x="5771515" y="2077085"/>
            <a:ext cx="5852160" cy="1192530"/>
            <a:chOff x="-129151" y="1202287"/>
            <a:chExt cx="4381450" cy="1051480"/>
          </a:xfrm>
        </p:grpSpPr>
        <p:sp>
          <p:nvSpPr>
            <p:cNvPr id="23" name="TextBox 19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-129151" y="1468642"/>
              <a:ext cx="4381450" cy="78512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endParaRPr lang="en-US" altLang="zh-CN" sz="1865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r>
                <a:rPr lang="en-US" altLang="zh-CN" sz="1865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 </a:t>
              </a:r>
              <a:endParaRPr lang="en-US" altLang="zh-CN" sz="1865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24" name="矩形 6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-128686" y="1202287"/>
              <a:ext cx="4209000" cy="31209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algn="ctr"/>
              <a:r>
                <a:rPr lang="en-US" altLang="en-GB" b="1" dirty="0">
                  <a:solidFill>
                    <a:srgbClr val="FFFF00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What Is Unsigned Integer Representation?</a:t>
              </a:r>
              <a:endParaRPr lang="en-US" altLang="en-GB" b="1" dirty="0">
                <a:solidFill>
                  <a:srgbClr val="FFFF00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algn="ctr"/>
              <a:endParaRPr lang="en-US" altLang="en-GB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algn="l"/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Unsigned binary number e.g;  11111111</a:t>
              </a:r>
              <a:endPara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  <a:p>
              <a:pPr algn="l"/>
              <a:r>
                <a:rPr lang="en-US" altLang="en-GB" sz="1600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</a:rPr>
                <a:t>Unsigned Integer representation e.g;  255</a:t>
              </a:r>
              <a:endParaRPr lang="en-US" altLang="en-GB" sz="16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</p:grpSp>
      <p:sp>
        <p:nvSpPr>
          <p:cNvPr id="4" name="Text Box 3"/>
          <p:cNvSpPr txBox="1"/>
          <p:nvPr/>
        </p:nvSpPr>
        <p:spPr>
          <a:xfrm>
            <a:off x="1358265" y="0"/>
            <a:ext cx="9576435" cy="608330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pPr algn="ctr"/>
            <a:r>
              <a:rPr lang="en-US" altLang="en-GB" sz="4000" b="1">
                <a:solidFill>
                  <a:schemeClr val="bg1"/>
                </a:solidFill>
              </a:rPr>
              <a:t>Conversion Systems: - Unit II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6205" y="755015"/>
            <a:ext cx="11889740" cy="1100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b="1" u="sng">
                <a:solidFill>
                  <a:srgbClr val="FF0000"/>
                </a:solidFill>
              </a:rPr>
              <a:t>Unsigned integer representation:</a:t>
            </a:r>
            <a:r>
              <a:rPr lang="en-US" altLang="en-GB" sz="1600" b="1">
                <a:solidFill>
                  <a:schemeClr val="bg1"/>
                </a:solidFill>
              </a:rPr>
              <a:t> is a binary number representation system in which all bits are used to represent the magnitude of a non-negative integer</a:t>
            </a:r>
            <a:endParaRPr lang="en-US" altLang="en-GB" sz="1600" b="1">
              <a:solidFill>
                <a:schemeClr val="bg1"/>
              </a:solidFill>
            </a:endParaRPr>
          </a:p>
          <a:p>
            <a:r>
              <a:rPr lang="en-US" altLang="en-GB" sz="1600" b="1">
                <a:solidFill>
                  <a:schemeClr val="bg1"/>
                </a:solidFill>
              </a:rPr>
              <a:t>with no sign bit </a:t>
            </a:r>
            <a:endParaRPr lang="en-US" altLang="en-GB" sz="1600" b="1">
              <a:solidFill>
                <a:schemeClr val="bg1"/>
              </a:solidFill>
            </a:endParaRPr>
          </a:p>
          <a:p>
            <a:r>
              <a:rPr lang="en-US" altLang="en-GB" sz="1600" b="1">
                <a:solidFill>
                  <a:schemeClr val="bg1"/>
                </a:solidFill>
              </a:rPr>
              <a:t>and a value range from </a:t>
            </a:r>
            <a:r>
              <a:rPr lang="en-US" altLang="en-GB" sz="1600" b="1">
                <a:solidFill>
                  <a:srgbClr val="FFFF00"/>
                </a:solidFill>
              </a:rPr>
              <a:t>0 to (2</a:t>
            </a:r>
            <a:r>
              <a:rPr lang="en-US" altLang="en-US" sz="1600" b="1">
                <a:solidFill>
                  <a:srgbClr val="FFFF00"/>
                </a:solidFill>
              </a:rPr>
              <a:t>ⁿ</a:t>
            </a:r>
            <a:r>
              <a:rPr lang="en-US" altLang="en-GB" sz="1600" b="1">
                <a:solidFill>
                  <a:srgbClr val="FFFF00"/>
                </a:solidFill>
              </a:rPr>
              <a:t> − 1). </a:t>
            </a:r>
            <a:endParaRPr lang="en-US" altLang="en-GB" sz="1600" b="1">
              <a:solidFill>
                <a:srgbClr val="FFFF00"/>
              </a:solidFill>
            </a:endParaRPr>
          </a:p>
        </p:txBody>
      </p:sp>
      <p:pic>
        <p:nvPicPr>
          <p:cNvPr id="8" name="Picture 7" descr="WhatsApp Image 2026-05-26 at 9.15.32 AM"/>
          <p:cNvPicPr>
            <a:picLocks noChangeAspect="1"/>
          </p:cNvPicPr>
          <p:nvPr/>
        </p:nvPicPr>
        <p:blipFill>
          <a:blip r:embed="rId7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9" name="Picture 8" descr="WhatsApp Image 2026-05-26 at 9.15.32 AM"/>
          <p:cNvPicPr>
            <a:picLocks noChangeAspect="1"/>
          </p:cNvPicPr>
          <p:nvPr/>
        </p:nvPicPr>
        <p:blipFill>
          <a:blip r:embed="rId7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5607685" y="1901825"/>
            <a:ext cx="10160" cy="427037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116205" y="1870075"/>
            <a:ext cx="11809730" cy="20955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Text Box 2"/>
          <p:cNvSpPr txBox="1"/>
          <p:nvPr/>
        </p:nvSpPr>
        <p:spPr>
          <a:xfrm>
            <a:off x="5772150" y="3568065"/>
            <a:ext cx="6233795" cy="1308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We use binary (0s and 1s)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We assume the number is ALWAYS positive or zero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0000"/>
                </a:solidFill>
              </a:rPr>
              <a:t>No</a:t>
            </a:r>
            <a:r>
              <a:rPr lang="en-US" altLang="en-GB">
                <a:solidFill>
                  <a:schemeClr val="bg1"/>
                </a:solidFill>
              </a:rPr>
              <a:t> sign bit is used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All bits are used to store the value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772150" y="6210300"/>
            <a:ext cx="58077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>
                <a:solidFill>
                  <a:schemeClr val="bg1"/>
                </a:solidFill>
              </a:rPr>
              <a:t>Unsigned integer representation</a:t>
            </a:r>
            <a:r>
              <a:rPr lang="en-US" altLang="en-GB" b="1">
                <a:solidFill>
                  <a:srgbClr val="FF0000"/>
                </a:solidFill>
              </a:rPr>
              <a:t> =</a:t>
            </a:r>
            <a:r>
              <a:rPr lang="en-US" altLang="en-GB">
                <a:solidFill>
                  <a:schemeClr val="bg1"/>
                </a:solidFill>
              </a:rPr>
              <a:t> binary numbers interpreted as positive whole numbers only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5772150" y="4778375"/>
            <a:ext cx="6153150" cy="1328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GB" sz="1600" b="1">
                <a:solidFill>
                  <a:srgbClr val="FF0000"/>
                </a:solidFill>
              </a:rPr>
              <a:t>NOTE: </a:t>
            </a:r>
            <a:endParaRPr lang="en-US" altLang="en-GB" sz="1600" b="1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sz="1600">
                <a:solidFill>
                  <a:schemeClr val="bg1"/>
                </a:solidFill>
              </a:rPr>
              <a:t>It is </a:t>
            </a:r>
            <a:r>
              <a:rPr lang="en-US" altLang="en-GB" sz="1600">
                <a:solidFill>
                  <a:srgbClr val="FFFF00"/>
                </a:solidFill>
              </a:rPr>
              <a:t>NOT</a:t>
            </a:r>
            <a:r>
              <a:rPr lang="en-US" altLang="en-GB" sz="1600">
                <a:solidFill>
                  <a:schemeClr val="bg1"/>
                </a:solidFill>
              </a:rPr>
              <a:t> a special type of bit</a:t>
            </a:r>
            <a:endParaRPr lang="en-US" altLang="en-GB" sz="16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sz="1600">
                <a:solidFill>
                  <a:schemeClr val="bg1"/>
                </a:solidFill>
              </a:rPr>
              <a:t>It is </a:t>
            </a:r>
            <a:r>
              <a:rPr lang="en-US" altLang="en-GB" sz="1600">
                <a:solidFill>
                  <a:srgbClr val="FFFF00"/>
                </a:solidFill>
              </a:rPr>
              <a:t>NOT </a:t>
            </a:r>
            <a:r>
              <a:rPr lang="en-US" altLang="en-GB" sz="1600">
                <a:solidFill>
                  <a:schemeClr val="bg1"/>
                </a:solidFill>
              </a:rPr>
              <a:t>extra hardware</a:t>
            </a:r>
            <a:endParaRPr lang="en-US" altLang="en-GB" sz="16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sz="1600">
                <a:solidFill>
                  <a:schemeClr val="bg1"/>
                </a:solidFill>
              </a:rPr>
              <a:t>It is </a:t>
            </a:r>
            <a:r>
              <a:rPr lang="en-US" altLang="en-GB" sz="1600">
                <a:solidFill>
                  <a:srgbClr val="FFFF00"/>
                </a:solidFill>
              </a:rPr>
              <a:t>NOT</a:t>
            </a:r>
            <a:r>
              <a:rPr lang="en-US" altLang="en-GB" sz="1600">
                <a:solidFill>
                  <a:schemeClr val="bg1"/>
                </a:solidFill>
              </a:rPr>
              <a:t> a new system of writing numbers</a:t>
            </a:r>
            <a:endParaRPr lang="en-US" altLang="en-GB" sz="160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 sz="1600">
                <a:solidFill>
                  <a:schemeClr val="bg1"/>
                </a:solidFill>
              </a:rPr>
              <a:t> It is </a:t>
            </a:r>
            <a:r>
              <a:rPr lang="en-US" altLang="en-GB" sz="1600">
                <a:solidFill>
                  <a:srgbClr val="FFFF00"/>
                </a:solidFill>
              </a:rPr>
              <a:t>ONLY</a:t>
            </a:r>
            <a:r>
              <a:rPr lang="en-US" altLang="en-GB" sz="1600">
                <a:solidFill>
                  <a:schemeClr val="bg1"/>
                </a:solidFill>
              </a:rPr>
              <a:t> a rule of interpretation</a:t>
            </a:r>
            <a:endParaRPr lang="en-US" altLang="en-GB" sz="1600">
              <a:solidFill>
                <a:schemeClr val="bg1"/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116205" y="5998210"/>
            <a:ext cx="5406390" cy="857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FF00"/>
                </a:solidFill>
              </a:rPr>
              <a:t>Unsigned binary number </a:t>
            </a:r>
            <a:r>
              <a:rPr lang="en-US" altLang="en-GB">
                <a:solidFill>
                  <a:srgbClr val="FF0000"/>
                </a:solidFill>
              </a:rPr>
              <a:t>=</a:t>
            </a:r>
            <a:r>
              <a:rPr lang="en-US" altLang="en-GB">
                <a:solidFill>
                  <a:schemeClr val="bg1"/>
                </a:solidFill>
              </a:rPr>
              <a:t> the actual bit pattern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rgbClr val="FFFF00"/>
                </a:solidFill>
              </a:rPr>
              <a:t>Unsigned integer representation </a:t>
            </a:r>
            <a:r>
              <a:rPr lang="en-US" altLang="en-GB">
                <a:solidFill>
                  <a:srgbClr val="FF0000"/>
                </a:solidFill>
              </a:rPr>
              <a:t>= </a:t>
            </a:r>
            <a:r>
              <a:rPr lang="en-US" altLang="en-GB">
                <a:solidFill>
                  <a:schemeClr val="bg1"/>
                </a:solidFill>
              </a:rPr>
              <a:t>the rule used to interpret that bit pattern</a:t>
            </a:r>
            <a:endParaRPr lang="en-US" altLang="en-GB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732155" y="67310"/>
            <a:ext cx="10631170" cy="548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3800" b="1">
                <a:solidFill>
                  <a:schemeClr val="bg1"/>
                </a:solidFill>
              </a:rPr>
              <a:t>PLACE VALUE SYSTEM</a:t>
            </a:r>
            <a:endParaRPr lang="en-US" altLang="en-GB" sz="3800" b="1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63325" y="5998845"/>
            <a:ext cx="807085" cy="85915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28600" y="1115060"/>
            <a:ext cx="4667885" cy="223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GB" sz="2000" b="1">
                <a:solidFill>
                  <a:srgbClr val="FF0000"/>
                </a:solidFill>
              </a:rPr>
              <a:t>1. NIBBLE ( 4 BITS)</a:t>
            </a:r>
            <a:endParaRPr lang="en-US" altLang="en-GB" sz="2000" b="1">
              <a:solidFill>
                <a:srgbClr val="FF0000"/>
              </a:solidFill>
            </a:endParaRPr>
          </a:p>
          <a:p>
            <a:pPr algn="l"/>
            <a:r>
              <a:rPr lang="en-US" altLang="en-GB" sz="2000">
                <a:solidFill>
                  <a:srgbClr val="FFC000"/>
                </a:solidFill>
                <a:sym typeface="+mn-ea"/>
              </a:rPr>
              <a:t>0 to (2</a:t>
            </a:r>
            <a:r>
              <a:rPr lang="en-US" altLang="en-GB" sz="2000" baseline="30000">
                <a:solidFill>
                  <a:srgbClr val="FFC000"/>
                </a:solidFill>
                <a:sym typeface="+mn-ea"/>
              </a:rPr>
              <a:t>4</a:t>
            </a:r>
            <a:r>
              <a:rPr lang="en-US" altLang="en-GB" sz="2000">
                <a:solidFill>
                  <a:srgbClr val="FFC000"/>
                </a:solidFill>
                <a:sym typeface="+mn-ea"/>
              </a:rPr>
              <a:t> − 1)</a:t>
            </a:r>
            <a:endParaRPr lang="en-US" altLang="en-GB" sz="2000">
              <a:solidFill>
                <a:srgbClr val="FFC000"/>
              </a:solidFill>
            </a:endParaRPr>
          </a:p>
          <a:p>
            <a:pPr algn="l"/>
            <a:endParaRPr lang="en-US" altLang="en-GB" sz="2000" b="1">
              <a:solidFill>
                <a:srgbClr val="FF0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7219950" y="859155"/>
            <a:ext cx="4510405" cy="2193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en-GB" sz="2000" b="1">
                <a:solidFill>
                  <a:srgbClr val="FF0000"/>
                </a:solidFill>
              </a:rPr>
              <a:t>2.</a:t>
            </a:r>
            <a:r>
              <a:rPr lang="en-US" altLang="en-GB" sz="2000" b="1">
                <a:solidFill>
                  <a:schemeClr val="bg1"/>
                </a:solidFill>
              </a:rPr>
              <a:t> BYTE (8 BITS)</a:t>
            </a:r>
            <a:endParaRPr lang="en-US" altLang="en-GB" sz="2000" b="1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rgbClr val="FFC000"/>
                </a:solidFill>
              </a:rPr>
              <a:t>0 to (2</a:t>
            </a:r>
            <a:r>
              <a:rPr lang="en-US" altLang="en-US">
                <a:solidFill>
                  <a:srgbClr val="FFC000"/>
                </a:solidFill>
              </a:rPr>
              <a:t>⁸</a:t>
            </a:r>
            <a:r>
              <a:rPr lang="en-US" altLang="en-GB">
                <a:solidFill>
                  <a:srgbClr val="FFC000"/>
                </a:solidFill>
              </a:rPr>
              <a:t> − 1)</a:t>
            </a:r>
            <a:endParaRPr lang="en-US" altLang="en-GB">
              <a:solidFill>
                <a:srgbClr val="FFC000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015490" y="6244590"/>
            <a:ext cx="74853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8 bits </a:t>
            </a:r>
            <a:r>
              <a:rPr lang="en-US" altLang="en-GB" b="1">
                <a:solidFill>
                  <a:srgbClr val="FF0000"/>
                </a:solidFill>
              </a:rPr>
              <a:t>=</a:t>
            </a:r>
            <a:r>
              <a:rPr lang="en-US" altLang="en-GB" b="1">
                <a:solidFill>
                  <a:schemeClr val="bg1"/>
                </a:solidFill>
              </a:rPr>
              <a:t> It actually means 8 binary positions forming one number</a:t>
            </a:r>
            <a:endParaRPr lang="en-US" altLang="en-GB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101725" y="152400"/>
            <a:ext cx="9791700" cy="70675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p>
            <a:pPr algn="ctr"/>
            <a:r>
              <a:rPr lang="en-US" altLang="en-GB" sz="4000">
                <a:solidFill>
                  <a:schemeClr val="bg1"/>
                </a:solidFill>
                <a:sym typeface="+mn-ea"/>
              </a:rPr>
              <a:t> UNSIGNED VALUE RANGE</a:t>
            </a:r>
            <a:endParaRPr lang="en-US" altLang="en-GB" sz="4000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18440" y="1045210"/>
            <a:ext cx="4189095" cy="2785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For n bits, the range is: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0 to (2</a:t>
            </a:r>
            <a:r>
              <a:rPr lang="en-US" altLang="en-US">
                <a:solidFill>
                  <a:schemeClr val="bg1"/>
                </a:solidFill>
              </a:rPr>
              <a:t>ⁿ</a:t>
            </a:r>
            <a:r>
              <a:rPr lang="en-US" altLang="en-GB">
                <a:solidFill>
                  <a:schemeClr val="bg1"/>
                </a:solidFill>
              </a:rPr>
              <a:t> - 1)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Examples: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3 bits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en-GB">
                <a:solidFill>
                  <a:schemeClr val="bg1"/>
                </a:solidFill>
              </a:rPr>
              <a:t> 0 to 7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4 bits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en-GB">
                <a:solidFill>
                  <a:schemeClr val="bg1"/>
                </a:solidFill>
              </a:rPr>
              <a:t> 0 to 15</a:t>
            </a:r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>
                <a:solidFill>
                  <a:schemeClr val="bg1"/>
                </a:solidFill>
              </a:rPr>
              <a:t>8 bits </a:t>
            </a:r>
            <a:r>
              <a:rPr lang="en-US" altLang="en-US">
                <a:solidFill>
                  <a:schemeClr val="bg1"/>
                </a:solidFill>
              </a:rPr>
              <a:t>→</a:t>
            </a:r>
            <a:r>
              <a:rPr lang="en-US" altLang="en-GB">
                <a:solidFill>
                  <a:schemeClr val="bg1"/>
                </a:solidFill>
              </a:rPr>
              <a:t> 0 to 255</a:t>
            </a:r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  <a:p>
            <a:endParaRPr lang="en-US" altLang="en-GB">
              <a:solidFill>
                <a:schemeClr val="bg1"/>
              </a:solidFill>
            </a:endParaRPr>
          </a:p>
        </p:txBody>
      </p:sp>
      <p:pic>
        <p:nvPicPr>
          <p:cNvPr id="20" name="Picture 19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14" name="Picture 13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8825230" y="859155"/>
            <a:ext cx="2128520" cy="3377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00000001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10000000 </a:t>
            </a:r>
            <a:endParaRPr lang="en-US" altLang="en-GB" b="1">
              <a:solidFill>
                <a:schemeClr val="bg1"/>
              </a:solidFill>
            </a:endParaRPr>
          </a:p>
          <a:p>
            <a:endParaRPr lang="en-US" altLang="en-GB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00001111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10101010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11111110</a:t>
            </a:r>
            <a:r>
              <a:rPr lang="en-US" altLang="en-US" b="1">
                <a:solidFill>
                  <a:schemeClr val="bg1"/>
                </a:solidFill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</a:rPr>
              <a:t> 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7495" y="6255385"/>
            <a:ext cx="111074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b="1">
                <a:solidFill>
                  <a:schemeClr val="bg1"/>
                </a:solidFill>
              </a:rPr>
              <a:t>In unsigned binary, every bit increases value — there is NO negative side.</a:t>
            </a:r>
            <a:endParaRPr lang="en-US" altLang="en-GB" b="1">
              <a:solidFill>
                <a:schemeClr val="bg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31765" y="1155700"/>
            <a:ext cx="2150110" cy="27844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0101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0000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₂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GB" b="1">
                <a:solidFill>
                  <a:schemeClr val="bg1"/>
                </a:solidFill>
                <a:sym typeface="+mn-ea"/>
              </a:rPr>
              <a:t>1111</a:t>
            </a:r>
            <a:r>
              <a:rPr lang="en-US" altLang="en-US" b="1">
                <a:solidFill>
                  <a:schemeClr val="bg1"/>
                </a:solidFill>
                <a:sym typeface="+mn-ea"/>
              </a:rPr>
              <a:t>₂</a:t>
            </a:r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4175760" y="0"/>
            <a:ext cx="4916805" cy="600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GB" sz="4000">
                <a:solidFill>
                  <a:schemeClr val="bg1"/>
                </a:solidFill>
              </a:rPr>
              <a:t>KEY TAKEAWAY</a:t>
            </a:r>
            <a:endParaRPr lang="en-US" altLang="en-GB" sz="4000">
              <a:solidFill>
                <a:schemeClr val="bg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34720" y="781050"/>
            <a:ext cx="10091420" cy="521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Each bit represents a power of 2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Turning a bit ON adds its value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Unsigned binary cannot represent negative numbers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Summary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 Only positive numbers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 No sign bit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 Range depends on number of bits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 Used in basic computer data representation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“Unsigned bit” is NOT a thing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There is no such thing as an “unsigned bit.”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What you actually have is: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 Unsigned binary number (a way of interpreting bits)</a:t>
            </a: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endParaRPr lang="en-US" altLang="en-GB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q"/>
            </a:pPr>
            <a:r>
              <a:rPr lang="en-US" altLang="en-GB">
                <a:solidFill>
                  <a:schemeClr val="bg1"/>
                </a:solidFill>
              </a:rPr>
              <a:t>Not a special bit.</a:t>
            </a:r>
            <a:endParaRPr lang="en-US" altLang="en-GB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064000" y="63087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GB">
                <a:solidFill>
                  <a:schemeClr val="bg1"/>
                </a:solidFill>
              </a:rPr>
              <a:t>EXPLORE THE FULL REPO ON GITHUB</a:t>
            </a:r>
            <a:r>
              <a:rPr lang="en-US" altLang="en-GB"/>
              <a:t>.</a:t>
            </a:r>
            <a:endParaRPr lang="en-US" altLang="en-GB"/>
          </a:p>
        </p:txBody>
      </p:sp>
      <p:pic>
        <p:nvPicPr>
          <p:cNvPr id="5" name="Picture 4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0" y="0"/>
            <a:ext cx="807085" cy="859155"/>
          </a:xfrm>
          <a:prstGeom prst="rect">
            <a:avLst/>
          </a:prstGeom>
        </p:spPr>
      </p:pic>
      <p:pic>
        <p:nvPicPr>
          <p:cNvPr id="6" name="Picture 5" descr="WhatsApp Image 2026-05-26 at 9.15.32 AM"/>
          <p:cNvPicPr>
            <a:picLocks noChangeAspect="1"/>
          </p:cNvPicPr>
          <p:nvPr/>
        </p:nvPicPr>
        <p:blipFill>
          <a:blip r:embed="rId1"/>
          <a:srcRect l="11601" t="7675" r="19054" b="14253"/>
          <a:stretch>
            <a:fillRect/>
          </a:stretch>
        </p:blipFill>
        <p:spPr>
          <a:xfrm>
            <a:off x="11384915" y="5998845"/>
            <a:ext cx="807085" cy="859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2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3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4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5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ags/tag6.xml><?xml version="1.0" encoding="utf-8"?>
<p:tagLst xmlns:p="http://schemas.openxmlformats.org/presentationml/2006/main">
  <p:tag name="KSO_WM_DIAGRAM_VIRTUALLY_FRAME" val="{&quot;height&quot;:263.409049190327,&quot;left&quot;:63.5508173542554,&quot;top&quot;:210.9822834645669,&quot;width&quot;:774.126584220547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2301</Words>
  <Application>WPS Presentation</Application>
  <PresentationFormat>宽屏</PresentationFormat>
  <Paragraphs>135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PC</dc:creator>
  <cp:lastModifiedBy>unjuehevo</cp:lastModifiedBy>
  <cp:revision>118</cp:revision>
  <dcterms:created xsi:type="dcterms:W3CDTF">2015-12-25T06:51:00Z</dcterms:created>
  <dcterms:modified xsi:type="dcterms:W3CDTF">2026-06-21T14:33:10Z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2057-12.2.0.23203</vt:lpwstr>
  </property>
  <property fmtid="{D5CDD505-2E9C-101B-9397-08002B2CF9AE}" pid="3" name="ICV">
    <vt:lpwstr>C4FD48F5CD65414C94EE8ACD897EE970_13</vt:lpwstr>
  </property>
</Properties>
</file>
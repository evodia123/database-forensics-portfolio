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288" r:id="rId3"/>
    <p:sldId id="274" r:id="rId5"/>
    <p:sldId id="291" r:id="rId6"/>
    <p:sldId id="302" r:id="rId7"/>
    <p:sldId id="292" r:id="rId8"/>
    <p:sldId id="262" r:id="rId9"/>
    <p:sldId id="301" r:id="rId10"/>
    <p:sldId id="293" r:id="rId11"/>
    <p:sldId id="297" r:id="rId12"/>
    <p:sldId id="298" r:id="rId13"/>
    <p:sldId id="299" r:id="rId14"/>
    <p:sldId id="294" r:id="rId15"/>
    <p:sldId id="295" r:id="rId16"/>
    <p:sldId id="296" r:id="rId17"/>
    <p:sldId id="303" r:id="rId18"/>
    <p:sldId id="304" r:id="rId19"/>
    <p:sldId id="305" r:id="rId20"/>
    <p:sldId id="306" r:id="rId21"/>
    <p:sldId id="30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A42F43"/>
    <a:srgbClr val="90293D"/>
    <a:srgbClr val="852736"/>
    <a:srgbClr val="862638"/>
    <a:srgbClr val="04AAB4"/>
    <a:srgbClr val="005827"/>
    <a:srgbClr val="1D6249"/>
    <a:srgbClr val="1E887A"/>
    <a:srgbClr val="3F6666"/>
    <a:srgbClr val="3E1D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DCA5C2E7-9D8F-47E6-AD76-B5B08028EF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z="1200" smtClean="0">
                <a:sym typeface="+mn-ea"/>
              </a:rPr>
              <a:t>Click to edit Master text style</a:t>
            </a:r>
            <a:endParaRPr lang="zh-CN" altLang="en-US" sz="1200" smtClean="0"/>
          </a:p>
          <a:p>
            <a:pPr lvl="1"/>
            <a:r>
              <a:rPr lang="zh-CN" altLang="en-US" sz="1200" smtClean="0">
                <a:sym typeface="+mn-ea"/>
              </a:rPr>
              <a:t>Second level</a:t>
            </a:r>
            <a:endParaRPr lang="zh-CN" altLang="en-US" sz="1200" smtClean="0"/>
          </a:p>
          <a:p>
            <a:pPr lvl="2"/>
            <a:r>
              <a:rPr lang="zh-CN" altLang="en-US" sz="1200" smtClean="0">
                <a:sym typeface="+mn-ea"/>
              </a:rPr>
              <a:t>Third level</a:t>
            </a:r>
            <a:endParaRPr lang="zh-CN" altLang="en-US" sz="1200" smtClean="0"/>
          </a:p>
          <a:p>
            <a:pPr lvl="3"/>
            <a:r>
              <a:rPr lang="zh-CN" altLang="en-US" sz="1200" smtClean="0">
                <a:sym typeface="+mn-ea"/>
              </a:rPr>
              <a:t>Fourth level</a:t>
            </a:r>
            <a:endParaRPr lang="zh-CN" altLang="en-US" sz="1200" smtClean="0"/>
          </a:p>
          <a:p>
            <a:pPr lvl="4"/>
            <a:r>
              <a:rPr lang="zh-CN" altLang="en-US" sz="1200" smtClean="0">
                <a:sym typeface="+mn-ea"/>
              </a:rPr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3AE85B77-8AE0-464C-9A26-6A01A479EB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5A079F21-3BE8-4E0A-A2CF-C18BDEAD91D7}" type="datetime1">
              <a:rPr lang="zh-CN" altLang="en-US"/>
            </a:fld>
            <a:endParaRPr lang="zh-CN" altLang="en-US" sz="1865" dirty="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zh-CN"/>
              <a:t> </a:t>
            </a: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70336DA7-0B35-4766-B3FA-87CC82BF78CC}" type="slidenum">
              <a:rPr lang="zh-CN" altLang="en-US"/>
            </a:fld>
            <a:endParaRPr lang="zh-CN" altLang="en-US" sz="1865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4.xml"/><Relationship Id="rId4" Type="http://schemas.openxmlformats.org/officeDocument/2006/relationships/image" Target="../media/image2.jpe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286000" y="379095"/>
            <a:ext cx="7620000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    </a:t>
            </a:r>
            <a:r>
              <a:rPr lang="en-US" altLang="zh-CN" sz="4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Database Forensics</a:t>
            </a:r>
            <a:r>
              <a:rPr lang="en-US" altLang="zh-CN" sz="3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altLang="zh-CN" sz="38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10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How Data Solves Crimes in Large Organisations</a:t>
            </a:r>
            <a:endParaRPr lang="en-US" altLang="zh-CN" sz="24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448435" y="2380615"/>
            <a:ext cx="9443085" cy="8883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  </a:t>
            </a:r>
            <a:r>
              <a:rPr lang="en-US" altLang="zh-CN" sz="2200" b="1" dirty="0" smtClean="0">
                <a:solidFill>
                  <a:srgbClr val="FFFF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19</a:t>
            </a:r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-slide guide to investigating data </a:t>
            </a:r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/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at scale with SQL and audit logs</a:t>
            </a:r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344285" y="5059045"/>
            <a:ext cx="406400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Day </a:t>
            </a:r>
            <a:r>
              <a:rPr lang="en-US" altLang="zh-CN" sz="2200" b="1" dirty="0" smtClean="0">
                <a:solidFill>
                  <a:srgbClr val="FFFF0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6</a:t>
            </a:r>
            <a:r>
              <a:rPr lang="en-US" altLang="zh-CN" sz="2200" b="1" dirty="0" smtClean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of 30 | June 2026 </a:t>
            </a:r>
            <a:endParaRPr lang="en-US" altLang="zh-CN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GB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97790" y="5017135"/>
            <a:ext cx="3946525" cy="613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EVODIA UNJUEH AKU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unjuehevo@gmail.com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21" name="Picture 20" descr="WhatsApp Image 2026-05-26 at 9.15.32 AM"/>
          <p:cNvPicPr>
            <a:picLocks noChangeAspect="1"/>
          </p:cNvPicPr>
          <p:nvPr/>
        </p:nvPicPr>
        <p:blipFill>
          <a:blip r:embed="rId1"/>
          <a:srcRect l="18064" t="13385" r="17739" b="15487"/>
          <a:stretch>
            <a:fillRect/>
          </a:stretch>
        </p:blipFill>
        <p:spPr>
          <a:xfrm>
            <a:off x="11438255" y="5977255"/>
            <a:ext cx="753745" cy="880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62"/>
          <p:cNvGrpSpPr/>
          <p:nvPr>
            <p:custDataLst>
              <p:tags r:id="rId1"/>
            </p:custDataLst>
          </p:nvPr>
        </p:nvGrpSpPr>
        <p:grpSpPr bwMode="auto">
          <a:xfrm>
            <a:off x="737870" y="3428365"/>
            <a:ext cx="3913505" cy="826135"/>
            <a:chOff x="-349700" y="1138886"/>
            <a:chExt cx="3713777" cy="1171252"/>
          </a:xfrm>
        </p:grpSpPr>
        <p:sp>
          <p:nvSpPr>
            <p:cNvPr id="17" name="TextBox 19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-349700" y="1447311"/>
              <a:ext cx="3713777" cy="8628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Autofit/>
            </a:bodyPr>
            <a:lstStyle/>
            <a:p>
              <a:endPara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18" name="矩形 6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18575" y="1138886"/>
              <a:ext cx="2535709" cy="2607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Autofit/>
            </a:bodyPr>
            <a:lstStyle/>
            <a:p>
              <a:pPr algn="ctr"/>
              <a:endParaRPr lang="en-US" altLang="zh-CN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1357630" y="230505"/>
            <a:ext cx="9576435" cy="62420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pPr algn="ctr"/>
            <a:r>
              <a:rPr lang="en-US" altLang="en-GB" sz="3000" b="1">
                <a:solidFill>
                  <a:schemeClr val="bg1"/>
                </a:solidFill>
              </a:rPr>
              <a:t>DATABASE  FORENSICS</a:t>
            </a:r>
            <a:r>
              <a:rPr lang="en-US" altLang="en-GB" sz="3000" b="1">
                <a:solidFill>
                  <a:srgbClr val="FFFF00"/>
                </a:solidFill>
              </a:rPr>
              <a:t> = </a:t>
            </a:r>
            <a:r>
              <a:rPr lang="en-US" altLang="en-GB" sz="3000" b="1">
                <a:solidFill>
                  <a:schemeClr val="bg1"/>
                </a:solidFill>
              </a:rPr>
              <a:t>DIGITAL EVIDENCE</a:t>
            </a:r>
            <a:endParaRPr lang="en-US" altLang="en-GB" sz="3000" b="1">
              <a:solidFill>
                <a:schemeClr val="bg1"/>
              </a:solidFill>
            </a:endParaRPr>
          </a:p>
        </p:txBody>
      </p:sp>
      <p:pic>
        <p:nvPicPr>
          <p:cNvPr id="8" name="Picture 7" descr="WhatsApp Image 2026-05-26 at 9.15.32 AM"/>
          <p:cNvPicPr>
            <a:picLocks noChangeAspect="1"/>
          </p:cNvPicPr>
          <p:nvPr/>
        </p:nvPicPr>
        <p:blipFill>
          <a:blip r:embed="rId4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9" name="Picture 8" descr="WhatsApp Image 2026-05-26 at 9.15.32 AM"/>
          <p:cNvPicPr>
            <a:picLocks noChangeAspect="1"/>
          </p:cNvPicPr>
          <p:nvPr/>
        </p:nvPicPr>
        <p:blipFill>
          <a:blip r:embed="rId4"/>
          <a:srcRect l="11601" t="7675" r="19054" b="14253"/>
          <a:stretch>
            <a:fillRect/>
          </a:stretch>
        </p:blipFill>
        <p:spPr>
          <a:xfrm>
            <a:off x="11384915" y="5998845"/>
            <a:ext cx="807085" cy="8591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45110" y="2027555"/>
            <a:ext cx="11795125" cy="492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2600" b="1">
                <a:solidFill>
                  <a:schemeClr val="bg1"/>
                </a:solidFill>
              </a:rPr>
              <a:t>CONVERSION SYSTEMS</a:t>
            </a:r>
            <a:endParaRPr lang="en-US" altLang="en-GB" sz="2600">
              <a:solidFill>
                <a:schemeClr val="bg1"/>
              </a:solidFill>
            </a:endParaRPr>
          </a:p>
          <a:p>
            <a:pPr algn="ctr"/>
            <a:endParaRPr lang="en-US" altLang="en-GB">
              <a:solidFill>
                <a:schemeClr val="bg1"/>
              </a:solidFill>
            </a:endParaRPr>
          </a:p>
          <a:p>
            <a:pPr algn="ctr"/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0" y="1102995"/>
            <a:ext cx="12192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2800" b="1">
                <a:solidFill>
                  <a:srgbClr val="FFFF00"/>
                </a:solidFill>
              </a:rPr>
              <a:t>TRANSACTION LOG - PART TWO</a:t>
            </a:r>
            <a:endParaRPr lang="en-US" altLang="en-GB" sz="2800" b="1">
              <a:solidFill>
                <a:srgbClr val="FFFF00"/>
              </a:solidFill>
            </a:endParaRPr>
          </a:p>
        </p:txBody>
      </p:sp>
      <p:graphicFrame>
        <p:nvGraphicFramePr>
          <p:cNvPr id="13" name="Table 12"/>
          <p:cNvGraphicFramePr/>
          <p:nvPr>
            <p:custDataLst>
              <p:tags r:id="rId5"/>
            </p:custDataLst>
          </p:nvPr>
        </p:nvGraphicFramePr>
        <p:xfrm>
          <a:off x="245110" y="3313430"/>
          <a:ext cx="11794490" cy="2691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9155"/>
                <a:gridCol w="7125335"/>
              </a:tblGrid>
              <a:tr h="7258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000">
                          <a:solidFill>
                            <a:schemeClr val="bg1"/>
                          </a:solidFill>
                          <a:sym typeface="+mn-ea"/>
                        </a:rPr>
                        <a:t>OCTAL</a:t>
                      </a:r>
                      <a:endParaRPr lang="en-US" altLang="en-GB" sz="2000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en-GB" sz="20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86263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000">
                          <a:solidFill>
                            <a:schemeClr val="bg1"/>
                          </a:solidFill>
                          <a:sym typeface="+mn-ea"/>
                        </a:rPr>
                        <a:t>HEXA</a:t>
                      </a:r>
                      <a:endParaRPr lang="en-US" altLang="en-GB" sz="2000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en-GB" sz="20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862638"/>
                    </a:solidFill>
                  </a:tcPr>
                </a:tc>
              </a:tr>
              <a:tr h="4089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000">
                          <a:solidFill>
                            <a:schemeClr val="bg1"/>
                          </a:solidFill>
                          <a:sym typeface="+mn-ea"/>
                        </a:rPr>
                        <a:t>Base: </a:t>
                      </a:r>
                      <a:r>
                        <a:rPr lang="en-US" altLang="en-GB" sz="200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altLang="en-GB" sz="20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86263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000">
                          <a:solidFill>
                            <a:schemeClr val="bg1"/>
                          </a:solidFill>
                          <a:sym typeface="+mn-ea"/>
                        </a:rPr>
                        <a:t>Base: </a:t>
                      </a:r>
                      <a:r>
                        <a:rPr lang="en-US" altLang="en-GB" sz="200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en-US" altLang="en-GB" sz="20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862638"/>
                    </a:solidFill>
                  </a:tcPr>
                </a:tc>
              </a:tr>
              <a:tr h="6756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000">
                          <a:solidFill>
                            <a:schemeClr val="bg1"/>
                          </a:solidFill>
                          <a:sym typeface="+mn-ea"/>
                        </a:rPr>
                        <a:t>Range: </a:t>
                      </a:r>
                      <a:r>
                        <a:rPr lang="en-US" altLang="en-GB" sz="2000">
                          <a:solidFill>
                            <a:schemeClr val="bg1"/>
                          </a:solidFill>
                        </a:rPr>
                        <a:t>0-7</a:t>
                      </a:r>
                      <a:endParaRPr lang="en-US" altLang="en-GB" sz="20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86263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000">
                          <a:solidFill>
                            <a:schemeClr val="bg1"/>
                          </a:solidFill>
                          <a:sym typeface="+mn-ea"/>
                        </a:rPr>
                        <a:t>Range: </a:t>
                      </a:r>
                      <a:r>
                        <a:rPr lang="en-US" altLang="en-GB" sz="2000">
                          <a:solidFill>
                            <a:schemeClr val="bg1"/>
                          </a:solidFill>
                        </a:rPr>
                        <a:t>0-15</a:t>
                      </a:r>
                      <a:endParaRPr lang="en-US" altLang="en-GB" sz="20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862638"/>
                    </a:solidFill>
                  </a:tcPr>
                </a:tc>
              </a:tr>
              <a:tr h="8813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000">
                          <a:solidFill>
                            <a:schemeClr val="bg1"/>
                          </a:solidFill>
                          <a:sym typeface="+mn-ea"/>
                        </a:rPr>
                        <a:t>Digits: </a:t>
                      </a:r>
                      <a:r>
                        <a:rPr lang="en-US" altLang="en-GB" sz="2000">
                          <a:solidFill>
                            <a:schemeClr val="bg1"/>
                          </a:solidFill>
                        </a:rPr>
                        <a:t>0,1,2,3,4,5,6 AND 7</a:t>
                      </a:r>
                      <a:endParaRPr lang="en-US" altLang="en-GB" sz="20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86263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000">
                          <a:solidFill>
                            <a:schemeClr val="bg1"/>
                          </a:solidFill>
                          <a:sym typeface="+mn-ea"/>
                        </a:rPr>
                        <a:t>Digits: </a:t>
                      </a:r>
                      <a:r>
                        <a:rPr lang="en-US" altLang="en-GB" sz="2000">
                          <a:solidFill>
                            <a:schemeClr val="bg1"/>
                          </a:solidFill>
                        </a:rPr>
                        <a:t>0,1,2,3,4,5,6,7,8,9,A,B,C,D,E AND F</a:t>
                      </a:r>
                      <a:endParaRPr lang="en-US" altLang="en-GB" sz="20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8626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93090" y="313690"/>
            <a:ext cx="102190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2800" b="1">
                <a:solidFill>
                  <a:srgbClr val="FFFF00"/>
                </a:solidFill>
              </a:rPr>
              <a:t>C. OCTAL CONVERSION</a:t>
            </a:r>
            <a:endParaRPr lang="en-US" altLang="en-GB" sz="2800" b="1">
              <a:solidFill>
                <a:srgbClr val="FFFF00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869690" y="12020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2800" b="1">
                <a:solidFill>
                  <a:srgbClr val="FFFF00"/>
                </a:solidFill>
              </a:rPr>
              <a:t>WHOLE NUMBERS</a:t>
            </a:r>
            <a:endParaRPr lang="en-US" altLang="en-GB" sz="2800" b="1">
              <a:solidFill>
                <a:srgbClr val="FFFF00"/>
              </a:solidFill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1478915" y="2896235"/>
          <a:ext cx="8533765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Conversion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Method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Reading Direction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Decimal Integer </a:t>
                      </a: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Octal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Division by 8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Bottom </a:t>
                      </a: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Top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Decimal Fraction </a:t>
                      </a: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Octal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Multiply by 8	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Top </a:t>
                      </a: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Bottom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Octal Integer </a:t>
                      </a: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Decimal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Positive powers of 8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Right 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Left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Octal Fraction </a:t>
                      </a: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Decimal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Negative powers of 8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Left </a:t>
                      </a: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Right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Binary </a:t>
                      </a: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Octal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Groups of 3 bits	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Right→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Left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Octal </a:t>
                      </a:r>
                      <a:r>
                        <a:rPr lang="en-US" altLang="en-US" sz="1800" b="1">
                          <a:solidFill>
                            <a:schemeClr val="bg1"/>
                          </a:solidFill>
                          <a:sym typeface="+mn-ea"/>
                        </a:rPr>
                        <a:t>→</a:t>
                      </a: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 Binary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  <a:sym typeface="+mn-ea"/>
                        </a:rPr>
                        <a:t>Replace each digit with 3 bits	</a:t>
                      </a:r>
                      <a:endParaRPr lang="en-US" altLang="en-GB" sz="1800" b="1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 b="1">
                          <a:solidFill>
                            <a:schemeClr val="bg1"/>
                          </a:solidFill>
                        </a:rPr>
                        <a:t>Independent</a:t>
                      </a:r>
                      <a:endParaRPr lang="en-US" altLang="en-GB" sz="18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0293D"/>
                    </a:solidFill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3869690" y="2409825"/>
            <a:ext cx="4064000" cy="486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2800" b="1">
                <a:solidFill>
                  <a:srgbClr val="FFFF00"/>
                </a:solidFill>
                <a:sym typeface="+mn-ea"/>
              </a:rPr>
              <a:t>Master Rule</a:t>
            </a:r>
            <a:endParaRPr lang="en-US" altLang="en-GB" sz="2800" b="1">
              <a:solidFill>
                <a:srgbClr val="FFFF00"/>
              </a:solidFill>
            </a:endParaRPr>
          </a:p>
          <a:p>
            <a:endParaRPr lang="en-US" altLang="en-GB" sz="2800" b="1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14" name="Picture 13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11384915" y="5998845"/>
            <a:ext cx="807085" cy="85915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131695" y="54819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807085" y="174308"/>
            <a:ext cx="5080000" cy="42989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>
                <a:solidFill>
                  <a:schemeClr val="bg1"/>
                </a:solidFill>
              </a:rPr>
              <a:t>Quick Conversion Examples</a:t>
            </a:r>
            <a:endParaRPr lang="en-US" altLang="zh-CN" sz="2200" b="1">
              <a:solidFill>
                <a:schemeClr val="bg1"/>
              </a:solidFill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940435" y="720090"/>
          <a:ext cx="5255260" cy="1844040"/>
        </p:xfrm>
        <a:graphic>
          <a:graphicData uri="http://schemas.openxmlformats.org/drawingml/2006/table">
            <a:tbl>
              <a:tblPr/>
              <a:tblGrid>
                <a:gridCol w="2627630"/>
                <a:gridCol w="2627630"/>
              </a:tblGrid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Decimal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Binary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2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10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11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4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100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5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101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6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110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7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111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8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1000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9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1001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10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>
                          <a:solidFill>
                            <a:srgbClr val="FFFF00"/>
                          </a:solidFill>
                        </a:rPr>
                        <a:t>1010</a:t>
                      </a:r>
                      <a:endParaRPr lang="en-US" altLang="zh-CN"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4530090" y="441960"/>
            <a:ext cx="2205990" cy="267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rgbClr val="FFFF00"/>
                </a:solidFill>
              </a:rPr>
              <a:t>Bit</a:t>
            </a:r>
            <a:endParaRPr lang="en-US" altLang="en-GB" b="1">
              <a:solidFill>
                <a:srgbClr val="FFFF00"/>
              </a:solidFill>
            </a:endParaRPr>
          </a:p>
          <a:p>
            <a:endParaRPr lang="en-US" altLang="en-GB"/>
          </a:p>
          <a:p>
            <a:r>
              <a:rPr lang="en-US" altLang="en-GB">
                <a:solidFill>
                  <a:schemeClr val="bg1"/>
                </a:solidFill>
              </a:rPr>
              <a:t>A single binary digit.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Examples: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0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1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/>
          </a:p>
          <a:p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816725" y="255905"/>
            <a:ext cx="230695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FF00"/>
                </a:solidFill>
                <a:sym typeface="+mn-ea"/>
              </a:rPr>
              <a:t>Byte</a:t>
            </a:r>
            <a:endParaRPr lang="en-US" altLang="en-GB" b="1">
              <a:solidFill>
                <a:srgbClr val="FFFF00"/>
              </a:solidFill>
            </a:endParaRPr>
          </a:p>
          <a:p>
            <a:endParaRPr lang="en-US" altLang="en-GB"/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8 bits together.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Example: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11001010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1 Byte = 8 Bits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224155" y="4694555"/>
            <a:ext cx="6434455" cy="1943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rgbClr val="FFFF00"/>
                </a:solidFill>
              </a:rPr>
              <a:t>Why Are Bytes Important? </a:t>
            </a:r>
            <a:endParaRPr lang="en-US" altLang="en-GB" b="1">
              <a:solidFill>
                <a:srgbClr val="FFFF00"/>
              </a:solidFill>
            </a:endParaRPr>
          </a:p>
          <a:p>
            <a:r>
              <a:rPr lang="en-US" altLang="en-GB" b="1">
                <a:solidFill>
                  <a:srgbClr val="FFFF00"/>
                </a:solidFill>
              </a:rPr>
              <a:t>Computers measure storage using bytes.</a:t>
            </a:r>
            <a:endParaRPr lang="en-US" altLang="en-GB" b="1">
              <a:solidFill>
                <a:srgbClr val="FFFF00"/>
              </a:solidFill>
            </a:endParaRPr>
          </a:p>
          <a:p>
            <a:r>
              <a:rPr lang="en-US" altLang="en-GB" b="1">
                <a:solidFill>
                  <a:srgbClr val="FFFF00"/>
                </a:solidFill>
              </a:rPr>
              <a:t>Examples:</a:t>
            </a:r>
            <a:endParaRPr lang="en-US" altLang="en-GB" b="1">
              <a:solidFill>
                <a:srgbClr val="FFFF00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1 Byte = 8 bits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1 Kilobyte (KB) ≈ 1,024 bytes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1 Megabyte (MB) ≈ 1,024 KB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1 Gigabyte (GB) ≈ 1,024 MB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123680" y="604520"/>
            <a:ext cx="12598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FF00"/>
                </a:solidFill>
                <a:sym typeface="+mn-ea"/>
              </a:rPr>
              <a:t>Nibble</a:t>
            </a:r>
            <a:endParaRPr lang="en-US" altLang="en-GB" b="1">
              <a:solidFill>
                <a:srgbClr val="FFFF00"/>
              </a:solidFill>
            </a:endParaRPr>
          </a:p>
          <a:p>
            <a:endParaRPr lang="en-US" altLang="en-GB"/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4 bits.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Example: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1010</a:t>
            </a:r>
            <a:endParaRPr lang="en-US" altLang="en-GB">
              <a:solidFill>
                <a:schemeClr val="bg1"/>
              </a:solidFill>
            </a:endParaRPr>
          </a:p>
          <a:p>
            <a:endParaRPr lang="en-GB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4632325" y="3853180"/>
            <a:ext cx="3291205" cy="2873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rgbClr val="FFFF00"/>
                </a:solidFill>
              </a:rPr>
              <a:t>5. What Can One Byte Store?</a:t>
            </a:r>
            <a:endParaRPr lang="en-US" altLang="en-GB">
              <a:solidFill>
                <a:srgbClr val="FFFF00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One byte can represent: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A letter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A number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A symbol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/>
          </a:p>
          <a:p>
            <a:endParaRPr lang="en-US" altLang="en-GB"/>
          </a:p>
        </p:txBody>
      </p:sp>
      <p:sp>
        <p:nvSpPr>
          <p:cNvPr id="18" name="Text Box 17"/>
          <p:cNvSpPr txBox="1"/>
          <p:nvPr/>
        </p:nvSpPr>
        <p:spPr>
          <a:xfrm>
            <a:off x="8249920" y="3853180"/>
            <a:ext cx="3322320" cy="2628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rgbClr val="FFFF00"/>
                </a:solidFill>
                <a:sym typeface="+mn-ea"/>
              </a:rPr>
              <a:t>For example:</a:t>
            </a:r>
            <a:endParaRPr lang="en-US" altLang="en-GB">
              <a:solidFill>
                <a:srgbClr val="FFFF00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Character	Binary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A	01000001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B	01000010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C	01000011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The computer stores letters as binary numbers.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116205" y="175895"/>
            <a:ext cx="3248660" cy="4384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600" b="1">
                <a:solidFill>
                  <a:srgbClr val="FFFF00"/>
                </a:solidFill>
              </a:rPr>
              <a:t>Relationship Between Binary and Octal</a:t>
            </a:r>
            <a:endParaRPr lang="en-US" altLang="en-GB" sz="2600" b="1"/>
          </a:p>
          <a:p>
            <a:endParaRPr lang="en-US" altLang="en-GB"/>
          </a:p>
          <a:p>
            <a:r>
              <a:rPr lang="en-US" altLang="en-GB" b="1">
                <a:solidFill>
                  <a:schemeClr val="bg1"/>
                </a:solidFill>
              </a:rPr>
              <a:t>Every 3 binary bits = 1 octal digit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Binary	Octal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000	0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001	1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010	2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011	3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100	4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101	5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110	6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111	7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This table is very important.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989320" y="175895"/>
            <a:ext cx="5421630" cy="2240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600">
                <a:solidFill>
                  <a:srgbClr val="FFFF00"/>
                </a:solidFill>
              </a:rPr>
              <a:t>Summary</a:t>
            </a:r>
            <a:endParaRPr lang="en-US" altLang="en-GB" sz="2600">
              <a:solidFill>
                <a:srgbClr val="FFFF00"/>
              </a:solidFill>
            </a:endParaRPr>
          </a:p>
          <a:p>
            <a:endParaRPr lang="en-US" altLang="en-GB"/>
          </a:p>
          <a:p>
            <a:r>
              <a:rPr lang="en-US" altLang="en-GB" b="1">
                <a:solidFill>
                  <a:schemeClr val="bg1"/>
                </a:solidFill>
              </a:rPr>
              <a:t>Conversion	Method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Binary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Octal	Group bits into 3s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Octal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Binary	Replace each digit with 3 bits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Decimal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Octal	Repeated division by 8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Octal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Decimal	Multiply by powers of 8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364865" y="3307080"/>
            <a:ext cx="4093210" cy="2634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 </a:t>
            </a:r>
            <a:r>
              <a:rPr lang="en-US" altLang="en-GB" b="1">
                <a:solidFill>
                  <a:schemeClr val="bg1"/>
                </a:solidFill>
              </a:rPr>
              <a:t>UNIX/Linux File Permissions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Octal is widely used for file permissions.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Permission	Binary	  Octal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Read (r)	                  100	     4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Write (w)	                  010	     2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Execute (x)	001	     1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808595" y="2995930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en-GB"/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Examples: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755 </a:t>
            </a:r>
            <a:r>
              <a:rPr lang="en-US" altLang="en-US" b="1">
                <a:solidFill>
                  <a:schemeClr val="bg1"/>
                </a:solidFill>
                <a:sym typeface="+mn-ea"/>
              </a:rPr>
              <a:t>→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 rwxr-xr-x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644 </a:t>
            </a:r>
            <a:r>
              <a:rPr lang="en-US" altLang="en-US" b="1">
                <a:solidFill>
                  <a:schemeClr val="bg1"/>
                </a:solidFill>
                <a:sym typeface="+mn-ea"/>
              </a:rPr>
              <a:t>→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 rw-r--r--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777 </a:t>
            </a:r>
            <a:r>
              <a:rPr lang="en-US" altLang="en-US" b="1">
                <a:solidFill>
                  <a:schemeClr val="bg1"/>
                </a:solidFill>
                <a:sym typeface="+mn-ea"/>
              </a:rPr>
              <a:t>→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 rwxrwxrwx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System administrators use these values frequently.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668135" y="594169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FF00"/>
                </a:solidFill>
              </a:rPr>
              <a:t>7 = 4+2+1 = full access</a:t>
            </a:r>
            <a:endParaRPr lang="en-US" altLang="en-GB" b="1">
              <a:solidFill>
                <a:srgbClr val="FFFF00"/>
              </a:solidFill>
            </a:endParaRPr>
          </a:p>
          <a:p>
            <a:r>
              <a:rPr lang="en-US" altLang="en-GB" b="1">
                <a:solidFill>
                  <a:srgbClr val="FFFF00"/>
                </a:solidFill>
              </a:rPr>
              <a:t>5 = 4+1 = read + execute</a:t>
            </a:r>
            <a:endParaRPr lang="en-US" altLang="en-GB" b="1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5" name="Picture 4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11363325" y="5998845"/>
            <a:ext cx="807085" cy="8591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68275" y="342265"/>
            <a:ext cx="6153785" cy="638683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ct val="60000"/>
              </a:spcAft>
            </a:pPr>
            <a:r>
              <a:rPr lang="en-US" altLang="zh-CN" sz="2800" b="1">
                <a:solidFill>
                  <a:srgbClr val="FFFF00"/>
                </a:solidFill>
              </a:rPr>
              <a:t>         1. Binary to Octal Conversion</a:t>
            </a:r>
            <a:endParaRPr lang="en-US" altLang="zh-CN" sz="2800" b="1">
              <a:solidFill>
                <a:srgbClr val="FFFF00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zh-CN" sz="2200" b="1">
                <a:solidFill>
                  <a:schemeClr val="bg1"/>
                </a:solidFill>
              </a:rPr>
              <a:t>Example:</a:t>
            </a:r>
            <a:endParaRPr lang="en-US" altLang="zh-CN" sz="2200" b="1">
              <a:solidFill>
                <a:schemeClr val="bg1"/>
              </a:solidFill>
            </a:endParaRPr>
          </a:p>
          <a:p>
            <a:r>
              <a:rPr lang="en-US" altLang="zh-CN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Convert</a:t>
            </a:r>
            <a:r>
              <a:rPr lang="en-US" altLang="zh-CN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</a:rPr>
              <a:t>101</a:t>
            </a:r>
            <a:r>
              <a:rPr lang="en-US" altLang="zh-CN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110</a:t>
            </a:r>
            <a:r>
              <a:rPr lang="en-US" altLang="zh-CN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₂ to octal.</a:t>
            </a:r>
            <a:endParaRPr lang="en-US" altLang="zh-CN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spcAft>
                <a:spcPct val="60000"/>
              </a:spcAft>
            </a:pPr>
            <a:r>
              <a:rPr lang="en-US" altLang="zh-CN" sz="2200">
                <a:solidFill>
                  <a:schemeClr val="bg1"/>
                </a:solidFill>
              </a:rPr>
              <a:t>Step 1: Group the bits into threes from right to left</a:t>
            </a:r>
            <a:endParaRPr lang="en-US" altLang="zh-CN" sz="22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zh-CN" sz="2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sym typeface="+mn-ea"/>
              </a:rPr>
              <a:t>101</a:t>
            </a:r>
            <a:r>
              <a:rPr lang="en-US" altLang="zh-CN" sz="2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110</a:t>
            </a:r>
            <a:endParaRPr lang="en-US" altLang="zh-CN" sz="2200">
              <a:solidFill>
                <a:schemeClr val="bg1"/>
              </a:solidFill>
            </a:endParaRPr>
          </a:p>
          <a:p>
            <a:pPr>
              <a:spcAft>
                <a:spcPct val="60000"/>
              </a:spcAft>
            </a:pPr>
            <a:r>
              <a:rPr lang="en-US" altLang="zh-CN" sz="2200">
                <a:solidFill>
                  <a:schemeClr val="bg1"/>
                </a:solidFill>
              </a:rPr>
              <a:t>Step 2: Convert each group</a:t>
            </a:r>
            <a:endParaRPr lang="en-US" altLang="zh-CN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4 + 0 +1 = 5</a:t>
            </a:r>
            <a:endParaRPr lang="en-US" altLang="zh-CN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4 + 2 + 0 = 6</a:t>
            </a:r>
            <a:endParaRPr lang="en-US" altLang="zh-CN" sz="1600">
              <a:solidFill>
                <a:schemeClr val="bg1"/>
              </a:solidFill>
            </a:endParaRPr>
          </a:p>
          <a:p>
            <a:endParaRPr lang="en-US" altLang="zh-CN" sz="1600">
              <a:solidFill>
                <a:schemeClr val="bg1"/>
              </a:solidFill>
            </a:endParaRPr>
          </a:p>
          <a:p>
            <a:r>
              <a:rPr lang="en-US" altLang="zh-CN" sz="1600" b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56</a:t>
            </a:r>
            <a:r>
              <a:rPr lang="en-US" altLang="en-US" sz="1600" b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₈</a:t>
            </a:r>
            <a:r>
              <a:rPr lang="en-US" altLang="en-GB" sz="1600" b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 </a:t>
            </a:r>
            <a:endParaRPr lang="en-US" altLang="en-GB" sz="1600" b="1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  <a:sym typeface="+mn-ea"/>
            </a:endParaRPr>
          </a:p>
          <a:p>
            <a:endParaRPr lang="en-US" altLang="zh-CN" sz="1600" b="1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altLang="en-GB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2. 1</a:t>
            </a:r>
            <a:r>
              <a:rPr lang="en-US" altLang="en-GB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altLang="en-GB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00"/>
                </a:highlight>
                <a:sym typeface="+mn-ea"/>
              </a:rPr>
              <a:t>101</a:t>
            </a:r>
            <a:r>
              <a:rPr lang="en-US" altLang="en-GB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altLang="en-GB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011</a:t>
            </a:r>
            <a:r>
              <a:rPr lang="en-US" altLang="en-GB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</a:t>
            </a:r>
            <a:endParaRPr lang="en-US" altLang="en-GB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en-GB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sz="16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altLang="en-GB" sz="16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sym typeface="+mn-ea"/>
              </a:rPr>
              <a:t>001</a:t>
            </a:r>
            <a:r>
              <a:rPr lang="en-US" altLang="en-GB" sz="16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00"/>
                </a:highlight>
                <a:sym typeface="+mn-ea"/>
              </a:rPr>
              <a:t>101</a:t>
            </a:r>
            <a:r>
              <a:rPr lang="en-US" altLang="en-GB" sz="16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altLang="en-GB" sz="16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011</a:t>
            </a:r>
            <a:r>
              <a:rPr lang="en-US" altLang="en-GB" sz="16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</a:t>
            </a:r>
            <a:endParaRPr lang="en-US" altLang="en-GB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zh-CN" sz="1600" b="1">
                <a:solidFill>
                  <a:schemeClr val="bg1"/>
                </a:solidFill>
                <a:sym typeface="+mn-ea"/>
              </a:rPr>
              <a:t>   011 = 3</a:t>
            </a:r>
            <a:endParaRPr lang="en-US" altLang="zh-CN" sz="1600" b="1">
              <a:solidFill>
                <a:schemeClr val="bg1"/>
              </a:solidFill>
              <a:sym typeface="+mn-ea"/>
            </a:endParaRPr>
          </a:p>
          <a:p>
            <a:r>
              <a:rPr lang="en-US" altLang="zh-CN" sz="1600" b="1">
                <a:solidFill>
                  <a:schemeClr val="bg1"/>
                </a:solidFill>
                <a:sym typeface="+mn-ea"/>
              </a:rPr>
              <a:t>101 = 5</a:t>
            </a:r>
            <a:endParaRPr lang="en-US" altLang="zh-CN" sz="1600" b="1">
              <a:solidFill>
                <a:schemeClr val="bg1"/>
              </a:solidFill>
              <a:sym typeface="+mn-ea"/>
            </a:endParaRPr>
          </a:p>
          <a:p>
            <a:r>
              <a:rPr lang="en-US" altLang="zh-CN" sz="1600" b="1">
                <a:solidFill>
                  <a:schemeClr val="bg1"/>
                </a:solidFill>
                <a:sym typeface="+mn-ea"/>
              </a:rPr>
              <a:t>001 = 1       </a:t>
            </a:r>
            <a:r>
              <a:rPr lang="en-US" altLang="zh-CN" sz="1600" b="1">
                <a:solidFill>
                  <a:schemeClr val="bg1"/>
                </a:solidFill>
                <a:highlight>
                  <a:srgbClr val="008000"/>
                </a:highlight>
                <a:sym typeface="+mn-ea"/>
              </a:rPr>
              <a:t>153</a:t>
            </a:r>
            <a:r>
              <a:rPr lang="en-US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8000"/>
                </a:highlight>
                <a:sym typeface="+mn-ea"/>
              </a:rPr>
              <a:t>₈</a:t>
            </a:r>
            <a:r>
              <a:rPr lang="en-US" altLang="en-GB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8000"/>
                </a:highlight>
                <a:sym typeface="+mn-ea"/>
              </a:rPr>
              <a:t> </a:t>
            </a:r>
            <a:endParaRPr lang="en-US" altLang="zh-CN" sz="1600" b="1">
              <a:solidFill>
                <a:schemeClr val="bg1"/>
              </a:solidFill>
              <a:sym typeface="+mn-ea"/>
            </a:endParaRPr>
          </a:p>
          <a:p>
            <a:endParaRPr lang="en-US" altLang="zh-CN" sz="1600" b="1">
              <a:solidFill>
                <a:schemeClr val="bg1"/>
              </a:solidFill>
              <a:sym typeface="+mn-ea"/>
            </a:endParaRPr>
          </a:p>
          <a:p>
            <a:endParaRPr lang="en-US" altLang="zh-CN" sz="1600" b="1">
              <a:solidFill>
                <a:schemeClr val="bg1"/>
              </a:solidFill>
              <a:sym typeface="+mn-ea"/>
            </a:endParaRPr>
          </a:p>
          <a:p>
            <a:endParaRPr lang="en-US" altLang="zh-CN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zh-CN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zh-CN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zh-CN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zh-CN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zh-CN" sz="1600" b="1">
                <a:solidFill>
                  <a:schemeClr val="bg1"/>
                </a:solidFill>
                <a:sym typeface="+mn-ea"/>
              </a:rPr>
              <a:t>  4 2  1</a:t>
            </a:r>
            <a:endParaRPr lang="en-US" altLang="en-GB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en-GB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525645" y="213360"/>
            <a:ext cx="4064000" cy="577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 b="1">
                <a:solidFill>
                  <a:srgbClr val="FFFF00"/>
                </a:solidFill>
                <a:sym typeface="+mn-ea"/>
              </a:rPr>
              <a:t>LIVE DEMO</a:t>
            </a:r>
            <a:endParaRPr lang="en-US" altLang="zh-CN" sz="2800" b="1">
              <a:solidFill>
                <a:srgbClr val="FFFF00"/>
              </a:solidFill>
            </a:endParaRPr>
          </a:p>
          <a:p>
            <a:pPr algn="ctr"/>
            <a:endParaRPr lang="en-GB" altLang="en-US" sz="2800" b="1"/>
          </a:p>
        </p:txBody>
      </p:sp>
      <p:cxnSp>
        <p:nvCxnSpPr>
          <p:cNvPr id="7" name="Straight Connector 6"/>
          <p:cNvCxnSpPr/>
          <p:nvPr/>
        </p:nvCxnSpPr>
        <p:spPr>
          <a:xfrm>
            <a:off x="6322060" y="791210"/>
            <a:ext cx="74930" cy="593788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6322060" y="948690"/>
            <a:ext cx="5773420" cy="5471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800" b="1">
                <a:solidFill>
                  <a:srgbClr val="FFFF00"/>
                </a:solidFill>
                <a:sym typeface="+mn-ea"/>
              </a:rPr>
              <a:t>2. Octal to Binary Conversion</a:t>
            </a:r>
            <a:endParaRPr lang="en-US" altLang="en-GB" sz="2800" b="1">
              <a:solidFill>
                <a:srgbClr val="FFFF00"/>
              </a:solidFill>
            </a:endParaRPr>
          </a:p>
          <a:p>
            <a:endParaRPr lang="en-US" altLang="en-GB"/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Replace each octal digit with its 3-bit binary equivalent.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Example: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3. Convert 625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₈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to binary.    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6 = 110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 = 010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5 = 101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Combine them:  </a:t>
            </a:r>
            <a:r>
              <a:rPr lang="en-US" altLang="en-GB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sym typeface="+mn-ea"/>
              </a:rPr>
              <a:t>110</a:t>
            </a:r>
            <a:r>
              <a:rPr lang="en-US" altLang="en-GB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010</a:t>
            </a:r>
            <a:r>
              <a:rPr lang="en-US" altLang="en-GB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FF"/>
                </a:highlight>
                <a:sym typeface="+mn-ea"/>
              </a:rPr>
              <a:t>101</a:t>
            </a:r>
            <a:r>
              <a:rPr lang="en-US" altLang="zh-CN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sym typeface="+mn-ea"/>
              </a:rPr>
              <a:t>₂ </a:t>
            </a:r>
            <a:endParaRPr lang="en-US" altLang="en-GB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en-GB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4. Convert 03</a:t>
            </a:r>
            <a:r>
              <a:rPr lang="en-US" altLang="en-US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₈</a:t>
            </a:r>
            <a:r>
              <a:rPr lang="en-US" altLang="en-GB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to binary</a:t>
            </a:r>
            <a:endParaRPr lang="en-US" altLang="en-GB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0 = 000</a:t>
            </a:r>
            <a:endParaRPr lang="en-US" altLang="en-GB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3 = 011</a:t>
            </a:r>
            <a:endParaRPr lang="en-US" altLang="en-GB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000</a:t>
            </a:r>
            <a:r>
              <a:rPr lang="en-US" altLang="en-GB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FF"/>
                </a:highlight>
                <a:sym typeface="+mn-ea"/>
              </a:rPr>
              <a:t>011</a:t>
            </a:r>
            <a:r>
              <a:rPr lang="en-US" altLang="zh-CN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FF"/>
                </a:highlight>
                <a:sym typeface="+mn-ea"/>
              </a:rPr>
              <a:t>₂ </a:t>
            </a:r>
            <a:endParaRPr lang="en-US" altLang="en-GB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00FF"/>
              </a:highlight>
              <a:sym typeface="+mn-ea"/>
            </a:endParaRPr>
          </a:p>
          <a:p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5405" y="71120"/>
            <a:ext cx="4168775" cy="5290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GB"/>
          </a:p>
          <a:p>
            <a:endParaRPr lang="en-US" altLang="en-GB"/>
          </a:p>
        </p:txBody>
      </p:sp>
      <p:sp>
        <p:nvSpPr>
          <p:cNvPr id="3" name="Text Box 2"/>
          <p:cNvSpPr txBox="1"/>
          <p:nvPr/>
        </p:nvSpPr>
        <p:spPr>
          <a:xfrm>
            <a:off x="0" y="0"/>
            <a:ext cx="4327525" cy="5277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600" b="1">
                <a:solidFill>
                  <a:srgbClr val="FFFF00"/>
                </a:solidFill>
              </a:rPr>
              <a:t>3. Decimal to Octal Conversion</a:t>
            </a:r>
            <a:endParaRPr lang="en-US" altLang="en-GB"/>
          </a:p>
          <a:p>
            <a:r>
              <a:rPr lang="en-US" altLang="en-GB" b="1">
                <a:solidFill>
                  <a:schemeClr val="bg1"/>
                </a:solidFill>
              </a:rPr>
              <a:t>Use repeated division by 8.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Example: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Convert </a:t>
            </a:r>
            <a:r>
              <a:rPr lang="en-US" altLang="en-GB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83</a:t>
            </a:r>
            <a:r>
              <a:rPr lang="en-US" altLang="en-US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₁₀</a:t>
            </a:r>
            <a:r>
              <a:rPr lang="en-US" altLang="en-GB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octal.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rgbClr val="FFFF00"/>
                </a:solidFill>
              </a:rPr>
              <a:t>Division	Quotient	Remainder</a:t>
            </a:r>
            <a:endParaRPr lang="en-US" altLang="en-GB" b="1">
              <a:solidFill>
                <a:srgbClr val="FFFF00"/>
              </a:solidFill>
            </a:endParaRPr>
          </a:p>
          <a:p>
            <a:endParaRPr lang="en-US" altLang="en-GB" b="1">
              <a:solidFill>
                <a:srgbClr val="FFFF00"/>
              </a:solidFill>
            </a:endParaRPr>
          </a:p>
          <a:p>
            <a:endParaRPr lang="en-US" altLang="en-GB" b="1">
              <a:solidFill>
                <a:srgbClr val="FFFF00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tx1"/>
                </a:solidFill>
                <a:highlight>
                  <a:srgbClr val="FFFF00"/>
                </a:highlight>
              </a:rPr>
              <a:t>  123</a:t>
            </a:r>
            <a:r>
              <a:rPr lang="en-US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₈</a:t>
            </a:r>
            <a:endParaRPr lang="en-US" altLang="en-GB" b="1">
              <a:solidFill>
                <a:schemeClr val="tx1"/>
              </a:solidFill>
              <a:highlight>
                <a:srgbClr val="FFFF00"/>
              </a:highlight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Read the remainders from bottom upward: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Therefore,</a:t>
            </a:r>
            <a:r>
              <a:rPr lang="en-US" altLang="en-GB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altLang="en-GB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83</a:t>
            </a:r>
            <a:r>
              <a:rPr lang="en-US" altLang="en-US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₁₀</a:t>
            </a:r>
            <a:r>
              <a:rPr lang="en-US" altLang="en-GB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= </a:t>
            </a:r>
            <a:r>
              <a:rPr lang="en-US" altLang="en-GB" b="1">
                <a:highlight>
                  <a:srgbClr val="FFFF00"/>
                </a:highlight>
                <a:sym typeface="+mn-ea"/>
              </a:rPr>
              <a:t>  123</a:t>
            </a:r>
            <a:r>
              <a:rPr lang="en-US" altLang="en-US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₈</a:t>
            </a:r>
            <a:endParaRPr lang="en-US" altLang="en-GB" b="1">
              <a:solidFill>
                <a:schemeClr val="tx1"/>
              </a:solidFill>
              <a:highlight>
                <a:srgbClr val="FFFF00"/>
              </a:highlight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Convert </a:t>
            </a:r>
            <a:r>
              <a:rPr lang="en-US" altLang="en-GB" b="1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n-US" altLang="en-US" b="1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₁₀</a:t>
            </a:r>
            <a:r>
              <a:rPr lang="en-US" altLang="en-GB" b="1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en-GB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octal  </a:t>
            </a:r>
            <a:endParaRPr lang="en-US" altLang="en-GB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 5&lt;8 = </a:t>
            </a:r>
            <a:r>
              <a:rPr lang="en-US" altLang="en-GB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FF"/>
                </a:highlight>
              </a:rPr>
              <a:t> </a:t>
            </a:r>
            <a:r>
              <a:rPr lang="en-US" altLang="en-GB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FF"/>
                </a:highlight>
                <a:sym typeface="+mn-ea"/>
              </a:rPr>
              <a:t>5</a:t>
            </a:r>
            <a:r>
              <a:rPr lang="en-US" altLang="en-US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FF"/>
                </a:highlight>
                <a:sym typeface="+mn-ea"/>
              </a:rPr>
              <a:t>₈</a:t>
            </a:r>
            <a:endParaRPr lang="en-US" altLang="en-GB" b="1">
              <a:solidFill>
                <a:schemeClr val="tx1"/>
              </a:solidFill>
              <a:highlight>
                <a:srgbClr val="FF00FF"/>
              </a:highlight>
            </a:endParaRPr>
          </a:p>
          <a:p>
            <a:endParaRPr lang="en-US" altLang="en-GB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 b="1"/>
              <a:t>Convert </a:t>
            </a:r>
            <a:r>
              <a:rPr lang="en-US" altLang="en-GB" b="1">
                <a:solidFill>
                  <a:srgbClr val="FFFF00"/>
                </a:solidFill>
              </a:rPr>
              <a:t>0</a:t>
            </a:r>
            <a:r>
              <a:rPr lang="en-US" altLang="en-US" b="1">
                <a:solidFill>
                  <a:srgbClr val="FFFF00"/>
                </a:solidFill>
              </a:rPr>
              <a:t>₁₀</a:t>
            </a:r>
            <a:r>
              <a:rPr lang="en-US" altLang="en-GB" b="1">
                <a:solidFill>
                  <a:srgbClr val="FFFF00"/>
                </a:solidFill>
              </a:rPr>
              <a:t> </a:t>
            </a:r>
            <a:r>
              <a:rPr lang="en-US" altLang="en-GB" b="1"/>
              <a:t>to octal.</a:t>
            </a:r>
            <a:endParaRPr lang="en-US" altLang="en-GB" b="1"/>
          </a:p>
          <a:p>
            <a:r>
              <a:rPr lang="en-US" altLang="en-GB" b="1">
                <a:highlight>
                  <a:srgbClr val="FF0000"/>
                </a:highlight>
              </a:rPr>
              <a:t>0</a:t>
            </a:r>
            <a:r>
              <a:rPr lang="en-US" altLang="en-US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00"/>
                </a:highlight>
                <a:sym typeface="+mn-ea"/>
              </a:rPr>
              <a:t>₈</a:t>
            </a:r>
            <a:endParaRPr lang="en-US" altLang="en-GB" b="1">
              <a:solidFill>
                <a:schemeClr val="tx1"/>
              </a:solidFill>
              <a:highlight>
                <a:srgbClr val="FF0000"/>
              </a:highlight>
            </a:endParaRPr>
          </a:p>
          <a:p>
            <a:endParaRPr lang="en-US" altLang="en-GB" b="1">
              <a:solidFill>
                <a:schemeClr val="tx1"/>
              </a:solidFill>
              <a:highlight>
                <a:srgbClr val="FF0000"/>
              </a:highligh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836160" y="71120"/>
            <a:ext cx="7260590" cy="2284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600" b="1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 Octal to Decimal Conversion</a:t>
            </a:r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Multiply each digit by powers of 8.</a:t>
            </a:r>
            <a:endParaRPr lang="en-US" altLang="en-GB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Example:</a:t>
            </a:r>
            <a:endParaRPr lang="en-US" altLang="en-GB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Convert</a:t>
            </a:r>
            <a:r>
              <a:rPr lang="en-US" altLang="en-GB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en-GB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345</a:t>
            </a:r>
            <a:r>
              <a:rPr lang="en-US" altLang="en-US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₈</a:t>
            </a:r>
            <a:r>
              <a:rPr lang="en-US" altLang="en-GB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decimal.</a:t>
            </a:r>
            <a:endParaRPr lang="en-US" altLang="en-GB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FF"/>
                </a:highlight>
              </a:rPr>
              <a:t>3 X 64 + 4 X 8 + 5 X1  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00FF"/>
              </a:highlight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FF"/>
                </a:highlight>
              </a:rPr>
              <a:t>192 + 32 + 5</a:t>
            </a:r>
            <a:r>
              <a:rPr lang="en-US" altLang="en-GB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FF"/>
                </a:highlight>
              </a:rPr>
              <a:t> =</a:t>
            </a:r>
            <a:r>
              <a:rPr lang="en-US" altLang="en-GB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en-GB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00"/>
                </a:highlight>
              </a:rPr>
              <a:t>229</a:t>
            </a:r>
            <a:r>
              <a:rPr lang="en-US" altLang="en-US" b="1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00"/>
                </a:highlight>
                <a:sym typeface="+mn-ea"/>
              </a:rPr>
              <a:t>₁₀</a:t>
            </a:r>
            <a:r>
              <a:rPr lang="en-US" altLang="en-GB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172720" y="1965960"/>
          <a:ext cx="225361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205"/>
                <a:gridCol w="751205"/>
                <a:gridCol w="75120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8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83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RM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8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3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8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2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4836160" y="2280920"/>
            <a:ext cx="7261225" cy="446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rgbClr val="92D050"/>
                </a:solidFill>
                <a:sym typeface="+mn-ea"/>
              </a:rPr>
              <a:t>1. 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Explioting authomatic decoding  e.g  \141\142\143 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→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 “abc” 97 IN ASCII is a  98 is b and 99 is c 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Application (</a:t>
            </a:r>
            <a:r>
              <a:rPr lang="en-US" altLang="en-GB" b="1">
                <a:solidFill>
                  <a:schemeClr val="tx1"/>
                </a:solidFill>
                <a:sym typeface="+mn-ea"/>
              </a:rPr>
              <a:t>&lt;</a:t>
            </a:r>
            <a:r>
              <a:rPr lang="en-US" altLang="en-GB" b="1">
                <a:solidFill>
                  <a:srgbClr val="FFC000"/>
                </a:solidFill>
                <a:sym typeface="+mn-ea"/>
              </a:rPr>
              <a:t>Script</a:t>
            </a:r>
            <a:r>
              <a:rPr lang="en-US" altLang="en-GB" b="1">
                <a:solidFill>
                  <a:schemeClr val="tx1"/>
                </a:solidFill>
                <a:sym typeface="+mn-ea"/>
              </a:rPr>
              <a:t>&gt;alert(“</a:t>
            </a:r>
            <a:r>
              <a:rPr lang="en-US" altLang="en-GB" b="1">
                <a:solidFill>
                  <a:srgbClr val="92D050"/>
                </a:solidFill>
                <a:sym typeface="+mn-ea"/>
              </a:rPr>
              <a:t>Hacked</a:t>
            </a:r>
            <a:r>
              <a:rPr lang="en-US" altLang="en-GB" b="1">
                <a:solidFill>
                  <a:schemeClr val="tx1"/>
                </a:solidFill>
                <a:sym typeface="+mn-ea"/>
              </a:rPr>
              <a:t>”)&lt;/</a:t>
            </a:r>
            <a:r>
              <a:rPr lang="en-US" altLang="en-GB" b="1">
                <a:solidFill>
                  <a:srgbClr val="FFC000"/>
                </a:solidFill>
                <a:sym typeface="+mn-ea"/>
              </a:rPr>
              <a:t>script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&gt;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Octal Obfuscated attacker swaps alert for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a = \141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l = \154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r = \162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t = \164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rgbClr val="FF0000"/>
                </a:solidFill>
                <a:sym typeface="+mn-ea"/>
              </a:rPr>
              <a:t>window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[‘</a:t>
            </a:r>
            <a:r>
              <a:rPr lang="en-US" altLang="en-GB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\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141</a:t>
            </a:r>
            <a:r>
              <a:rPr lang="en-US" altLang="en-GB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\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154\145</a:t>
            </a:r>
            <a:r>
              <a:rPr lang="en-US" altLang="en-GB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\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162</a:t>
            </a:r>
            <a:r>
              <a:rPr lang="en-US" altLang="en-GB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\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164’]</a:t>
            </a:r>
            <a:r>
              <a:rPr lang="en-US" altLang="en-GB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(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“</a:t>
            </a:r>
            <a:r>
              <a:rPr lang="en-US" altLang="en-GB" b="1">
                <a:solidFill>
                  <a:schemeClr val="accent1">
                    <a:lumMod val="75000"/>
                  </a:schemeClr>
                </a:solidFill>
                <a:sym typeface="+mn-ea"/>
              </a:rPr>
              <a:t>Hacked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”</a:t>
            </a:r>
            <a:r>
              <a:rPr lang="en-US" altLang="en-GB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)</a:t>
            </a:r>
            <a:endParaRPr lang="en-US" altLang="en-GB" b="1">
              <a:solidFill>
                <a:schemeClr val="tx1"/>
              </a:solidFill>
              <a:sym typeface="+mn-ea"/>
            </a:endParaRPr>
          </a:p>
          <a:p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rgbClr val="92D050"/>
                </a:solidFill>
                <a:sym typeface="+mn-ea"/>
              </a:rPr>
              <a:t>2.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 Bypassing  </a:t>
            </a:r>
            <a:r>
              <a:rPr lang="en-US" altLang="en-GB" b="1">
                <a:solidFill>
                  <a:srgbClr val="FFFF00"/>
                </a:solidFill>
                <a:sym typeface="+mn-ea"/>
              </a:rPr>
              <a:t>signature-Based Detection  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e.g (\163\171\163\164\145\155)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rgbClr val="92D050"/>
                </a:solidFill>
                <a:sym typeface="+mn-ea"/>
              </a:rPr>
              <a:t>3.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 Masking IP Addresses in Phishing and Malware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Standard IPv4 address like (192.168.1.1)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Normal URL: 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http:</a:t>
            </a:r>
            <a:r>
              <a:rPr lang="en-US" altLang="en-GB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//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216.58.216.164</a:t>
            </a:r>
            <a:endParaRPr lang="en-US" altLang="en-GB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Octal Obfuscated URL: 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http:</a:t>
            </a:r>
            <a:r>
              <a:rPr lang="en-US" altLang="en-GB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//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0330.0072.0330.0244</a:t>
            </a:r>
            <a:endParaRPr lang="en-US" altLang="en-GB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endParaRPr lang="en-US" altLang="en-GB">
              <a:solidFill>
                <a:schemeClr val="bg1"/>
              </a:solidFill>
              <a:sym typeface="+mn-ea"/>
            </a:endParaRPr>
          </a:p>
          <a:p>
            <a:endParaRPr lang="en-US" altLang="en-GB">
              <a:solidFill>
                <a:schemeClr val="bg1"/>
              </a:solidFill>
              <a:sym typeface="+mn-ea"/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/>
              <a:t> </a:t>
            </a:r>
            <a:endParaRPr lang="en-US" altLang="en-GB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2019300" y="2540000"/>
            <a:ext cx="8255" cy="7600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93345" y="74930"/>
            <a:ext cx="6002020" cy="6731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800" b="1">
                <a:solidFill>
                  <a:srgbClr val="FFFF00"/>
                </a:solidFill>
              </a:rPr>
              <a:t>Fractions</a:t>
            </a:r>
            <a:endParaRPr lang="en-US" altLang="en-GB" sz="2800" b="1">
              <a:solidFill>
                <a:srgbClr val="FFFF00"/>
              </a:solidFill>
            </a:endParaRPr>
          </a:p>
          <a:p>
            <a:endParaRPr lang="en-US" altLang="en-GB"/>
          </a:p>
          <a:p>
            <a:r>
              <a:rPr lang="en-US" altLang="en-GB" b="1">
                <a:solidFill>
                  <a:schemeClr val="bg1"/>
                </a:solidFill>
              </a:rPr>
              <a:t>Fractions are converted using multiplication by 8, not division.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rgbClr val="FFFF00"/>
                </a:solidFill>
              </a:rPr>
              <a:t>Rule for fractions: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Multiply by </a:t>
            </a:r>
            <a:r>
              <a:rPr lang="en-US" altLang="en-GB" b="1">
                <a:solidFill>
                  <a:srgbClr val="FFFF00"/>
                </a:solidFill>
              </a:rPr>
              <a:t>8.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Take the whole number part each time.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Continue with the remaining fraction.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Read the digits from top to bottom.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Example: Convert 0.625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₁₀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octal.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0.625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₁₀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x 8 = 5.000 keep 5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0.000 stop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0.</a:t>
            </a:r>
            <a:r>
              <a:rPr lang="en-US" altLang="en-GB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5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₈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 </a:t>
            </a:r>
            <a:endParaRPr lang="en-US" altLang="zh-CN" b="1">
              <a:solidFill>
                <a:schemeClr val="bg1"/>
              </a:solidFill>
              <a:highlight>
                <a:srgbClr val="FFFF00"/>
              </a:highlight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Convert 0.3125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₁₀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octal.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0.3125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₁₀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x 8  = 2.5 keep 2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0.5 x 8 = 4.00 keep 4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0.00 stop 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0.24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₈</a:t>
            </a:r>
            <a:r>
              <a:rPr lang="en-US" altLang="en-GB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 </a:t>
            </a:r>
            <a:endParaRPr lang="en-US" altLang="zh-CN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FF"/>
              </a:highlight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787640" y="261620"/>
            <a:ext cx="4064000" cy="2766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bg1"/>
                </a:solidFill>
              </a:rPr>
              <a:t>Convert 0.2</a:t>
            </a:r>
            <a:r>
              <a:rPr lang="en-US" altLang="en-US" b="1">
                <a:solidFill>
                  <a:schemeClr val="bg1"/>
                </a:solidFill>
              </a:rPr>
              <a:t>₁₀</a:t>
            </a:r>
            <a:r>
              <a:rPr lang="en-US" altLang="en-GB" b="1">
                <a:solidFill>
                  <a:schemeClr val="bg1"/>
                </a:solidFill>
              </a:rPr>
              <a:t> to octal.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sym typeface="+mn-ea"/>
              </a:rPr>
              <a:t>0.2 x 8 = 1.6 keep 1 </a:t>
            </a:r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FF"/>
              </a:highlight>
              <a:sym typeface="+mn-ea"/>
            </a:endParaRPr>
          </a:p>
          <a:p>
            <a:r>
              <a:rPr lang="en-US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sym typeface="+mn-ea"/>
              </a:rPr>
              <a:t>0.6 x 8 = 4.8 keep 4</a:t>
            </a:r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FF"/>
              </a:highlight>
              <a:sym typeface="+mn-ea"/>
            </a:endParaRPr>
          </a:p>
          <a:p>
            <a:r>
              <a:rPr lang="en-US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sym typeface="+mn-ea"/>
              </a:rPr>
              <a:t>0.8 x 8 = 6.4 keep 6</a:t>
            </a:r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FF"/>
              </a:highlight>
              <a:sym typeface="+mn-ea"/>
            </a:endParaRPr>
          </a:p>
          <a:p>
            <a:r>
              <a:rPr lang="en-US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sym typeface="+mn-ea"/>
              </a:rPr>
              <a:t>0.4 x 8 = 3.2 keep 3</a:t>
            </a:r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FF"/>
              </a:highlight>
              <a:sym typeface="+mn-ea"/>
            </a:endParaRPr>
          </a:p>
          <a:p>
            <a:r>
              <a:rPr lang="en-US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sym typeface="+mn-ea"/>
              </a:rPr>
              <a:t>0.2 x 8 = 1.6 keep 1</a:t>
            </a:r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FF"/>
              </a:highlight>
              <a:sym typeface="+mn-ea"/>
            </a:endParaRPr>
          </a:p>
          <a:p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FF"/>
              </a:highlight>
              <a:sym typeface="+mn-ea"/>
            </a:endParaRPr>
          </a:p>
          <a:p>
            <a:r>
              <a:rPr lang="en-US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sym typeface="+mn-ea"/>
              </a:rPr>
              <a:t>it loops infinitely</a:t>
            </a:r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FF"/>
              </a:highlight>
              <a:sym typeface="+mn-ea"/>
            </a:endParaRPr>
          </a:p>
          <a:p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FF"/>
              </a:highlight>
              <a:sym typeface="+mn-ea"/>
            </a:endParaRPr>
          </a:p>
          <a:p>
            <a:r>
              <a:rPr lang="en-US" altLang="en-US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0.146314...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₈</a:t>
            </a:r>
            <a:r>
              <a:rPr lang="en-US" altLang="en-GB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 </a:t>
            </a:r>
            <a:endParaRPr lang="en-US" altLang="en-GB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787640" y="4091305"/>
            <a:ext cx="4064635" cy="2089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Convert 83.625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₁₀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octal</a:t>
            </a:r>
            <a:r>
              <a:rPr lang="en-US" altLang="en-GB">
                <a:solidFill>
                  <a:schemeClr val="bg1"/>
                </a:solidFill>
              </a:rPr>
              <a:t>.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 b="1">
                <a:highlight>
                  <a:srgbClr val="FFFF00"/>
                </a:highlight>
                <a:sym typeface="+mn-ea"/>
              </a:rPr>
              <a:t>123</a:t>
            </a:r>
            <a:r>
              <a:rPr lang="en-US" altLang="en-GB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.5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₈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 </a:t>
            </a:r>
            <a:endParaRPr lang="en-US" altLang="zh-CN" b="1">
              <a:solidFill>
                <a:schemeClr val="bg1"/>
              </a:solidFill>
              <a:highlight>
                <a:srgbClr val="FFFF00"/>
              </a:highlight>
              <a:sym typeface="+mn-ea"/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Merge the conversion of the whole number part and the fractional part together.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tx1"/>
              </a:solidFill>
              <a:highlight>
                <a:srgbClr val="FFFF00"/>
              </a:highlight>
            </a:endParaRPr>
          </a:p>
          <a:p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FF"/>
              </a:highlight>
              <a:sym typeface="+mn-ea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9866630" y="702945"/>
            <a:ext cx="17780" cy="1232535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3660" y="313690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Convert 101.101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₂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octal</a:t>
            </a:r>
            <a:r>
              <a:rPr lang="en-US" altLang="en-GB">
                <a:solidFill>
                  <a:schemeClr val="bg1"/>
                </a:solidFill>
              </a:rPr>
              <a:t>.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421 rule 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whole number part 101 = 4 + 0 + 1 = 5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Fractional part 101 = 4 + 0 + 1 = 5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rgbClr val="FF0000"/>
                </a:solidFill>
                <a:highlight>
                  <a:srgbClr val="FFFF00"/>
                </a:highlight>
              </a:rPr>
              <a:t>5.5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₈</a:t>
            </a:r>
            <a:r>
              <a:rPr lang="en-US" altLang="en-GB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 </a:t>
            </a:r>
            <a:endParaRPr lang="en-US" altLang="en-GB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en-US" altLang="en-GB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3660" y="2712085"/>
            <a:ext cx="5471795" cy="2701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Convert 10.11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₂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octal.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whole number 10 padding it  to the left to make it a group of three bits </a:t>
            </a:r>
            <a:r>
              <a:rPr lang="en-US" altLang="en-GB" b="1" u="sng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fractional part padding to the right making it a group of three bits  11 = 11</a:t>
            </a:r>
            <a:r>
              <a:rPr lang="en-US" altLang="en-GB" b="1" u="sng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US" altLang="en-GB" b="1" u="sng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 b="1" u="sng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convert both and merge = </a:t>
            </a:r>
            <a:r>
              <a:rPr lang="en-US" altLang="en-GB" b="1" u="sng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2. 6</a:t>
            </a:r>
            <a:r>
              <a:rPr lang="en-US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₈</a:t>
            </a:r>
            <a:r>
              <a:rPr lang="en-US" altLang="en-GB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sym typeface="+mn-ea"/>
              </a:rPr>
              <a:t> </a:t>
            </a:r>
            <a:endParaRPr lang="en-US" altLang="en-GB" b="1" u="sng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 b="1" u="sng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GB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3660" y="2181225"/>
            <a:ext cx="4191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FF00"/>
                </a:solidFill>
              </a:rPr>
              <a:t>Fraction Group Incomplete</a:t>
            </a:r>
            <a:endParaRPr lang="en-US" altLang="en-GB" b="1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Text Box 11"/>
          <p:cNvSpPr txBox="1"/>
          <p:nvPr/>
        </p:nvSpPr>
        <p:spPr>
          <a:xfrm>
            <a:off x="104775" y="0"/>
            <a:ext cx="6981190" cy="3131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rgbClr val="FFFF00"/>
                </a:solidFill>
              </a:rPr>
              <a:t>Area</a:t>
            </a:r>
            <a:r>
              <a:rPr lang="en-US" altLang="en-GB">
                <a:solidFill>
                  <a:schemeClr val="bg1"/>
                </a:solidFill>
              </a:rPr>
              <a:t>	                                   </a:t>
            </a:r>
            <a:r>
              <a:rPr lang="en-US" altLang="en-GB" b="1">
                <a:solidFill>
                  <a:srgbClr val="FFFF00"/>
                </a:solidFill>
              </a:rPr>
              <a:t>  Uses of Octal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Computer Systems	                   Compact binary representation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UNIX/Linux	                   File permissions (755, 644, 777)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Programming	                  Escape sequences and character encoding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Databases	                  Special characters and legacy scripts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Transaction Logs	                  Permission settings and control codes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Digital Forensics	                  Log analysis and evidence reconstruction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Database Forensics	                  Audit trails and transaction log examination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Malware Analysis	                  Decoding hidden octal values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File System Forensics	Determining access rights and ownership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 b="1">
              <a:solidFill>
                <a:srgbClr val="FFFF00"/>
              </a:solidFill>
            </a:endParaRPr>
          </a:p>
          <a:p>
            <a:r>
              <a:rPr lang="en-US" altLang="en-GB" b="1">
                <a:solidFill>
                  <a:srgbClr val="FFFF00"/>
                </a:solidFill>
              </a:rPr>
              <a:t>OCTAL IN TRANSACTION LOGS</a:t>
            </a:r>
            <a:endParaRPr lang="en-US" altLang="en-GB" b="1">
              <a:solidFill>
                <a:srgbClr val="FFFF00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Used in system-generated logs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Appears in: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backup logs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audit logs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access logs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Helps track: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file access permissions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system operations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user activities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7468235" y="122555"/>
            <a:ext cx="465709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FF00"/>
                </a:solidFill>
              </a:rPr>
              <a:t>OCTAL IN DIGITAL FORENSICS</a:t>
            </a:r>
            <a:endParaRPr lang="en-US" altLang="en-GB" b="1">
              <a:solidFill>
                <a:srgbClr val="FFFF00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Used to analyze evidence in systems: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File permissions (who accessed what)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Hidden or encoded data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System logs and audit trails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Malware using octal encoding to hide data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Example: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\141\142\143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en-GB">
                <a:solidFill>
                  <a:schemeClr val="bg1"/>
                </a:solidFill>
              </a:rPr>
              <a:t> “abc”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3404235" y="3337560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FF00"/>
                </a:solidFill>
              </a:rPr>
              <a:t>DATABASE FORENSICS USE</a:t>
            </a:r>
            <a:endParaRPr lang="en-US" altLang="en-GB" b="1">
              <a:solidFill>
                <a:srgbClr val="FFFF00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Helps investigators: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Reconstruct transaction history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Detect unauthorized access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Analyze audit logs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Identify system manipulation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👉</a:t>
            </a:r>
            <a:r>
              <a:rPr lang="en-US" altLang="en-GB" b="1">
                <a:solidFill>
                  <a:srgbClr val="FF0000"/>
                </a:solidFill>
              </a:rPr>
              <a:t> Critical in cybercrime investigations</a:t>
            </a:r>
            <a:endParaRPr lang="en-US" altLang="en-GB" b="1">
              <a:solidFill>
                <a:srgbClr val="FF0000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7468235" y="4445635"/>
            <a:ext cx="4064000" cy="2058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rgbClr val="FFFF00"/>
                </a:solidFill>
              </a:rPr>
              <a:t>KEY TAKEAWAY</a:t>
            </a:r>
            <a:endParaRPr lang="en-US" altLang="en-GB" b="1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Octal = simplified binary system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Very important in system-level computing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Still used in permissions and logs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Valuable in cybersecurity and forensics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Helps trace digital activity and evidence</a:t>
            </a:r>
            <a:endParaRPr lang="en-US" altLang="en-GB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37795" y="162560"/>
            <a:ext cx="1188593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2600" b="1">
                <a:solidFill>
                  <a:srgbClr val="FFFF00"/>
                </a:solidFill>
              </a:rPr>
              <a:t>HEXADECIMAL CONVERSIONS</a:t>
            </a:r>
            <a:r>
              <a:rPr lang="en-US" altLang="en-GB"/>
              <a:t> </a:t>
            </a:r>
            <a:endParaRPr lang="en-US" altLang="en-GB"/>
          </a:p>
        </p:txBody>
      </p:sp>
      <p:sp>
        <p:nvSpPr>
          <p:cNvPr id="3" name="Text Box 2"/>
          <p:cNvSpPr txBox="1"/>
          <p:nvPr/>
        </p:nvSpPr>
        <p:spPr>
          <a:xfrm>
            <a:off x="137795" y="614045"/>
            <a:ext cx="5734050" cy="390525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2300" b="1">
                <a:solidFill>
                  <a:srgbClr val="FFFF00"/>
                </a:solidFill>
              </a:rPr>
              <a:t> 1. The basic idea</a:t>
            </a:r>
            <a:endParaRPr lang="en-US" altLang="zh-CN" sz="2300" b="1">
              <a:solidFill>
                <a:srgbClr val="FFFF00"/>
              </a:solidFill>
            </a:endParaRPr>
          </a:p>
          <a:p>
            <a:r>
              <a:rPr lang="en-US" altLang="zh-CN" sz="1600" b="1">
                <a:solidFill>
                  <a:schemeClr val="bg1"/>
                </a:solidFill>
              </a:rPr>
              <a:t>In decimal (base 10), you count like this:</a:t>
            </a:r>
            <a:endParaRPr lang="en-US" altLang="zh-CN" sz="1600" b="1">
              <a:solidFill>
                <a:schemeClr val="bg1"/>
              </a:solidFill>
            </a:endParaRPr>
          </a:p>
          <a:p>
            <a:r>
              <a:rPr lang="en-US" altLang="zh-CN" sz="1600" b="1">
                <a:solidFill>
                  <a:schemeClr val="bg1"/>
                </a:solidFill>
              </a:rPr>
              <a:t>0, 1, 2, 3, 4, 5, 6, 7, 8, 9, 10, 11...</a:t>
            </a:r>
            <a:endParaRPr lang="en-US" altLang="zh-CN" sz="1600" b="1">
              <a:solidFill>
                <a:schemeClr val="bg1"/>
              </a:solidFill>
            </a:endParaRPr>
          </a:p>
          <a:p>
            <a:endParaRPr lang="en-US" altLang="zh-CN" sz="1600" b="1">
              <a:solidFill>
                <a:schemeClr val="bg1"/>
              </a:solidFill>
            </a:endParaRPr>
          </a:p>
          <a:p>
            <a:r>
              <a:rPr lang="en-US" altLang="zh-CN" sz="1600" b="1">
                <a:solidFill>
                  <a:schemeClr val="bg1"/>
                </a:solidFill>
              </a:rPr>
              <a:t>In hexadecimal (base 16), you have 16 symbols instead of 10:</a:t>
            </a:r>
            <a:endParaRPr lang="en-US" altLang="zh-CN" sz="1600" b="1">
              <a:solidFill>
                <a:schemeClr val="bg1"/>
              </a:solidFill>
            </a:endParaRPr>
          </a:p>
          <a:p>
            <a:r>
              <a:rPr lang="en-US" altLang="zh-CN" sz="1600" b="1">
                <a:solidFill>
                  <a:schemeClr val="bg1"/>
                </a:solidFill>
              </a:rPr>
              <a:t>0, 1, 2, 3, 4, 5, 6, 7, 8, 9, A, B, C, D, E, F</a:t>
            </a:r>
            <a:endParaRPr lang="en-US" altLang="zh-CN" sz="1600" b="1">
              <a:solidFill>
                <a:schemeClr val="bg1"/>
              </a:solidFill>
            </a:endParaRPr>
          </a:p>
          <a:p>
            <a:endParaRPr lang="en-US" altLang="zh-CN" sz="1600" b="1">
              <a:solidFill>
                <a:schemeClr val="bg1"/>
              </a:solidFill>
            </a:endParaRPr>
          </a:p>
          <a:p>
            <a:r>
              <a:rPr lang="en-US" altLang="zh-CN" sz="1600" b="1">
                <a:solidFill>
                  <a:schemeClr val="bg1"/>
                </a:solidFill>
              </a:rPr>
              <a:t>Where:</a:t>
            </a:r>
            <a:endParaRPr lang="en-US" altLang="zh-CN" sz="1600" b="1">
              <a:solidFill>
                <a:schemeClr val="bg1"/>
              </a:solidFill>
            </a:endParaRPr>
          </a:p>
          <a:p>
            <a:pPr indent="0">
              <a:buFont typeface="Arial" panose="020B0604020202020204"/>
              <a:buNone/>
            </a:pPr>
            <a:r>
              <a:rPr lang="en-US" altLang="zh-CN" sz="1600" b="1">
                <a:solidFill>
                  <a:schemeClr val="bg1"/>
                </a:solidFill>
              </a:rPr>
              <a:t> A = 10 </a:t>
            </a:r>
            <a:endParaRPr lang="en-US" altLang="zh-CN" sz="1600" b="1">
              <a:solidFill>
                <a:schemeClr val="bg1"/>
              </a:solidFill>
            </a:endParaRPr>
          </a:p>
          <a:p>
            <a:pPr indent="0">
              <a:buFont typeface="Arial" panose="020B0604020202020204"/>
              <a:buNone/>
            </a:pPr>
            <a:r>
              <a:rPr lang="en-US" altLang="zh-CN" sz="1600" b="1">
                <a:solidFill>
                  <a:schemeClr val="bg1"/>
                </a:solidFill>
              </a:rPr>
              <a:t> B = 11 </a:t>
            </a:r>
            <a:endParaRPr lang="en-US" altLang="zh-CN" sz="1600" b="1">
              <a:solidFill>
                <a:schemeClr val="bg1"/>
              </a:solidFill>
            </a:endParaRPr>
          </a:p>
          <a:p>
            <a:pPr indent="0">
              <a:buFont typeface="Arial" panose="020B0604020202020204"/>
              <a:buNone/>
            </a:pPr>
            <a:r>
              <a:rPr lang="en-US" altLang="zh-CN" sz="1600" b="1">
                <a:solidFill>
                  <a:schemeClr val="bg1"/>
                </a:solidFill>
              </a:rPr>
              <a:t> C = 12 </a:t>
            </a:r>
            <a:endParaRPr lang="en-US" altLang="zh-CN" sz="1600" b="1">
              <a:solidFill>
                <a:schemeClr val="bg1"/>
              </a:solidFill>
            </a:endParaRPr>
          </a:p>
          <a:p>
            <a:pPr indent="0">
              <a:buFont typeface="Arial" panose="020B0604020202020204"/>
              <a:buNone/>
            </a:pPr>
            <a:r>
              <a:rPr lang="en-US" altLang="zh-CN" sz="1600" b="1">
                <a:solidFill>
                  <a:schemeClr val="bg1"/>
                </a:solidFill>
              </a:rPr>
              <a:t> D = 13 </a:t>
            </a:r>
            <a:endParaRPr lang="en-US" altLang="zh-CN" sz="1600" b="1">
              <a:solidFill>
                <a:schemeClr val="bg1"/>
              </a:solidFill>
            </a:endParaRPr>
          </a:p>
          <a:p>
            <a:pPr indent="0">
              <a:buFont typeface="Arial" panose="020B0604020202020204"/>
              <a:buNone/>
            </a:pPr>
            <a:r>
              <a:rPr lang="en-US" altLang="zh-CN" sz="1600" b="1">
                <a:solidFill>
                  <a:schemeClr val="bg1"/>
                </a:solidFill>
              </a:rPr>
              <a:t> E = 14 </a:t>
            </a:r>
            <a:endParaRPr lang="en-US" altLang="zh-CN" sz="1600" b="1">
              <a:solidFill>
                <a:schemeClr val="bg1"/>
              </a:solidFill>
            </a:endParaRPr>
          </a:p>
          <a:p>
            <a:pPr indent="0">
              <a:buFont typeface="Arial" panose="020B0604020202020204"/>
              <a:buNone/>
            </a:pPr>
            <a:r>
              <a:rPr lang="en-US" altLang="zh-CN" sz="1600" b="1">
                <a:solidFill>
                  <a:schemeClr val="bg1"/>
                </a:solidFill>
              </a:rPr>
              <a:t> F = 15</a:t>
            </a:r>
            <a:endParaRPr lang="en-US" altLang="zh-CN" sz="1600" b="1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465570" y="751840"/>
            <a:ext cx="5467350" cy="5997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300" b="1">
                <a:solidFill>
                  <a:srgbClr val="FFFF00"/>
                </a:solidFill>
              </a:rPr>
              <a:t>2. Counting in hex</a:t>
            </a:r>
            <a:endParaRPr lang="en-US" altLang="en-GB" sz="2300" b="1">
              <a:solidFill>
                <a:srgbClr val="FFFF00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After 9, instead of 10, you continue: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Decimal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Hex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10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A 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11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B 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12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C 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13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D 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14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E 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15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F 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16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10 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17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11 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18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12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Notice: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16 (decimal) = 10 (hex)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This is just like how 10 (decimal) = 10 in base 10.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37795" y="4979670"/>
            <a:ext cx="6044565" cy="1553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bg1"/>
                </a:solidFill>
              </a:rPr>
              <a:t>Hex = base 16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Uses digits 0–9 and A–F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Each place value is a power of 16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Widely used in computing because it maps neatly to binary</a:t>
            </a:r>
            <a:endParaRPr lang="en-US" altLang="en-GB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199390" y="70485"/>
            <a:ext cx="5532120" cy="3053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rgbClr val="FFFF00"/>
                </a:solidFill>
              </a:rPr>
              <a:t>3. Place values</a:t>
            </a:r>
            <a:endParaRPr lang="en-US" altLang="en-GB" b="1">
              <a:solidFill>
                <a:srgbClr val="FFFF00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In decimal: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345 = (3</a:t>
            </a:r>
            <a:r>
              <a:rPr lang="en-US" altLang="en-US" b="1">
                <a:solidFill>
                  <a:schemeClr val="bg1"/>
                </a:solidFill>
              </a:rPr>
              <a:t>×</a:t>
            </a:r>
            <a:r>
              <a:rPr lang="en-US" altLang="en-GB" b="1">
                <a:solidFill>
                  <a:schemeClr val="bg1"/>
                </a:solidFill>
              </a:rPr>
              <a:t>100) + (4</a:t>
            </a:r>
            <a:r>
              <a:rPr lang="en-US" altLang="en-US" b="1">
                <a:solidFill>
                  <a:schemeClr val="bg1"/>
                </a:solidFill>
              </a:rPr>
              <a:t>×</a:t>
            </a:r>
            <a:r>
              <a:rPr lang="en-US" altLang="en-GB" b="1">
                <a:solidFill>
                  <a:schemeClr val="bg1"/>
                </a:solidFill>
              </a:rPr>
              <a:t>10) + (5</a:t>
            </a:r>
            <a:r>
              <a:rPr lang="en-US" altLang="en-US" b="1">
                <a:solidFill>
                  <a:schemeClr val="bg1"/>
                </a:solidFill>
              </a:rPr>
              <a:t>×</a:t>
            </a:r>
            <a:r>
              <a:rPr lang="en-US" altLang="en-GB" b="1">
                <a:solidFill>
                  <a:schemeClr val="bg1"/>
                </a:solidFill>
              </a:rPr>
              <a:t>1)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In hexadecimal: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Each place is a power of 16: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... 16</a:t>
            </a:r>
            <a:r>
              <a:rPr lang="en-US" altLang="en-US" b="1">
                <a:solidFill>
                  <a:schemeClr val="bg1"/>
                </a:solidFill>
              </a:rPr>
              <a:t>²</a:t>
            </a:r>
            <a:r>
              <a:rPr lang="en-US" altLang="en-GB" b="1">
                <a:solidFill>
                  <a:schemeClr val="bg1"/>
                </a:solidFill>
              </a:rPr>
              <a:t>   16</a:t>
            </a:r>
            <a:r>
              <a:rPr lang="en-US" altLang="en-US" b="1">
                <a:solidFill>
                  <a:schemeClr val="bg1"/>
                </a:solidFill>
              </a:rPr>
              <a:t>¹</a:t>
            </a:r>
            <a:r>
              <a:rPr lang="en-US" altLang="en-GB" b="1">
                <a:solidFill>
                  <a:schemeClr val="bg1"/>
                </a:solidFill>
              </a:rPr>
              <a:t>   16</a:t>
            </a:r>
            <a:r>
              <a:rPr lang="en-US" altLang="en-US" b="1">
                <a:solidFill>
                  <a:schemeClr val="bg1"/>
                </a:solidFill>
              </a:rPr>
              <a:t>⁰</a:t>
            </a:r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     256   16     1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Example: 2A (hex)  to decimal 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A = 10  X 1 = 10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2 X 16 = 32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32 + 10 = </a:t>
            </a:r>
            <a:r>
              <a:rPr lang="en-US" altLang="en-GB" b="1">
                <a:solidFill>
                  <a:srgbClr val="FF0000"/>
                </a:solidFill>
                <a:highlight>
                  <a:srgbClr val="FFFF00"/>
                </a:highlight>
              </a:rPr>
              <a:t>42</a:t>
            </a:r>
            <a:r>
              <a:rPr lang="en-US" altLang="en-GB" b="1" baseline="-25000">
                <a:solidFill>
                  <a:srgbClr val="FF0000"/>
                </a:solidFill>
                <a:highlight>
                  <a:srgbClr val="FFFF00"/>
                </a:highlight>
              </a:rPr>
              <a:t>10 </a:t>
            </a:r>
            <a:r>
              <a:rPr lang="en-US" altLang="en-GB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endParaRPr lang="en-US" altLang="en-GB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851525" y="331470"/>
            <a:ext cx="510984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C</a:t>
            </a:r>
            <a:r>
              <a:rPr lang="en-US" altLang="en-GB" b="1">
                <a:solidFill>
                  <a:schemeClr val="bg1"/>
                </a:solidFill>
              </a:rPr>
              <a:t>onverting decimal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hex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Example: Convert 42 to hex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Divide by 16: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38430" y="4641215"/>
            <a:ext cx="4713605" cy="824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Convert 3A to decimal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10 + 48 = 58</a:t>
            </a:r>
            <a:r>
              <a:rPr lang="en-US" altLang="en-GB" b="1" baseline="-25000">
                <a:solidFill>
                  <a:schemeClr val="bg1"/>
                </a:solidFill>
                <a:sym typeface="+mn-ea"/>
              </a:rPr>
              <a:t>10</a:t>
            </a:r>
            <a:endParaRPr lang="en-US" altLang="en-GB" b="1" baseline="-25000">
              <a:solidFill>
                <a:schemeClr val="bg1"/>
              </a:solidFill>
              <a:sym typeface="+mn-ea"/>
            </a:endParaRPr>
          </a:p>
          <a:p>
            <a:endParaRPr lang="en-US" altLang="en-GB" b="1" baseline="-25000">
              <a:solidFill>
                <a:schemeClr val="bg1"/>
              </a:solidFill>
              <a:highlight>
                <a:srgbClr val="FFFF00"/>
              </a:highlight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851525" y="2153285"/>
            <a:ext cx="5852795" cy="13785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Convert 100 to hex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16 X 6 = 96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100 - 96 = 4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rgbClr val="FF0000"/>
                </a:solidFill>
                <a:highlight>
                  <a:srgbClr val="FFFF00"/>
                </a:highlight>
              </a:rPr>
              <a:t> 64</a:t>
            </a:r>
            <a:r>
              <a:rPr lang="en-US" altLang="en-GB" b="1" baseline="-25000">
                <a:solidFill>
                  <a:srgbClr val="FF0000"/>
                </a:solidFill>
                <a:highlight>
                  <a:srgbClr val="FFFF00"/>
                </a:highlight>
              </a:rPr>
              <a:t>16</a:t>
            </a:r>
            <a:endParaRPr lang="en-US" altLang="en-GB" b="1" baseline="-2500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en-US" altLang="en-GB" b="1" baseline="-250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99390" y="5466715"/>
            <a:ext cx="5271770" cy="13785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Convert 1F to decimal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 X 16 = 16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F = 15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16 + 15 =</a:t>
            </a:r>
            <a:r>
              <a:rPr lang="en-US" altLang="en-GB" b="1" u="sng">
                <a:solidFill>
                  <a:srgbClr val="FF0000"/>
                </a:solidFill>
              </a:rPr>
              <a:t> </a:t>
            </a:r>
            <a:r>
              <a:rPr lang="en-US" altLang="en-GB" b="1" u="sng">
                <a:solidFill>
                  <a:srgbClr val="FF0000"/>
                </a:solidFill>
                <a:highlight>
                  <a:srgbClr val="FFFF00"/>
                </a:highlight>
              </a:rPr>
              <a:t>31</a:t>
            </a:r>
            <a:r>
              <a:rPr lang="en-US" altLang="en-GB" b="1" u="sng" baseline="-25000">
                <a:solidFill>
                  <a:srgbClr val="FF0000"/>
                </a:solidFill>
                <a:highlight>
                  <a:srgbClr val="FFFF00"/>
                </a:highlight>
              </a:rPr>
              <a:t>10</a:t>
            </a:r>
            <a:endParaRPr lang="en-US" altLang="en-GB" b="1" baseline="-25000">
              <a:solidFill>
                <a:schemeClr val="bg1"/>
              </a:solidFill>
              <a:highlight>
                <a:srgbClr val="FFFF00"/>
              </a:highlight>
            </a:endParaRPr>
          </a:p>
          <a:p>
            <a:endParaRPr lang="en-US" altLang="en-GB" b="1" baseline="-2500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5851525" y="4093845"/>
            <a:ext cx="5313045" cy="22098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Convert 255 t</a:t>
            </a:r>
            <a:r>
              <a:rPr lang="en-US" altLang="en-GB" b="1">
                <a:solidFill>
                  <a:schemeClr val="bg1"/>
                </a:solidFill>
              </a:rPr>
              <a:t>o hex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255/ 16 = 15 RM 15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15/ 16 IS 0 RM 15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15 = F 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255 = </a:t>
            </a:r>
            <a:r>
              <a:rPr lang="en-US" altLang="en-GB" b="1">
                <a:solidFill>
                  <a:srgbClr val="FF0000"/>
                </a:solidFill>
                <a:highlight>
                  <a:srgbClr val="FFFF00"/>
                </a:highlight>
              </a:rPr>
              <a:t>FF</a:t>
            </a:r>
            <a:r>
              <a:rPr lang="en-US" altLang="en-GB" b="1" baseline="-25000">
                <a:solidFill>
                  <a:srgbClr val="FF0000"/>
                </a:solidFill>
                <a:highlight>
                  <a:srgbClr val="FFFF00"/>
                </a:highlight>
              </a:rPr>
              <a:t>16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 baseline="-250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303530" y="208280"/>
            <a:ext cx="11649075" cy="64350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GB" b="1">
                <a:solidFill>
                  <a:srgbClr val="FFFF00"/>
                </a:solidFill>
                <a:sym typeface="+mn-ea"/>
              </a:rPr>
              <a:t>Why hexadecimal is used</a:t>
            </a:r>
            <a:endParaRPr lang="en-US" altLang="en-GB" b="1">
              <a:solidFill>
                <a:srgbClr val="FFFF00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Hex is super common in computing because it’s closely related to binary (base 2), which computers use.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1 hex digit = 4 binary digits (bits)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Easier to read than long binary strings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Example: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Binary: </a:t>
            </a:r>
            <a:r>
              <a:rPr lang="en-US" altLang="en-GB" b="1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1010</a:t>
            </a:r>
            <a:r>
              <a:rPr lang="en-US" altLang="en-GB" b="1">
                <a:solidFill>
                  <a:srgbClr val="FF0000"/>
                </a:solidFill>
                <a:sym typeface="+mn-ea"/>
              </a:rPr>
              <a:t>1111</a:t>
            </a:r>
            <a:endParaRPr lang="en-US" altLang="en-GB" b="1">
              <a:solidFill>
                <a:srgbClr val="FF0000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Hex:   </a:t>
            </a:r>
            <a:r>
              <a:rPr lang="en-US" altLang="en-GB" b="1">
                <a:solidFill>
                  <a:srgbClr val="FFFF00"/>
                </a:solidFill>
                <a:sym typeface="+mn-ea"/>
              </a:rPr>
              <a:t> AF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You’ll see hex used in: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Memory addresses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Color codes (like #FF5733)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Debugging and programming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FF D8 FF   E0 E1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495415" y="1478915"/>
            <a:ext cx="5304790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Hex colors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In web design: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#RRGGBB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Example: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#FF0000 = red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#00FF00 = green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#0000FF = blue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Each pair is a hex number from 00 to FF (0–255 in decimal)</a:t>
            </a:r>
            <a:r>
              <a:rPr lang="en-US" altLang="en-GB"/>
              <a:t>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>
                <a:solidFill>
                  <a:srgbClr val="FF0000"/>
                </a:solidFill>
                <a:highlight>
                  <a:srgbClr val="FFFF00"/>
                </a:highlight>
              </a:rPr>
              <a:t>#FFFFFF = WHITE      1.6 MILLION DIFFERENT COMBINATIONS OF COLOURS </a:t>
            </a:r>
            <a:endParaRPr lang="en-US" altLang="en-GB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en-US" altLang="en-GB" b="1">
                <a:solidFill>
                  <a:srgbClr val="FF0000"/>
                </a:solidFill>
                <a:highlight>
                  <a:srgbClr val="FFFF00"/>
                </a:highlight>
              </a:rPr>
              <a:t>#000000 = BLACK</a:t>
            </a:r>
            <a:endParaRPr lang="en-US" altLang="en-GB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en-US" altLang="en-GB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55270" y="295910"/>
            <a:ext cx="6086475" cy="6192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600" b="1">
                <a:solidFill>
                  <a:srgbClr val="FFFF00"/>
                </a:solidFill>
              </a:rPr>
              <a:t>Hexadecimal </a:t>
            </a:r>
            <a:r>
              <a:rPr lang="en-US" altLang="en-US" sz="2600" b="1">
                <a:solidFill>
                  <a:srgbClr val="FFFF00"/>
                </a:solidFill>
              </a:rPr>
              <a:t>→</a:t>
            </a:r>
            <a:r>
              <a:rPr lang="en-US" altLang="en-GB" sz="2600" b="1">
                <a:solidFill>
                  <a:srgbClr val="FFFF00"/>
                </a:solidFill>
              </a:rPr>
              <a:t> Binary</a:t>
            </a:r>
            <a:endParaRPr lang="en-US" altLang="en-GB" sz="2600" b="1">
              <a:solidFill>
                <a:srgbClr val="FFFF00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Replace each hex digit with its 4-bit binary equivalent.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Hex-to-Binary Table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Hex	Binary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0	0000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	0001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2	0010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3	0011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4	0100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5	0101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6	0110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7	0111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8	1000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9	1001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A	1010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B	1011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C	1100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D	1101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E	1110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F	1111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217285" y="295910"/>
            <a:ext cx="5266055" cy="3589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600" b="1">
                <a:solidFill>
                  <a:srgbClr val="FFFF00"/>
                </a:solidFill>
              </a:rPr>
              <a:t>Summary</a:t>
            </a:r>
            <a:endParaRPr lang="en-US" altLang="en-GB" sz="2600" b="1">
              <a:solidFill>
                <a:srgbClr val="FFFF00"/>
              </a:solidFill>
            </a:endParaRPr>
          </a:p>
          <a:p>
            <a:endParaRPr lang="en-US" altLang="en-GB"/>
          </a:p>
          <a:p>
            <a:r>
              <a:rPr lang="en-US" altLang="en-GB" b="1">
                <a:solidFill>
                  <a:schemeClr val="bg1"/>
                </a:solidFill>
              </a:rPr>
              <a:t>Conversion	Method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Hex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Decimal	Multiply by powers of 16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Decimal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Hex	Divide repeatedly by 16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Binary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Hex	Group bits in 4s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Hex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Binary	Replace each digit with 4 bits</a:t>
            </a:r>
            <a:endParaRPr lang="en-US" altLang="en-GB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32105" y="310515"/>
            <a:ext cx="4437380" cy="1906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800" b="1">
                <a:solidFill>
                  <a:srgbClr val="FFFF00"/>
                </a:solidFill>
              </a:rPr>
              <a:t>DEMO</a:t>
            </a:r>
            <a:endParaRPr lang="en-US" altLang="en-GB" sz="2800" b="1">
              <a:solidFill>
                <a:srgbClr val="FFFF00"/>
              </a:solidFill>
            </a:endParaRPr>
          </a:p>
          <a:p>
            <a:endParaRPr lang="en-US" altLang="en-GB" b="1"/>
          </a:p>
          <a:p>
            <a:pPr marL="342900" indent="-342900">
              <a:buFont typeface="+mj-lt"/>
              <a:buAutoNum type="arabicPeriod"/>
            </a:pPr>
            <a:r>
              <a:rPr lang="en-US" altLang="en-GB" b="1">
                <a:solidFill>
                  <a:schemeClr val="bg1"/>
                </a:solidFill>
              </a:rPr>
              <a:t>Convert 2B</a:t>
            </a:r>
            <a:r>
              <a:rPr lang="en-US" altLang="en-US" b="1">
                <a:solidFill>
                  <a:schemeClr val="bg1"/>
                </a:solidFill>
              </a:rPr>
              <a:t>₁₆</a:t>
            </a:r>
            <a:r>
              <a:rPr lang="en-US" altLang="en-GB" b="1">
                <a:solidFill>
                  <a:schemeClr val="bg1"/>
                </a:solidFill>
              </a:rPr>
              <a:t> to decimal.</a:t>
            </a:r>
            <a:endParaRPr lang="en-US" altLang="en-GB" b="1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GB" b="1">
                <a:solidFill>
                  <a:schemeClr val="bg1"/>
                </a:solidFill>
              </a:rPr>
              <a:t>Convert 75</a:t>
            </a:r>
            <a:r>
              <a:rPr lang="en-US" altLang="en-US" b="1">
                <a:solidFill>
                  <a:schemeClr val="bg1"/>
                </a:solidFill>
              </a:rPr>
              <a:t>₁₀</a:t>
            </a:r>
            <a:r>
              <a:rPr lang="en-US" altLang="en-GB" b="1">
                <a:solidFill>
                  <a:schemeClr val="bg1"/>
                </a:solidFill>
              </a:rPr>
              <a:t> to hexadecimal.</a:t>
            </a:r>
            <a:endParaRPr lang="en-US" altLang="en-GB" b="1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GB" b="1">
                <a:solidFill>
                  <a:schemeClr val="bg1"/>
                </a:solidFill>
              </a:rPr>
              <a:t>Convert 11110001</a:t>
            </a:r>
            <a:r>
              <a:rPr lang="en-US" altLang="en-US" b="1">
                <a:solidFill>
                  <a:schemeClr val="bg1"/>
                </a:solidFill>
              </a:rPr>
              <a:t>₂</a:t>
            </a:r>
            <a:r>
              <a:rPr lang="en-US" altLang="en-GB" b="1">
                <a:solidFill>
                  <a:schemeClr val="bg1"/>
                </a:solidFill>
              </a:rPr>
              <a:t> to hexadecimal.</a:t>
            </a:r>
            <a:endParaRPr lang="en-US" altLang="en-GB" b="1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GB" b="1">
                <a:solidFill>
                  <a:schemeClr val="bg1"/>
                </a:solidFill>
              </a:rPr>
              <a:t>Convert 9A</a:t>
            </a:r>
            <a:r>
              <a:rPr lang="en-US" altLang="en-US" b="1">
                <a:solidFill>
                  <a:schemeClr val="bg1"/>
                </a:solidFill>
              </a:rPr>
              <a:t>₁₆</a:t>
            </a:r>
            <a:r>
              <a:rPr lang="en-US" altLang="en-GB" b="1">
                <a:solidFill>
                  <a:schemeClr val="bg1"/>
                </a:solidFill>
              </a:rPr>
              <a:t> to binary.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457200" y="244856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/>
                </a:solidFill>
              </a:rPr>
              <a:t>1. 2 X 16 = 32 + B = 11 X 1 = 11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 32 + 11 = </a:t>
            </a:r>
            <a:r>
              <a:rPr lang="en-US" altLang="en-GB">
                <a:solidFill>
                  <a:srgbClr val="FF0000"/>
                </a:solidFill>
                <a:highlight>
                  <a:srgbClr val="00FF00"/>
                </a:highlight>
              </a:rPr>
              <a:t>43</a:t>
            </a:r>
            <a:r>
              <a:rPr lang="en-US" altLang="en-GB" baseline="-25000">
                <a:solidFill>
                  <a:srgbClr val="FF0000"/>
                </a:solidFill>
                <a:highlight>
                  <a:srgbClr val="00FF00"/>
                </a:highlight>
              </a:rPr>
              <a:t>10</a:t>
            </a:r>
            <a:endParaRPr lang="en-US" altLang="en-GB" baseline="-2500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26720" y="342900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/>
                </a:solidFill>
              </a:rPr>
              <a:t>2. 16 X 4 = 64 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75 - 64 = 11 = B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rgbClr val="FF0000"/>
                </a:solidFill>
                <a:highlight>
                  <a:srgbClr val="00FF00"/>
                </a:highlight>
              </a:rPr>
              <a:t>4B </a:t>
            </a:r>
            <a:r>
              <a:rPr lang="en-US" altLang="en-GB" baseline="-25000">
                <a:solidFill>
                  <a:srgbClr val="FF0000"/>
                </a:solidFill>
                <a:highlight>
                  <a:srgbClr val="00FF00"/>
                </a:highlight>
              </a:rPr>
              <a:t>16</a:t>
            </a:r>
            <a:endParaRPr lang="en-US" altLang="en-GB" baseline="-2500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426720" y="444754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1111</a:t>
            </a:r>
            <a:r>
              <a:rPr lang="en-US" altLang="en-GB" b="1">
                <a:solidFill>
                  <a:srgbClr val="FF0000"/>
                </a:solidFill>
                <a:sym typeface="+mn-ea"/>
              </a:rPr>
              <a:t>0001</a:t>
            </a:r>
            <a:r>
              <a:rPr lang="en-US" altLang="en-US" b="1">
                <a:solidFill>
                  <a:srgbClr val="FF0000"/>
                </a:solidFill>
                <a:sym typeface="+mn-ea"/>
              </a:rPr>
              <a:t>₂</a:t>
            </a:r>
            <a:endParaRPr lang="en-US" altLang="en-US" b="1">
              <a:solidFill>
                <a:srgbClr val="FF0000"/>
              </a:solidFill>
              <a:sym typeface="+mn-ea"/>
            </a:endParaRPr>
          </a:p>
          <a:p>
            <a:r>
              <a:rPr lang="en-US" altLang="en-US" b="1">
                <a:solidFill>
                  <a:srgbClr val="FF0000"/>
                </a:solidFill>
                <a:sym typeface="+mn-ea"/>
              </a:rPr>
              <a:t>GROUP IN FOUR FROM RIGHT TO LEFT </a:t>
            </a:r>
            <a:endParaRPr lang="en-US" altLang="en-US" b="1">
              <a:solidFill>
                <a:srgbClr val="FF0000"/>
              </a:solidFill>
              <a:sym typeface="+mn-ea"/>
            </a:endParaRPr>
          </a:p>
          <a:p>
            <a:endParaRPr lang="en-US" altLang="en-US" b="1">
              <a:solidFill>
                <a:srgbClr val="FF0000"/>
              </a:solidFill>
              <a:sym typeface="+mn-ea"/>
            </a:endParaRPr>
          </a:p>
          <a:p>
            <a:r>
              <a:rPr lang="en-US" altLang="en-US" b="1">
                <a:solidFill>
                  <a:srgbClr val="FF0000"/>
                </a:solidFill>
                <a:highlight>
                  <a:srgbClr val="00FF00"/>
                </a:highlight>
                <a:sym typeface="+mn-ea"/>
              </a:rPr>
              <a:t>F1</a:t>
            </a:r>
            <a:r>
              <a:rPr lang="en-US" altLang="en-US" b="1" baseline="-25000">
                <a:solidFill>
                  <a:srgbClr val="FF0000"/>
                </a:solidFill>
                <a:highlight>
                  <a:srgbClr val="00FF00"/>
                </a:highlight>
                <a:sym typeface="+mn-ea"/>
              </a:rPr>
              <a:t>16</a:t>
            </a:r>
            <a:r>
              <a:rPr lang="en-US" altLang="en-GB" b="1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 </a:t>
            </a:r>
            <a:endParaRPr lang="en-US" altLang="en-GB" b="1">
              <a:solidFill>
                <a:schemeClr val="bg1"/>
              </a:solidFill>
              <a:highlight>
                <a:srgbClr val="00FF00"/>
              </a:highlight>
              <a:sym typeface="+mn-ea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6451600" y="495300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9A</a:t>
            </a:r>
            <a:r>
              <a:rPr lang="en-US" altLang="en-US" b="1">
                <a:solidFill>
                  <a:schemeClr val="bg1"/>
                </a:solidFill>
                <a:sym typeface="+mn-ea"/>
              </a:rPr>
              <a:t>₁₆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 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GB" altLang="en-US"/>
          </a:p>
          <a:p>
            <a:r>
              <a:rPr lang="en-US" altLang="en-GB">
                <a:solidFill>
                  <a:schemeClr val="bg1"/>
                </a:solidFill>
              </a:rPr>
              <a:t>CONVERT INDIVIDUAL DIGITS IN GROUPS OF FOUR AND MERGE 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/>
          </a:p>
          <a:p>
            <a:r>
              <a:rPr lang="en-US" altLang="en-GB">
                <a:solidFill>
                  <a:srgbClr val="FF0000"/>
                </a:solidFill>
                <a:highlight>
                  <a:srgbClr val="00FF00"/>
                </a:highlight>
              </a:rPr>
              <a:t>8 4 2 1 RULE</a:t>
            </a:r>
            <a:endParaRPr lang="en-US" altLang="en-GB">
              <a:solidFill>
                <a:srgbClr val="FF0000"/>
              </a:solidFill>
              <a:highlight>
                <a:srgbClr val="00FF00"/>
              </a:highlight>
            </a:endParaRPr>
          </a:p>
          <a:p>
            <a:endParaRPr lang="en-US" altLang="en-GB">
              <a:solidFill>
                <a:srgbClr val="FF0000"/>
              </a:solidFill>
              <a:highlight>
                <a:srgbClr val="00FF00"/>
              </a:highlight>
            </a:endParaRPr>
          </a:p>
          <a:p>
            <a:r>
              <a:rPr lang="en-US" altLang="en-GB">
                <a:solidFill>
                  <a:srgbClr val="FF0000"/>
                </a:solidFill>
                <a:highlight>
                  <a:srgbClr val="00FF00"/>
                </a:highlight>
              </a:rPr>
              <a:t>1001 = 9</a:t>
            </a:r>
            <a:endParaRPr lang="en-US" altLang="en-GB">
              <a:solidFill>
                <a:srgbClr val="FF0000"/>
              </a:solidFill>
              <a:highlight>
                <a:srgbClr val="00FF00"/>
              </a:highlight>
            </a:endParaRPr>
          </a:p>
          <a:p>
            <a:r>
              <a:rPr lang="en-US" altLang="en-GB">
                <a:solidFill>
                  <a:srgbClr val="FF0000"/>
                </a:solidFill>
                <a:highlight>
                  <a:srgbClr val="00FF00"/>
                </a:highlight>
              </a:rPr>
              <a:t>1010 = 10</a:t>
            </a:r>
            <a:endParaRPr lang="en-US" altLang="en-GB">
              <a:solidFill>
                <a:srgbClr val="FF0000"/>
              </a:solidFill>
              <a:highlight>
                <a:srgbClr val="00FF00"/>
              </a:highlight>
            </a:endParaRPr>
          </a:p>
          <a:p>
            <a:r>
              <a:rPr lang="en-US" altLang="en-GB">
                <a:solidFill>
                  <a:srgbClr val="FF0000"/>
                </a:solidFill>
                <a:highlight>
                  <a:srgbClr val="00FF00"/>
                </a:highlight>
              </a:rPr>
              <a:t>MERGE = 10011010</a:t>
            </a:r>
            <a:r>
              <a:rPr lang="en-US" altLang="en-GB" baseline="-25000">
                <a:solidFill>
                  <a:srgbClr val="FF0000"/>
                </a:solidFill>
                <a:highlight>
                  <a:srgbClr val="00FF00"/>
                </a:highlight>
              </a:rPr>
              <a:t>2</a:t>
            </a:r>
            <a:endParaRPr lang="en-US" altLang="en-GB" baseline="-2500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0" y="196850"/>
            <a:ext cx="98317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Hexadecimal with Multiple Digits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Example: Convert 3F2</a:t>
            </a:r>
            <a:r>
              <a:rPr lang="en-US" altLang="en-US" b="1">
                <a:solidFill>
                  <a:schemeClr val="bg1"/>
                </a:solidFill>
              </a:rPr>
              <a:t>₁₆</a:t>
            </a:r>
            <a:r>
              <a:rPr lang="en-US" altLang="en-GB" b="1">
                <a:solidFill>
                  <a:schemeClr val="bg1"/>
                </a:solidFill>
              </a:rPr>
              <a:t> to Decimal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3 X 256 + 15 X 16 + 2 X 1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768 + 240 + 2 = </a:t>
            </a:r>
            <a:r>
              <a:rPr lang="en-US" altLang="en-GB" b="1">
                <a:solidFill>
                  <a:srgbClr val="FF0000"/>
                </a:solidFill>
                <a:highlight>
                  <a:srgbClr val="00FF00"/>
                </a:highlight>
              </a:rPr>
              <a:t>1010</a:t>
            </a:r>
            <a:r>
              <a:rPr lang="en-US" altLang="en-GB" b="1" baseline="-25000">
                <a:solidFill>
                  <a:srgbClr val="FF0000"/>
                </a:solidFill>
                <a:highlight>
                  <a:srgbClr val="00FF00"/>
                </a:highlight>
              </a:rPr>
              <a:t>10</a:t>
            </a:r>
            <a:endParaRPr lang="en-US" altLang="en-GB" b="1" baseline="-2500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97155" y="113665"/>
            <a:ext cx="6375400" cy="6279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bg1"/>
                </a:solidFill>
              </a:rPr>
              <a:t>Decimal Fraction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Hexadecimal Fraction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Rule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Convert the whole number part normally (using division by 16).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Convert the fractional part by repeated multiplication by 16.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1. Convert 10.625</a:t>
            </a:r>
            <a:r>
              <a:rPr lang="en-US" altLang="en-US" b="1">
                <a:solidFill>
                  <a:schemeClr val="bg1"/>
                </a:solidFill>
              </a:rPr>
              <a:t>₁₀</a:t>
            </a:r>
            <a:r>
              <a:rPr lang="en-US" altLang="en-GB" b="1">
                <a:solidFill>
                  <a:schemeClr val="bg1"/>
                </a:solidFill>
              </a:rPr>
              <a:t> to hexadecimal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10 = A 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0.625 X 16 = 10 = A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rgbClr val="FF0000"/>
                </a:solidFill>
                <a:highlight>
                  <a:srgbClr val="00FF00"/>
                </a:highlight>
              </a:rPr>
              <a:t>A.A</a:t>
            </a:r>
            <a:r>
              <a:rPr lang="en-US" altLang="en-GB" b="1" baseline="-25000">
                <a:solidFill>
                  <a:srgbClr val="FF0000"/>
                </a:solidFill>
                <a:highlight>
                  <a:srgbClr val="00FF00"/>
                </a:highlight>
              </a:rPr>
              <a:t>16</a:t>
            </a:r>
            <a:endParaRPr lang="en-US" altLang="en-GB" b="1" baseline="-25000">
              <a:solidFill>
                <a:srgbClr val="FF0000"/>
              </a:solidFill>
              <a:highlight>
                <a:srgbClr val="00FF00"/>
              </a:highlight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2. Convert 25.75</a:t>
            </a:r>
            <a:r>
              <a:rPr lang="en-US" altLang="en-US" b="1">
                <a:solidFill>
                  <a:schemeClr val="bg1"/>
                </a:solidFill>
                <a:sym typeface="+mn-ea"/>
              </a:rPr>
              <a:t>₁₀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 to hexadecimal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25/16 = 1 RM 9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1/16 = 0 RM 1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0.75 X 16 = 12.0 = C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rgbClr val="FF0000"/>
                </a:solidFill>
                <a:highlight>
                  <a:srgbClr val="00FF00"/>
                </a:highlight>
                <a:sym typeface="+mn-ea"/>
              </a:rPr>
              <a:t>19.C</a:t>
            </a:r>
            <a:r>
              <a:rPr lang="en-US" altLang="en-GB" b="1" baseline="-25000">
                <a:solidFill>
                  <a:srgbClr val="FF0000"/>
                </a:solidFill>
                <a:highlight>
                  <a:srgbClr val="00FF00"/>
                </a:highlight>
                <a:sym typeface="+mn-ea"/>
              </a:rPr>
              <a:t>16</a:t>
            </a:r>
            <a:endParaRPr lang="en-US" altLang="en-GB" b="1">
              <a:solidFill>
                <a:srgbClr val="FF0000"/>
              </a:solidFill>
              <a:highlight>
                <a:srgbClr val="00FF00"/>
              </a:highlight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 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589520" y="222885"/>
            <a:ext cx="4064000" cy="6054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bg1"/>
                </a:solidFill>
              </a:rPr>
              <a:t>Convert 2A.A</a:t>
            </a:r>
            <a:r>
              <a:rPr lang="en-US" altLang="en-US" b="1">
                <a:solidFill>
                  <a:schemeClr val="bg1"/>
                </a:solidFill>
              </a:rPr>
              <a:t>₁₆</a:t>
            </a:r>
            <a:r>
              <a:rPr lang="en-US" altLang="en-GB" b="1">
                <a:solidFill>
                  <a:schemeClr val="bg1"/>
                </a:solidFill>
              </a:rPr>
              <a:t> to decimal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rgbClr val="FF0000"/>
                </a:solidFill>
                <a:highlight>
                  <a:srgbClr val="00FF00"/>
                </a:highlight>
              </a:rPr>
              <a:t>42.625</a:t>
            </a:r>
            <a:r>
              <a:rPr lang="en-US" altLang="en-GB" b="1" baseline="-25000">
                <a:solidFill>
                  <a:srgbClr val="FF0000"/>
                </a:solidFill>
                <a:highlight>
                  <a:srgbClr val="00FF00"/>
                </a:highlight>
              </a:rPr>
              <a:t>10</a:t>
            </a:r>
            <a:endParaRPr lang="en-US" altLang="en-GB" b="1">
              <a:solidFill>
                <a:srgbClr val="FF0000"/>
              </a:solidFill>
              <a:highlight>
                <a:srgbClr val="00FF00"/>
              </a:highlight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Convert 1.3F</a:t>
            </a:r>
            <a:r>
              <a:rPr lang="en-US" altLang="en-US" b="1">
                <a:solidFill>
                  <a:schemeClr val="bg1"/>
                </a:solidFill>
              </a:rPr>
              <a:t>₁₆</a:t>
            </a:r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bg1"/>
                </a:solidFill>
              </a:rPr>
              <a:t>1 + 3/16 + 15/256 = 1.24609735</a:t>
            </a:r>
            <a:r>
              <a:rPr lang="en-US" altLang="en-US" b="1" baseline="-25000">
                <a:solidFill>
                  <a:schemeClr val="bg1"/>
                </a:solidFill>
              </a:rPr>
              <a:t>10</a:t>
            </a:r>
            <a:endParaRPr lang="en-US" altLang="en-US" b="1" baseline="-25000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Convert 0.1</a:t>
            </a:r>
            <a:r>
              <a:rPr lang="en-US" altLang="en-US" b="1">
                <a:solidFill>
                  <a:schemeClr val="bg1"/>
                </a:solidFill>
              </a:rPr>
              <a:t>₁₀</a:t>
            </a:r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bg1"/>
                </a:solidFill>
              </a:rPr>
              <a:t>0.1 X 16 = 1.6 KEEP 1</a:t>
            </a:r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bg1"/>
                </a:solidFill>
              </a:rPr>
              <a:t>0.6 X 16 = 9.6 KEEP 9</a:t>
            </a:r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bg1"/>
                </a:solidFill>
              </a:rPr>
              <a:t>0.6 X 16 = 9.6 KEEP 9</a:t>
            </a:r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bg1"/>
                </a:solidFill>
              </a:rPr>
              <a:t>KEEPS LOOPING</a:t>
            </a:r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rgbClr val="FF0000"/>
                </a:solidFill>
                <a:highlight>
                  <a:srgbClr val="00FF00"/>
                </a:highlight>
              </a:rPr>
              <a:t>0.199...</a:t>
            </a:r>
            <a:r>
              <a:rPr lang="en-US" altLang="en-US" b="1" baseline="-25000">
                <a:solidFill>
                  <a:srgbClr val="FF0000"/>
                </a:solidFill>
                <a:highlight>
                  <a:srgbClr val="00FF00"/>
                </a:highlight>
              </a:rPr>
              <a:t>16</a:t>
            </a:r>
            <a:endParaRPr lang="en-US" altLang="en-US" b="1">
              <a:solidFill>
                <a:srgbClr val="FF0000"/>
              </a:solidFill>
              <a:highlight>
                <a:srgbClr val="00FF00"/>
              </a:highlight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 baseline="-250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26390" y="227330"/>
            <a:ext cx="5350510" cy="47028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Whole numbers (binary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hex padding rule)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Rule: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Start grouping from the right side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 Add zeros on the left side only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Convert: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rgbClr val="FF0000"/>
                </a:solidFill>
                <a:highlight>
                  <a:srgbClr val="00FF00"/>
                </a:highlight>
              </a:rPr>
              <a:t>00</a:t>
            </a:r>
            <a:r>
              <a:rPr lang="en-US" altLang="en-GB" b="1">
                <a:solidFill>
                  <a:srgbClr val="FFFF00"/>
                </a:solidFill>
                <a:highlight>
                  <a:srgbClr val="00FF00"/>
                </a:highlight>
              </a:rPr>
              <a:t>10</a:t>
            </a:r>
            <a:r>
              <a:rPr lang="en-US" altLang="en-GB" b="1">
                <a:solidFill>
                  <a:srgbClr val="FF0000"/>
                </a:solidFill>
                <a:highlight>
                  <a:srgbClr val="00FF00"/>
                </a:highlight>
              </a:rPr>
              <a:t>1101</a:t>
            </a:r>
            <a:r>
              <a:rPr lang="en-US" altLang="en-US" b="1">
                <a:solidFill>
                  <a:schemeClr val="bg1"/>
                </a:solidFill>
              </a:rPr>
              <a:t>₂</a:t>
            </a:r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bg1"/>
                </a:solidFill>
              </a:rPr>
              <a:t> </a:t>
            </a:r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bg1"/>
                </a:solidFill>
              </a:rPr>
              <a:t>1101 = 8 + 4 + 0 + 1 = 13 = D </a:t>
            </a:r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bg1"/>
                </a:solidFill>
              </a:rPr>
              <a:t>0010 =  2 </a:t>
            </a:r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 u="sng">
                <a:solidFill>
                  <a:srgbClr val="FF0000"/>
                </a:solidFill>
                <a:highlight>
                  <a:srgbClr val="00FF00"/>
                </a:highlight>
              </a:rPr>
              <a:t>2D</a:t>
            </a:r>
            <a:r>
              <a:rPr lang="en-US" altLang="en-US" b="1" u="sng" baseline="-25000">
                <a:solidFill>
                  <a:srgbClr val="FF0000"/>
                </a:solidFill>
                <a:highlight>
                  <a:srgbClr val="00FF00"/>
                </a:highlight>
              </a:rPr>
              <a:t>16</a:t>
            </a:r>
            <a:endParaRPr lang="en-US" altLang="en-US" b="1" u="sng" baseline="-25000">
              <a:solidFill>
                <a:srgbClr val="FF0000"/>
              </a:solidFill>
              <a:highlight>
                <a:srgbClr val="00FF00"/>
              </a:highlight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 baseline="-2500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597015" y="227330"/>
            <a:ext cx="521462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Fractions (binary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hex padding rule)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Fractions are the opposite.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Rule: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Start grouping from the left side of the decimal point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Add zeros on the RIGHT side only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727190" y="3088640"/>
            <a:ext cx="4064000" cy="1101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0000"/>
                </a:solidFill>
              </a:rPr>
              <a:t>0</a:t>
            </a:r>
            <a:r>
              <a:rPr lang="en-US" altLang="en-GB" b="1">
                <a:solidFill>
                  <a:schemeClr val="bg1"/>
                </a:solidFill>
              </a:rPr>
              <a:t>101.1</a:t>
            </a:r>
            <a:r>
              <a:rPr lang="en-US" altLang="en-GB" b="1">
                <a:solidFill>
                  <a:srgbClr val="FF0000"/>
                </a:solidFill>
              </a:rPr>
              <a:t>000</a:t>
            </a:r>
            <a:r>
              <a:rPr lang="en-US" altLang="en-US" b="1">
                <a:solidFill>
                  <a:schemeClr val="bg1"/>
                </a:solidFill>
              </a:rPr>
              <a:t>₂</a:t>
            </a:r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b="1" i="1">
                <a:solidFill>
                  <a:srgbClr val="FF0000"/>
                </a:solidFill>
                <a:highlight>
                  <a:srgbClr val="00FF00"/>
                </a:highlight>
              </a:rPr>
              <a:t>5.8</a:t>
            </a:r>
            <a:r>
              <a:rPr lang="en-US" altLang="en-US" b="1" i="1" baseline="-25000">
                <a:solidFill>
                  <a:srgbClr val="FF0000"/>
                </a:solidFill>
                <a:highlight>
                  <a:srgbClr val="00FF00"/>
                </a:highlight>
              </a:rPr>
              <a:t>16</a:t>
            </a:r>
            <a:endParaRPr lang="en-US" altLang="en-US" b="1" i="1" baseline="-25000">
              <a:solidFill>
                <a:srgbClr val="FF0000"/>
              </a:solidFill>
              <a:highlight>
                <a:srgbClr val="00FF00"/>
              </a:highlight>
            </a:endParaRPr>
          </a:p>
          <a:p>
            <a:endParaRPr lang="en-US" altLang="en-US" b="1" i="1" baseline="-2500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62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65430" y="300355"/>
            <a:ext cx="1045464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FF00"/>
                </a:solidFill>
              </a:rPr>
              <a:t>MOST IMPORTANT COMBINED RULE</a:t>
            </a:r>
            <a:endParaRPr lang="en-US" altLang="en-GB" b="1">
              <a:solidFill>
                <a:srgbClr val="FFFF00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Part	                     Direction to group	Where to add zeros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Whole number	   Right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Left	                 LEFT side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Fraction	                     Left </a:t>
            </a:r>
            <a:r>
              <a:rPr lang="en-US" altLang="en-US" b="1">
                <a:solidFill>
                  <a:schemeClr val="bg1"/>
                </a:solidFill>
              </a:rPr>
              <a:t>→</a:t>
            </a:r>
            <a:r>
              <a:rPr lang="en-US" altLang="en-GB" b="1">
                <a:solidFill>
                  <a:schemeClr val="bg1"/>
                </a:solidFill>
              </a:rPr>
              <a:t> Right	                  RIGHT side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65430" y="2727960"/>
            <a:ext cx="808990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FF00"/>
                </a:solidFill>
              </a:rPr>
              <a:t>Why Hexadecimal Is Important</a:t>
            </a:r>
            <a:endParaRPr lang="en-US" altLang="en-GB" b="1">
              <a:solidFill>
                <a:srgbClr val="FFFF00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Hexadecimal is used in: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Memory addresses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Transaction logs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Network packets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Machine language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MAC addresses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IPv6 addresses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Error codes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Debugging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File systems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b="1">
                <a:solidFill>
                  <a:schemeClr val="bg1"/>
                </a:solidFill>
              </a:rPr>
              <a:t>Digital forensics</a:t>
            </a:r>
            <a:endParaRPr lang="en-US" altLang="en-GB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2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3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4.xml><?xml version="1.0" encoding="utf-8"?>
<p:tagLst xmlns:p="http://schemas.openxmlformats.org/presentationml/2006/main">
  <p:tag name="TABLE_ENDDRAG_ORIGIN_RECT" val="928*211"/>
  <p:tag name="TABLE_ENDDRAG_RECT" val="19*224*928*211"/>
</p:tagLst>
</file>

<file path=ppt/tags/tag5.xml><?xml version="1.0" encoding="utf-8"?>
<p:tagLst xmlns:p="http://schemas.openxmlformats.org/presentationml/2006/main">
  <p:tag name="TABLE_ENDDRAG_ORIGIN_RECT" val="413*122"/>
  <p:tag name="TABLE_ENDDRAG_RECT" val="354*224*413*122"/>
</p:tagLst>
</file>

<file path=ppt/tags/tag6.xml><?xml version="1.0" encoding="utf-8"?>
<p:tagLst xmlns:p="http://schemas.openxmlformats.org/presentationml/2006/main">
  <p:tag name="TABLE_ENDDRAG_ORIGIN_RECT" val="177*66"/>
  <p:tag name="TABLE_ENDDRAG_RECT" val="46*203*177*6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9553</Words>
  <Application>WPS Presentation</Application>
  <PresentationFormat>宽屏</PresentationFormat>
  <Paragraphs>817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SimSun</vt:lpstr>
      <vt:lpstr>Wingdings</vt:lpstr>
      <vt:lpstr>Wingdings</vt:lpstr>
      <vt:lpstr>Arial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unjuehevo</cp:lastModifiedBy>
  <cp:revision>139</cp:revision>
  <dcterms:created xsi:type="dcterms:W3CDTF">2015-12-25T06:51:00Z</dcterms:created>
  <dcterms:modified xsi:type="dcterms:W3CDTF">2026-06-14T16:42:26Z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2057-12.2.0.23202</vt:lpwstr>
  </property>
  <property fmtid="{D5CDD505-2E9C-101B-9397-08002B2CF9AE}" pid="3" name="ICV">
    <vt:lpwstr>3F9E55A64B004A87BBC0E23E08E37BD9_13</vt:lpwstr>
  </property>
</Properties>
</file>
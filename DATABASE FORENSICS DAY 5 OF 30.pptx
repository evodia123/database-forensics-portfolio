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8"/>
  </p:handoutMasterIdLst>
  <p:sldIdLst>
    <p:sldId id="288" r:id="rId3"/>
    <p:sldId id="274" r:id="rId5"/>
    <p:sldId id="291" r:id="rId6"/>
    <p:sldId id="292" r:id="rId7"/>
    <p:sldId id="262" r:id="rId8"/>
    <p:sldId id="301" r:id="rId9"/>
    <p:sldId id="293" r:id="rId10"/>
    <p:sldId id="297" r:id="rId11"/>
    <p:sldId id="298" r:id="rId12"/>
    <p:sldId id="299" r:id="rId13"/>
    <p:sldId id="287" r:id="rId14"/>
    <p:sldId id="294" r:id="rId15"/>
    <p:sldId id="295" r:id="rId16"/>
    <p:sldId id="296"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852736"/>
    <a:srgbClr val="862638"/>
    <a:srgbClr val="90293D"/>
    <a:srgbClr val="A42F43"/>
    <a:srgbClr val="005827"/>
    <a:srgbClr val="1D6249"/>
    <a:srgbClr val="1E887A"/>
    <a:srgbClr val="3F6666"/>
    <a:srgbClr val="3E1D89"/>
    <a:srgbClr val="360CC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5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Arial" panose="020B0604020202020204" pitchFamily="3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Arial" panose="020B0604020202020204" pitchFamily="34" charset="0"/>
              </a:defRPr>
            </a:lvl1pPr>
          </a:lstStyle>
          <a:p>
            <a:fld id="{DCA5C2E7-9D8F-47E6-AD76-B5B08028EF9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z="1200" smtClean="0">
                <a:sym typeface="+mn-ea"/>
              </a:rPr>
              <a:t>Click to edit Master text style</a:t>
            </a:r>
            <a:endParaRPr lang="zh-CN" altLang="en-US" sz="1200" smtClean="0"/>
          </a:p>
          <a:p>
            <a:pPr lvl="1"/>
            <a:r>
              <a:rPr lang="zh-CN" altLang="en-US" sz="1200" smtClean="0">
                <a:sym typeface="+mn-ea"/>
              </a:rPr>
              <a:t>Second level</a:t>
            </a:r>
            <a:endParaRPr lang="zh-CN" altLang="en-US" sz="1200" smtClean="0"/>
          </a:p>
          <a:p>
            <a:pPr lvl="2"/>
            <a:r>
              <a:rPr lang="zh-CN" altLang="en-US" sz="1200" smtClean="0">
                <a:sym typeface="+mn-ea"/>
              </a:rPr>
              <a:t>Third level</a:t>
            </a:r>
            <a:endParaRPr lang="zh-CN" altLang="en-US" sz="1200" smtClean="0"/>
          </a:p>
          <a:p>
            <a:pPr lvl="3"/>
            <a:r>
              <a:rPr lang="zh-CN" altLang="en-US" sz="1200" smtClean="0">
                <a:sym typeface="+mn-ea"/>
              </a:rPr>
              <a:t>Fourth level</a:t>
            </a:r>
            <a:endParaRPr lang="zh-CN" altLang="en-US" sz="1200" smtClean="0"/>
          </a:p>
          <a:p>
            <a:pPr lvl="4"/>
            <a:r>
              <a:rPr lang="zh-CN" altLang="en-US" sz="1200" smtClean="0">
                <a:sym typeface="+mn-ea"/>
              </a:rPr>
              <a:t>Fifth level</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Arial" panose="020B0604020202020204" pitchFamily="3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Arial" panose="020B0604020202020204" pitchFamily="34" charset="0"/>
              </a:defRPr>
            </a:lvl1pPr>
          </a:lstStyle>
          <a:p>
            <a:fld id="{3AE85B77-8AE0-464C-9A26-6A01A479EBF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Arial" panose="020B0604020202020204" pitchFamily="34" charset="0"/>
        <a:cs typeface="+mn-cs"/>
        <a:sym typeface="Arial" panose="020B0604020202020204" pitchFamily="34" charset="0"/>
      </a:defRPr>
    </a:lvl1pPr>
    <a:lvl2pPr marL="457200" algn="l" defTabSz="914400" rtl="0" eaLnBrk="1" latinLnBrk="0" hangingPunct="1">
      <a:defRPr sz="1200" kern="1200">
        <a:solidFill>
          <a:schemeClr val="tx1"/>
        </a:solidFill>
        <a:latin typeface="+mn-lt"/>
        <a:ea typeface="Arial" panose="020B0604020202020204" pitchFamily="34" charset="0"/>
        <a:cs typeface="+mn-cs"/>
        <a:sym typeface="Arial" panose="020B0604020202020204" pitchFamily="34" charset="0"/>
      </a:defRPr>
    </a:lvl2pPr>
    <a:lvl3pPr marL="914400" algn="l" defTabSz="914400" rtl="0" eaLnBrk="1" latinLnBrk="0" hangingPunct="1">
      <a:defRPr sz="1200" kern="1200">
        <a:solidFill>
          <a:schemeClr val="tx1"/>
        </a:solidFill>
        <a:latin typeface="+mn-lt"/>
        <a:ea typeface="Arial" panose="020B0604020202020204" pitchFamily="34" charset="0"/>
        <a:cs typeface="+mn-cs"/>
        <a:sym typeface="Arial" panose="020B0604020202020204" pitchFamily="34" charset="0"/>
      </a:defRPr>
    </a:lvl3pPr>
    <a:lvl4pPr marL="1371600" algn="l" defTabSz="914400" rtl="0" eaLnBrk="1" latinLnBrk="0" hangingPunct="1">
      <a:defRPr sz="1200" kern="1200">
        <a:solidFill>
          <a:schemeClr val="tx1"/>
        </a:solidFill>
        <a:latin typeface="+mn-lt"/>
        <a:ea typeface="Arial" panose="020B0604020202020204" pitchFamily="34" charset="0"/>
        <a:cs typeface="+mn-cs"/>
        <a:sym typeface="Arial" panose="020B0604020202020204" pitchFamily="34" charset="0"/>
      </a:defRPr>
    </a:lvl4pPr>
    <a:lvl5pPr marL="1828800" algn="l" defTabSz="914400" rtl="0" eaLnBrk="1" latinLnBrk="0" hangingPunct="1">
      <a:defRPr sz="1200" kern="1200">
        <a:solidFill>
          <a:schemeClr val="tx1"/>
        </a:solidFill>
        <a:latin typeface="+mn-lt"/>
        <a:ea typeface="Arial" panose="020B0604020202020204" pitchFamily="34" charset="0"/>
        <a:cs typeface="+mn-cs"/>
        <a:sym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Click to edit Master title style</a:t>
            </a:r>
            <a:endParaRPr lang="zh-CN" altLang="en-US" smtClean="0"/>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Click to edit Master title style</a:t>
            </a:r>
            <a:endParaRPr lang="zh-CN" altLang="en-US" smtClean="0"/>
          </a:p>
        </p:txBody>
      </p:sp>
      <p:sp>
        <p:nvSpPr>
          <p:cNvPr id="4" name="日期占位符 3"/>
          <p:cNvSpPr>
            <a:spLocks noGrp="1"/>
          </p:cNvSpPr>
          <p:nvPr>
            <p:ph type="dt" sz="half" idx="10"/>
          </p:nvPr>
        </p:nvSpPr>
        <p:spPr/>
        <p:txBody>
          <a:bodyPr/>
          <a:lstStyle/>
          <a:p>
            <a:fld id="{C135374B-67E0-43BB-AAEC-D34305E25872}" type="datetimeFigureOut">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 </a:t>
            </a:r>
            <a:endParaRPr lang="zh-CN" altLang="en-US"/>
          </a:p>
        </p:txBody>
      </p:sp>
      <p:sp>
        <p:nvSpPr>
          <p:cNvPr id="6" name="灯片编号占位符 5"/>
          <p:cNvSpPr>
            <a:spLocks noGrp="1"/>
          </p:cNvSpPr>
          <p:nvPr>
            <p:ph type="sldNum" sz="quarter" idx="12"/>
          </p:nvPr>
        </p:nvSpPr>
        <p:spPr/>
        <p:txBody>
          <a:bodyPr/>
          <a:lstStyle/>
          <a:p>
            <a:fld id="{292586E4-5CDA-4957-9A81-9500A0862CB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Click to edit Master title style</a:t>
            </a:r>
            <a:endParaRPr lang="zh-CN" altLang="en-US" smtClean="0"/>
          </a:p>
        </p:txBody>
      </p:sp>
      <p:sp>
        <p:nvSpPr>
          <p:cNvPr id="3" name="内容占位符 2"/>
          <p:cNvSpPr>
            <a:spLocks noGrp="1"/>
          </p:cNvSpPr>
          <p:nvPr>
            <p:ph idx="1" hasCustomPrompt="1"/>
          </p:nvPr>
        </p:nvSpPr>
        <p:spPr/>
        <p:txBody>
          <a:bodyPr/>
          <a:lstStyle/>
          <a:p>
            <a:pPr lvl="0"/>
            <a:r>
              <a:rPr lang="zh-CN" altLang="en-US" smtClean="0"/>
              <a:t>Click to edit Master text style</a:t>
            </a:r>
            <a:endParaRPr lang="zh-CN" altLang="en-US" smtClean="0"/>
          </a:p>
          <a:p>
            <a:pPr lvl="1"/>
            <a:r>
              <a:rPr lang="zh-CN" altLang="en-US" smtClean="0"/>
              <a:t>Second level</a:t>
            </a:r>
            <a:endParaRPr lang="zh-CN" altLang="en-US" smtClean="0"/>
          </a:p>
          <a:p>
            <a:pPr lvl="2"/>
            <a:r>
              <a:rPr lang="zh-CN" altLang="en-US" smtClean="0"/>
              <a:t>Third level</a:t>
            </a:r>
            <a:endParaRPr lang="zh-CN" altLang="en-US" smtClean="0"/>
          </a:p>
          <a:p>
            <a:pPr lvl="3"/>
            <a:r>
              <a:rPr lang="zh-CN" altLang="en-US" smtClean="0"/>
              <a:t>Fourth level</a:t>
            </a:r>
            <a:endParaRPr lang="zh-CN" altLang="en-US" smtClean="0"/>
          </a:p>
          <a:p>
            <a:pPr lvl="4"/>
            <a:r>
              <a:rPr lang="zh-CN" altLang="en-US" smtClean="0"/>
              <a:t>Fifth level</a:t>
            </a:r>
            <a:endParaRPr lang="zh-CN" altLang="en-US" smtClean="0"/>
          </a:p>
        </p:txBody>
      </p:sp>
      <p:sp>
        <p:nvSpPr>
          <p:cNvPr id="4" name="日期占位符 3"/>
          <p:cNvSpPr>
            <a:spLocks noGrp="1"/>
          </p:cNvSpPr>
          <p:nvPr>
            <p:ph type="dt" sz="half" idx="10"/>
          </p:nvPr>
        </p:nvSpPr>
        <p:spPr/>
        <p:txBody>
          <a:bodyPr/>
          <a:lstStyle/>
          <a:p>
            <a:fld id="{C135374B-67E0-43BB-AAEC-D34305E25872}" type="datetimeFigureOut">
              <a:rPr lang="zh-CN" altLang="en-US" smtClean="0"/>
            </a:fld>
            <a:endParaRPr lang="zh-CN" altLang="en-US"/>
          </a:p>
        </p:txBody>
      </p:sp>
      <p:sp>
        <p:nvSpPr>
          <p:cNvPr id="5" name="页脚占位符 4"/>
          <p:cNvSpPr>
            <a:spLocks noGrp="1"/>
          </p:cNvSpPr>
          <p:nvPr>
            <p:ph type="ftr" sz="quarter" idx="11"/>
          </p:nvPr>
        </p:nvSpPr>
        <p:spPr/>
        <p:txBody>
          <a:bodyPr/>
          <a:lstStyle/>
          <a:p>
            <a:r>
              <a:rPr lang="zh-CN" altLang="en-US"/>
              <a:t> </a:t>
            </a:r>
            <a:endParaRPr lang="zh-CN" altLang="en-US"/>
          </a:p>
        </p:txBody>
      </p:sp>
      <p:sp>
        <p:nvSpPr>
          <p:cNvPr id="6" name="灯片编号占位符 5"/>
          <p:cNvSpPr>
            <a:spLocks noGrp="1"/>
          </p:cNvSpPr>
          <p:nvPr>
            <p:ph type="sldNum" sz="quarter" idx="12"/>
          </p:nvPr>
        </p:nvSpPr>
        <p:spPr/>
        <p:txBody>
          <a:bodyPr/>
          <a:lstStyle/>
          <a:p>
            <a:fld id="{292586E4-5CDA-4957-9A81-9500A0862CB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135374B-67E0-43BB-AAEC-D34305E25872}" type="datetimeFigureOut">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 </a:t>
            </a:r>
            <a:endParaRPr lang="zh-CN" altLang="en-US"/>
          </a:p>
        </p:txBody>
      </p:sp>
      <p:sp>
        <p:nvSpPr>
          <p:cNvPr id="4" name="灯片编号占位符 3"/>
          <p:cNvSpPr>
            <a:spLocks noGrp="1"/>
          </p:cNvSpPr>
          <p:nvPr>
            <p:ph type="sldNum" sz="quarter" idx="12"/>
          </p:nvPr>
        </p:nvSpPr>
        <p:spPr/>
        <p:txBody>
          <a:bodyPr/>
          <a:lstStyle/>
          <a:p>
            <a:fld id="{292586E4-5CDA-4957-9A81-9500A0862CB9}" type="slidenum">
              <a:rPr lang="zh-CN" altLang="en-US" smtClean="0"/>
            </a:fld>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Click to edit Master title style</a:t>
            </a:r>
            <a:endParaRPr lang="zh-CN" altLang="en-US" smtClean="0"/>
          </a:p>
        </p:txBody>
      </p:sp>
      <p:sp>
        <p:nvSpPr>
          <p:cNvPr id="3" name="日期占位符 2"/>
          <p:cNvSpPr>
            <a:spLocks noGrp="1"/>
          </p:cNvSpPr>
          <p:nvPr>
            <p:ph type="dt" sz="half" idx="10"/>
          </p:nvPr>
        </p:nvSpPr>
        <p:spPr>
          <a:xfrm>
            <a:off x="838200" y="6356351"/>
            <a:ext cx="2743200" cy="365125"/>
          </a:xfrm>
        </p:spPr>
        <p:txBody>
          <a:bodyPr/>
          <a:lstStyle>
            <a:lvl1pPr>
              <a:defRPr/>
            </a:lvl1pPr>
          </a:lstStyle>
          <a:p>
            <a:fld id="{5A079F21-3BE8-4E0A-A2CF-C18BDEAD91D7}" type="datetime1">
              <a:rPr lang="zh-CN" altLang="en-US"/>
            </a:fld>
            <a:endParaRPr lang="zh-CN" altLang="en-US" sz="1865" dirty="0">
              <a:solidFill>
                <a:schemeClr val="tx1"/>
              </a:solidFill>
            </a:endParaRPr>
          </a:p>
        </p:txBody>
      </p:sp>
      <p:sp>
        <p:nvSpPr>
          <p:cNvPr id="4" name="页脚占位符 3"/>
          <p:cNvSpPr>
            <a:spLocks noGrp="1"/>
          </p:cNvSpPr>
          <p:nvPr>
            <p:ph type="ftr" sz="quarter" idx="11"/>
          </p:nvPr>
        </p:nvSpPr>
        <p:spPr>
          <a:xfrm>
            <a:off x="4038600" y="6356351"/>
            <a:ext cx="4114800" cy="365125"/>
          </a:xfrm>
        </p:spPr>
        <p:txBody>
          <a:bodyPr/>
          <a:lstStyle>
            <a:lvl1pPr>
              <a:defRPr/>
            </a:lvl1pPr>
          </a:lstStyle>
          <a:p>
            <a:r>
              <a:rPr lang="zh-CN" altLang="zh-CN"/>
              <a:t> </a:t>
            </a:r>
            <a:endParaRPr lang="zh-CN" altLang="zh-CN"/>
          </a:p>
        </p:txBody>
      </p:sp>
      <p:sp>
        <p:nvSpPr>
          <p:cNvPr id="5" name="灯片编号占位符 4"/>
          <p:cNvSpPr>
            <a:spLocks noGrp="1"/>
          </p:cNvSpPr>
          <p:nvPr>
            <p:ph type="sldNum" sz="quarter" idx="12"/>
          </p:nvPr>
        </p:nvSpPr>
        <p:spPr>
          <a:xfrm>
            <a:off x="8610600" y="6356351"/>
            <a:ext cx="2743200" cy="365125"/>
          </a:xfrm>
        </p:spPr>
        <p:txBody>
          <a:bodyPr/>
          <a:lstStyle>
            <a:lvl1pPr>
              <a:defRPr/>
            </a:lvl1pPr>
          </a:lstStyle>
          <a:p>
            <a:fld id="{70336DA7-0B35-4766-B3FA-87CC82BF78CC}" type="slidenum">
              <a:rPr lang="zh-CN" altLang="en-US"/>
            </a:fld>
            <a:endParaRPr lang="zh-CN" altLang="en-US" sz="1865" dirty="0">
              <a:solidFill>
                <a:schemeClr val="tx1"/>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1.jpe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Click to edit Master title style</a:t>
            </a:r>
            <a:endParaRPr lang="zh-CN" altLang="en-US" smtClean="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Click to edit Master text style</a:t>
            </a:r>
            <a:endParaRPr lang="zh-CN" altLang="en-US" smtClean="0"/>
          </a:p>
          <a:p>
            <a:pPr lvl="1"/>
            <a:r>
              <a:rPr lang="zh-CN" altLang="en-US" smtClean="0"/>
              <a:t>Second level</a:t>
            </a:r>
            <a:endParaRPr lang="zh-CN" altLang="en-US" smtClean="0"/>
          </a:p>
          <a:p>
            <a:pPr lvl="2"/>
            <a:r>
              <a:rPr lang="zh-CN" altLang="en-US" smtClean="0"/>
              <a:t>Third level</a:t>
            </a:r>
            <a:endParaRPr lang="zh-CN" altLang="en-US" smtClean="0"/>
          </a:p>
          <a:p>
            <a:pPr lvl="3"/>
            <a:r>
              <a:rPr lang="zh-CN" altLang="en-US" smtClean="0"/>
              <a:t>Fourth level</a:t>
            </a:r>
            <a:endParaRPr lang="zh-CN" altLang="en-US" smtClean="0"/>
          </a:p>
          <a:p>
            <a:pPr lvl="4"/>
            <a:r>
              <a:rPr lang="zh-CN" altLang="en-US" smtClean="0"/>
              <a:t>Fifth level</a:t>
            </a:r>
            <a:endParaRPr lang="zh-CN" altLang="en-US" smtClean="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ea typeface="Arial" panose="020B0604020202020204" pitchFamily="34" charset="0"/>
              </a:defRPr>
            </a:lvl1pPr>
          </a:lstStyle>
          <a:p>
            <a:fld id="{C135374B-67E0-43BB-AAEC-D34305E2587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ea typeface="Arial" panose="020B0604020202020204" pitchFamily="34" charset="0"/>
              </a:defRPr>
            </a:lvl1pPr>
          </a:lstStyle>
          <a:p>
            <a:r>
              <a:rPr lang="zh-CN" altLang="en-US"/>
              <a:t> </a:t>
            </a: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ea typeface="Arial" panose="020B0604020202020204" pitchFamily="34" charset="0"/>
              </a:defRPr>
            </a:lvl1pPr>
          </a:lstStyle>
          <a:p>
            <a:fld id="{292586E4-5CDA-4957-9A81-9500A0862CB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Arial" panose="020B0604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Arial" panose="020B0604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Arial" panose="020B0604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Arial" panose="020B0604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Arial" panose="020B0604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Arial" panose="020B0604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tags" Target="../tags/tag4.xml"/><Relationship Id="rId4" Type="http://schemas.openxmlformats.org/officeDocument/2006/relationships/image" Target="../media/image2.jpeg"/><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tags" Target="../tags/tag8.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a:xfrm>
          <a:off x="0" y="0"/>
          <a:ext cx="0" cy="0"/>
          <a:chOff x="0" y="0"/>
          <a:chExt cx="0" cy="0"/>
        </a:xfrm>
      </p:grpSpPr>
      <p:sp>
        <p:nvSpPr>
          <p:cNvPr id="10" name="文本框 9"/>
          <p:cNvSpPr txBox="1"/>
          <p:nvPr/>
        </p:nvSpPr>
        <p:spPr>
          <a:xfrm>
            <a:off x="2286000" y="379095"/>
            <a:ext cx="7620000" cy="1353185"/>
          </a:xfrm>
          <a:prstGeom prst="rect">
            <a:avLst/>
          </a:prstGeom>
          <a:noFill/>
        </p:spPr>
        <p:txBody>
          <a:bodyPr wrap="square" rtlCol="0">
            <a:spAutoFit/>
          </a:bodyPr>
          <a:lstStyle/>
          <a:p>
            <a:r>
              <a:rPr lang="en-US" altLang="zh-CN" sz="3800" dirty="0">
                <a:solidFill>
                  <a:schemeClr val="bg1"/>
                </a:solidFill>
                <a:effectLst>
                  <a:outerShdw blurRad="60007" dist="310007" dir="7680000" sy="30000" kx="1300200" algn="ctr" rotWithShape="0">
                    <a:schemeClr val="bg1">
                      <a:alpha val="32000"/>
                    </a:schemeClr>
                  </a:outerShdw>
                </a:effectLst>
                <a:latin typeface="Arial" panose="020B0604020202020204" pitchFamily="34" charset="0"/>
                <a:ea typeface="Arial" panose="020B0604020202020204" pitchFamily="34" charset="0"/>
              </a:rPr>
              <a:t>     </a:t>
            </a:r>
            <a:r>
              <a:rPr lang="en-US" altLang="zh-CN" sz="4800" dirty="0">
                <a:solidFill>
                  <a:schemeClr val="bg1"/>
                </a:solidFill>
                <a:effectLst>
                  <a:outerShdw blurRad="60007" dist="310007" dir="7680000" sy="30000" kx="1300200" algn="ctr" rotWithShape="0">
                    <a:schemeClr val="bg1">
                      <a:alpha val="32000"/>
                    </a:schemeClr>
                  </a:outerShdw>
                </a:effectLst>
                <a:latin typeface="Arial" panose="020B0604020202020204" pitchFamily="34" charset="0"/>
                <a:ea typeface="Arial" panose="020B0604020202020204" pitchFamily="34" charset="0"/>
              </a:rPr>
              <a:t> Database Forensics</a:t>
            </a:r>
            <a:r>
              <a:rPr lang="en-US" altLang="zh-CN" sz="3800" dirty="0">
                <a:solidFill>
                  <a:schemeClr val="bg1"/>
                </a:solidFill>
                <a:effectLst>
                  <a:outerShdw blurRad="60007" dist="310007" dir="7680000" sy="30000" kx="1300200" algn="ctr" rotWithShape="0">
                    <a:schemeClr val="bg1">
                      <a:alpha val="32000"/>
                    </a:schemeClr>
                  </a:outerShdw>
                </a:effectLst>
                <a:latin typeface="Arial" panose="020B0604020202020204" pitchFamily="34" charset="0"/>
                <a:ea typeface="Arial" panose="020B0604020202020204" pitchFamily="34" charset="0"/>
              </a:rPr>
              <a:t> </a:t>
            </a:r>
            <a:endParaRPr lang="en-US" altLang="zh-CN" sz="3800" dirty="0">
              <a:solidFill>
                <a:schemeClr val="bg1"/>
              </a:solidFill>
              <a:effectLst>
                <a:outerShdw blurRad="60007" dist="310007" dir="7680000" sy="30000" kx="1300200" algn="ctr" rotWithShape="0">
                  <a:schemeClr val="bg1">
                    <a:alpha val="32000"/>
                  </a:schemeClr>
                </a:outerShdw>
              </a:effectLst>
              <a:latin typeface="Arial" panose="020B0604020202020204" pitchFamily="34" charset="0"/>
              <a:ea typeface="Arial" panose="020B0604020202020204" pitchFamily="34" charset="0"/>
            </a:endParaRPr>
          </a:p>
          <a:p>
            <a:endParaRPr lang="en-US" altLang="zh-CN" sz="1000" dirty="0">
              <a:solidFill>
                <a:schemeClr val="bg1"/>
              </a:solidFill>
              <a:effectLst>
                <a:outerShdw blurRad="60007" dist="310007" dir="7680000" sy="30000" kx="1300200" algn="ctr" rotWithShape="0">
                  <a:schemeClr val="bg1">
                    <a:alpha val="32000"/>
                  </a:schemeClr>
                </a:outerShdw>
              </a:effectLst>
              <a:latin typeface="Arial" panose="020B0604020202020204" pitchFamily="34" charset="0"/>
              <a:ea typeface="Arial" panose="020B0604020202020204" pitchFamily="34" charset="0"/>
            </a:endParaRPr>
          </a:p>
          <a:p>
            <a:r>
              <a:rPr lang="en-US" altLang="zh-CN" sz="2400" dirty="0">
                <a:solidFill>
                  <a:schemeClr val="bg1"/>
                </a:solidFill>
                <a:effectLst>
                  <a:outerShdw blurRad="60007" dist="310007" dir="7680000" sy="30000" kx="1300200" algn="ctr" rotWithShape="0">
                    <a:schemeClr val="bg1">
                      <a:alpha val="32000"/>
                    </a:schemeClr>
                  </a:outerShdw>
                </a:effectLst>
                <a:latin typeface="Arial" panose="020B0604020202020204" pitchFamily="34" charset="0"/>
                <a:ea typeface="Arial" panose="020B0604020202020204" pitchFamily="34" charset="0"/>
              </a:rPr>
              <a:t>How Data Solves Crimes in Large Organisations</a:t>
            </a:r>
            <a:endParaRPr lang="en-US" altLang="zh-CN" sz="2400" dirty="0">
              <a:solidFill>
                <a:schemeClr val="bg1"/>
              </a:solidFill>
              <a:effectLst>
                <a:outerShdw blurRad="60007" dist="310007" dir="7680000" sy="30000" kx="1300200" algn="ctr" rotWithShape="0">
                  <a:schemeClr val="bg1">
                    <a:alpha val="32000"/>
                  </a:schemeClr>
                </a:outerShdw>
              </a:effectLst>
              <a:latin typeface="Arial" panose="020B0604020202020204" pitchFamily="34" charset="0"/>
              <a:ea typeface="Arial" panose="020B0604020202020204" pitchFamily="34" charset="0"/>
            </a:endParaRPr>
          </a:p>
        </p:txBody>
      </p:sp>
      <p:sp>
        <p:nvSpPr>
          <p:cNvPr id="19" name="矩形 18"/>
          <p:cNvSpPr/>
          <p:nvPr/>
        </p:nvSpPr>
        <p:spPr>
          <a:xfrm>
            <a:off x="1448435" y="2380615"/>
            <a:ext cx="9443085" cy="888365"/>
          </a:xfrm>
          <a:prstGeom prst="rect">
            <a:avLst/>
          </a:prstGeom>
        </p:spPr>
        <p:txBody>
          <a:bodyPr wrap="square">
            <a:noAutofit/>
          </a:bodyPr>
          <a:lstStyle/>
          <a:p>
            <a:pPr algn="ctr"/>
            <a:r>
              <a:rPr lang="en-US" altLang="zh-CN" sz="2200" b="1" dirty="0" smtClean="0">
                <a:solidFill>
                  <a:schemeClr val="bg1"/>
                </a:solidFill>
                <a:latin typeface="Arial" panose="020B0604020202020204" pitchFamily="34" charset="0"/>
                <a:ea typeface="Arial" panose="020B0604020202020204" pitchFamily="34" charset="0"/>
              </a:rPr>
              <a:t>A  </a:t>
            </a:r>
            <a:r>
              <a:rPr lang="en-US" altLang="zh-CN" sz="2200" b="1" dirty="0" smtClean="0">
                <a:solidFill>
                  <a:srgbClr val="FFFF00"/>
                </a:solidFill>
                <a:latin typeface="Arial" panose="020B0604020202020204" pitchFamily="34" charset="0"/>
                <a:ea typeface="Arial" panose="020B0604020202020204" pitchFamily="34" charset="0"/>
              </a:rPr>
              <a:t>14</a:t>
            </a:r>
            <a:r>
              <a:rPr lang="en-US" altLang="zh-CN" sz="2200" b="1" dirty="0" smtClean="0">
                <a:solidFill>
                  <a:schemeClr val="bg1"/>
                </a:solidFill>
                <a:latin typeface="Arial" panose="020B0604020202020204" pitchFamily="34" charset="0"/>
                <a:ea typeface="Arial" panose="020B0604020202020204" pitchFamily="34" charset="0"/>
              </a:rPr>
              <a:t>-slide guide to investigating data </a:t>
            </a:r>
            <a:endParaRPr lang="en-US" altLang="zh-CN" sz="2200" b="1" dirty="0" smtClean="0">
              <a:solidFill>
                <a:schemeClr val="bg1"/>
              </a:solidFill>
              <a:latin typeface="Arial" panose="020B0604020202020204" pitchFamily="34" charset="0"/>
              <a:ea typeface="Arial" panose="020B0604020202020204" pitchFamily="34" charset="0"/>
            </a:endParaRPr>
          </a:p>
          <a:p>
            <a:pPr algn="ctr"/>
            <a:r>
              <a:rPr lang="en-US" altLang="zh-CN" sz="2200" b="1" dirty="0" smtClean="0">
                <a:solidFill>
                  <a:schemeClr val="bg1"/>
                </a:solidFill>
                <a:latin typeface="Arial" panose="020B0604020202020204" pitchFamily="34" charset="0"/>
                <a:ea typeface="Arial" panose="020B0604020202020204" pitchFamily="34" charset="0"/>
              </a:rPr>
              <a:t>at scale with SQL and audit logs</a:t>
            </a:r>
            <a:endParaRPr lang="en-US" altLang="zh-CN" sz="2200" b="1" dirty="0" smtClean="0">
              <a:solidFill>
                <a:schemeClr val="bg1"/>
              </a:solidFill>
              <a:latin typeface="Arial" panose="020B0604020202020204" pitchFamily="34" charset="0"/>
              <a:ea typeface="Arial" panose="020B0604020202020204" pitchFamily="34" charset="0"/>
            </a:endParaRPr>
          </a:p>
          <a:p>
            <a:endParaRPr lang="en-US" altLang="zh-CN" sz="2200" b="1" dirty="0" smtClean="0">
              <a:solidFill>
                <a:schemeClr val="bg1"/>
              </a:solidFill>
              <a:latin typeface="Arial" panose="020B0604020202020204" pitchFamily="34" charset="0"/>
              <a:ea typeface="Arial" panose="020B0604020202020204" pitchFamily="34" charset="0"/>
            </a:endParaRPr>
          </a:p>
          <a:p>
            <a:endParaRPr lang="en-US" altLang="zh-CN" sz="2200" b="1" dirty="0" smtClean="0">
              <a:solidFill>
                <a:schemeClr val="bg1"/>
              </a:solidFill>
              <a:latin typeface="Arial" panose="020B0604020202020204" pitchFamily="34" charset="0"/>
              <a:ea typeface="Arial" panose="020B0604020202020204" pitchFamily="34" charset="0"/>
            </a:endParaRPr>
          </a:p>
          <a:p>
            <a:endParaRPr lang="en-US" altLang="zh-CN" sz="2200" b="1" dirty="0" smtClean="0">
              <a:solidFill>
                <a:schemeClr val="bg1"/>
              </a:solidFill>
              <a:latin typeface="Arial" panose="020B0604020202020204" pitchFamily="34" charset="0"/>
              <a:ea typeface="Arial" panose="020B0604020202020204" pitchFamily="34" charset="0"/>
            </a:endParaRPr>
          </a:p>
        </p:txBody>
      </p:sp>
      <p:sp>
        <p:nvSpPr>
          <p:cNvPr id="9" name="Text Box 8"/>
          <p:cNvSpPr txBox="1"/>
          <p:nvPr/>
        </p:nvSpPr>
        <p:spPr>
          <a:xfrm>
            <a:off x="6344285" y="5059045"/>
            <a:ext cx="4064000" cy="572135"/>
          </a:xfrm>
          <a:prstGeom prst="rect">
            <a:avLst/>
          </a:prstGeom>
          <a:noFill/>
        </p:spPr>
        <p:txBody>
          <a:bodyPr wrap="square" rtlCol="0">
            <a:noAutofit/>
          </a:bodyPr>
          <a:p>
            <a:r>
              <a:rPr lang="en-US" altLang="zh-CN" sz="2200" b="1" dirty="0" smtClean="0">
                <a:solidFill>
                  <a:schemeClr val="bg1"/>
                </a:solidFill>
                <a:latin typeface="Arial" panose="020B0604020202020204" pitchFamily="34" charset="0"/>
                <a:ea typeface="Arial" panose="020B0604020202020204" pitchFamily="34" charset="0"/>
                <a:sym typeface="+mn-ea"/>
              </a:rPr>
              <a:t>Day </a:t>
            </a:r>
            <a:r>
              <a:rPr lang="en-US" altLang="zh-CN" sz="2200" b="1" dirty="0" smtClean="0">
                <a:solidFill>
                  <a:srgbClr val="FFFF00"/>
                </a:solidFill>
                <a:latin typeface="Arial" panose="020B0604020202020204" pitchFamily="34" charset="0"/>
                <a:ea typeface="Arial" panose="020B0604020202020204" pitchFamily="34" charset="0"/>
                <a:sym typeface="+mn-ea"/>
              </a:rPr>
              <a:t>5</a:t>
            </a:r>
            <a:r>
              <a:rPr lang="en-US" altLang="zh-CN" sz="2200" b="1" dirty="0" smtClean="0">
                <a:solidFill>
                  <a:srgbClr val="FF0000"/>
                </a:solidFill>
                <a:latin typeface="Arial" panose="020B0604020202020204" pitchFamily="34" charset="0"/>
                <a:ea typeface="Arial" panose="020B0604020202020204" pitchFamily="34" charset="0"/>
                <a:sym typeface="+mn-ea"/>
              </a:rPr>
              <a:t> </a:t>
            </a:r>
            <a:r>
              <a:rPr lang="en-US" altLang="zh-CN" sz="2200" b="1" dirty="0" smtClean="0">
                <a:solidFill>
                  <a:schemeClr val="bg1"/>
                </a:solidFill>
                <a:latin typeface="Arial" panose="020B0604020202020204" pitchFamily="34" charset="0"/>
                <a:ea typeface="Arial" panose="020B0604020202020204" pitchFamily="34" charset="0"/>
                <a:sym typeface="+mn-ea"/>
              </a:rPr>
              <a:t>of 30 | June 2026 </a:t>
            </a:r>
            <a:endParaRPr lang="en-US" altLang="zh-CN" b="1" dirty="0" smtClean="0">
              <a:solidFill>
                <a:schemeClr val="bg1"/>
              </a:solidFill>
              <a:latin typeface="Arial" panose="020B0604020202020204" pitchFamily="34" charset="0"/>
              <a:ea typeface="Arial" panose="020B0604020202020204" pitchFamily="34" charset="0"/>
            </a:endParaRPr>
          </a:p>
          <a:p>
            <a:endParaRPr lang="en-GB" altLang="en-US"/>
          </a:p>
        </p:txBody>
      </p:sp>
      <p:sp>
        <p:nvSpPr>
          <p:cNvPr id="16" name="Text Box 15"/>
          <p:cNvSpPr txBox="1"/>
          <p:nvPr/>
        </p:nvSpPr>
        <p:spPr>
          <a:xfrm>
            <a:off x="97790" y="5017135"/>
            <a:ext cx="3946525" cy="613410"/>
          </a:xfrm>
          <a:prstGeom prst="rect">
            <a:avLst/>
          </a:prstGeom>
          <a:noFill/>
        </p:spPr>
        <p:txBody>
          <a:bodyPr wrap="square" rtlCol="0">
            <a:noAutofit/>
          </a:bodyPr>
          <a:p>
            <a:r>
              <a:rPr lang="en-US" altLang="zh-CN" dirty="0">
                <a:solidFill>
                  <a:schemeClr val="bg1"/>
                </a:solidFill>
                <a:latin typeface="Arial" panose="020B0604020202020204" pitchFamily="34" charset="0"/>
                <a:ea typeface="Arial" panose="020B0604020202020204" pitchFamily="34" charset="0"/>
                <a:sym typeface="+mn-ea"/>
              </a:rPr>
              <a:t>EVODIA UNJUEH AKU</a:t>
            </a:r>
            <a:endParaRPr lang="en-US" altLang="zh-CN" dirty="0">
              <a:solidFill>
                <a:schemeClr val="bg1"/>
              </a:solidFill>
              <a:latin typeface="Arial" panose="020B0604020202020204" pitchFamily="34" charset="0"/>
              <a:ea typeface="Arial" panose="020B0604020202020204" pitchFamily="34" charset="0"/>
              <a:sym typeface="+mn-ea"/>
            </a:endParaRPr>
          </a:p>
          <a:p>
            <a:r>
              <a:rPr lang="en-US" altLang="zh-CN" dirty="0">
                <a:solidFill>
                  <a:schemeClr val="bg1"/>
                </a:solidFill>
                <a:latin typeface="Arial" panose="020B0604020202020204" pitchFamily="34" charset="0"/>
                <a:ea typeface="Arial" panose="020B0604020202020204" pitchFamily="34" charset="0"/>
                <a:sym typeface="+mn-ea"/>
              </a:rPr>
              <a:t>unjuehevo@gmail.com</a:t>
            </a:r>
            <a:endParaRPr lang="en-US" altLang="zh-CN" dirty="0">
              <a:solidFill>
                <a:schemeClr val="bg1"/>
              </a:solidFill>
              <a:latin typeface="Arial" panose="020B0604020202020204" pitchFamily="34" charset="0"/>
              <a:ea typeface="Arial" panose="020B0604020202020204" pitchFamily="34" charset="0"/>
            </a:endParaRPr>
          </a:p>
          <a:p>
            <a:endParaRPr lang="en-US" altLang="en-GB">
              <a:solidFill>
                <a:schemeClr val="bg1"/>
              </a:solidFill>
            </a:endParaRPr>
          </a:p>
          <a:p>
            <a:endParaRPr lang="en-US" altLang="en-GB">
              <a:solidFill>
                <a:schemeClr val="bg1"/>
              </a:solidFill>
            </a:endParaRPr>
          </a:p>
        </p:txBody>
      </p:sp>
      <p:pic>
        <p:nvPicPr>
          <p:cNvPr id="20" name="Picture 19" descr="WhatsApp Image 2026-05-26 at 9.15.32 AM"/>
          <p:cNvPicPr>
            <a:picLocks noChangeAspect="1"/>
          </p:cNvPicPr>
          <p:nvPr/>
        </p:nvPicPr>
        <p:blipFill>
          <a:blip r:embed="rId1"/>
          <a:srcRect l="11601" t="7675" r="19054" b="14253"/>
          <a:stretch>
            <a:fillRect/>
          </a:stretch>
        </p:blipFill>
        <p:spPr>
          <a:xfrm>
            <a:off x="0" y="0"/>
            <a:ext cx="807085" cy="859155"/>
          </a:xfrm>
          <a:prstGeom prst="rect">
            <a:avLst/>
          </a:prstGeom>
        </p:spPr>
      </p:pic>
      <p:pic>
        <p:nvPicPr>
          <p:cNvPr id="21" name="Picture 20" descr="WhatsApp Image 2026-05-26 at 9.15.32 AM"/>
          <p:cNvPicPr>
            <a:picLocks noChangeAspect="1"/>
          </p:cNvPicPr>
          <p:nvPr/>
        </p:nvPicPr>
        <p:blipFill>
          <a:blip r:embed="rId1"/>
          <a:srcRect l="18064" t="13385" r="17739" b="15487"/>
          <a:stretch>
            <a:fillRect/>
          </a:stretch>
        </p:blipFill>
        <p:spPr>
          <a:xfrm>
            <a:off x="11438255" y="5977255"/>
            <a:ext cx="753745" cy="880745"/>
          </a:xfrm>
          <a:prstGeom prst="rect">
            <a:avLst/>
          </a:prstGeom>
        </p:spPr>
      </p:pic>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a:xfrm>
          <a:off x="0" y="0"/>
          <a:ext cx="0" cy="0"/>
          <a:chOff x="0" y="0"/>
          <a:chExt cx="0" cy="0"/>
        </a:xfrm>
      </p:grpSpPr>
      <p:grpSp>
        <p:nvGrpSpPr>
          <p:cNvPr id="16" name="组合 62"/>
          <p:cNvGrpSpPr/>
          <p:nvPr>
            <p:custDataLst>
              <p:tags r:id="rId1"/>
            </p:custDataLst>
          </p:nvPr>
        </p:nvGrpSpPr>
        <p:grpSpPr bwMode="auto">
          <a:xfrm>
            <a:off x="738183" y="2694249"/>
            <a:ext cx="3913505" cy="1560196"/>
            <a:chOff x="-349700" y="1138886"/>
            <a:chExt cx="3713777" cy="1171252"/>
          </a:xfrm>
        </p:grpSpPr>
        <p:sp>
          <p:nvSpPr>
            <p:cNvPr id="17" name="TextBox 19"/>
            <p:cNvSpPr>
              <a:spLocks noChangeArrowheads="1"/>
            </p:cNvSpPr>
            <p:nvPr>
              <p:custDataLst>
                <p:tags r:id="rId2"/>
              </p:custDataLst>
            </p:nvPr>
          </p:nvSpPr>
          <p:spPr bwMode="auto">
            <a:xfrm>
              <a:off x="-349700" y="1447311"/>
              <a:ext cx="3713777" cy="862827"/>
            </a:xfrm>
            <a:prstGeom prst="rect">
              <a:avLst/>
            </a:prstGeom>
            <a:noFill/>
            <a:ln w="9525">
              <a:noFill/>
              <a:miter lim="800000"/>
            </a:ln>
          </p:spPr>
          <p:txBody>
            <a:bodyPr wrap="square">
              <a:noAutofit/>
            </a:bodyPr>
            <a:lstStyle/>
            <a:p>
              <a:endParaRPr lang="en-US" altLang="zh-CN" sz="1600" dirty="0">
                <a:solidFill>
                  <a:schemeClr val="bg1"/>
                </a:solidFill>
                <a:latin typeface="Arial" panose="020B0604020202020204" pitchFamily="34" charset="0"/>
                <a:ea typeface="Arial" panose="020B0604020202020204" pitchFamily="34" charset="0"/>
              </a:endParaRPr>
            </a:p>
          </p:txBody>
        </p:sp>
        <p:sp>
          <p:nvSpPr>
            <p:cNvPr id="18" name="矩形 64"/>
            <p:cNvSpPr>
              <a:spLocks noChangeArrowheads="1"/>
            </p:cNvSpPr>
            <p:nvPr>
              <p:custDataLst>
                <p:tags r:id="rId3"/>
              </p:custDataLst>
            </p:nvPr>
          </p:nvSpPr>
          <p:spPr bwMode="auto">
            <a:xfrm>
              <a:off x="318575" y="1138886"/>
              <a:ext cx="2535709" cy="260755"/>
            </a:xfrm>
            <a:prstGeom prst="rect">
              <a:avLst/>
            </a:prstGeom>
            <a:noFill/>
            <a:ln w="9525">
              <a:noFill/>
              <a:miter lim="800000"/>
            </a:ln>
          </p:spPr>
          <p:txBody>
            <a:bodyPr wrap="square">
              <a:noAutofit/>
            </a:bodyPr>
            <a:lstStyle/>
            <a:p>
              <a:pPr algn="ctr"/>
              <a:endParaRPr lang="en-US" altLang="zh-CN" b="1" dirty="0" smtClean="0">
                <a:solidFill>
                  <a:schemeClr val="bg1"/>
                </a:solidFill>
                <a:latin typeface="Arial" panose="020B0604020202020204" pitchFamily="34" charset="0"/>
                <a:ea typeface="Arial" panose="020B0604020202020204" pitchFamily="34" charset="0"/>
              </a:endParaRPr>
            </a:p>
          </p:txBody>
        </p:sp>
      </p:grpSp>
      <p:sp>
        <p:nvSpPr>
          <p:cNvPr id="4" name="Text Box 3"/>
          <p:cNvSpPr txBox="1"/>
          <p:nvPr/>
        </p:nvSpPr>
        <p:spPr>
          <a:xfrm>
            <a:off x="1357630" y="230505"/>
            <a:ext cx="9576435" cy="624205"/>
          </a:xfrm>
          <a:prstGeom prst="rect">
            <a:avLst/>
          </a:prstGeom>
          <a:noFill/>
          <a:effectLst>
            <a:outerShdw blurRad="63500" sx="102000" sy="102000" algn="ctr" rotWithShape="0">
              <a:prstClr val="black">
                <a:alpha val="40000"/>
              </a:prstClr>
            </a:outerShdw>
          </a:effectLst>
        </p:spPr>
        <p:txBody>
          <a:bodyPr wrap="square" rtlCol="0">
            <a:noAutofit/>
          </a:bodyPr>
          <a:p>
            <a:pPr algn="ctr"/>
            <a:r>
              <a:rPr lang="en-US" altLang="en-GB" sz="3000" b="1">
                <a:solidFill>
                  <a:schemeClr val="bg1"/>
                </a:solidFill>
              </a:rPr>
              <a:t>DATABASE  FORENSICS</a:t>
            </a:r>
            <a:r>
              <a:rPr lang="en-US" altLang="en-GB" sz="3000" b="1">
                <a:solidFill>
                  <a:srgbClr val="FFFF00"/>
                </a:solidFill>
              </a:rPr>
              <a:t> = </a:t>
            </a:r>
            <a:r>
              <a:rPr lang="en-US" altLang="en-GB" sz="3000" b="1">
                <a:solidFill>
                  <a:schemeClr val="bg1"/>
                </a:solidFill>
              </a:rPr>
              <a:t>DIGITAL EVIDENCE</a:t>
            </a:r>
            <a:endParaRPr lang="en-US" altLang="en-GB" sz="3000" b="1">
              <a:solidFill>
                <a:schemeClr val="bg1"/>
              </a:solidFill>
            </a:endParaRPr>
          </a:p>
        </p:txBody>
      </p:sp>
      <p:pic>
        <p:nvPicPr>
          <p:cNvPr id="8" name="Picture 7" descr="WhatsApp Image 2026-05-26 at 9.15.32 AM"/>
          <p:cNvPicPr>
            <a:picLocks noChangeAspect="1"/>
          </p:cNvPicPr>
          <p:nvPr/>
        </p:nvPicPr>
        <p:blipFill>
          <a:blip r:embed="rId4"/>
          <a:srcRect l="11601" t="7675" r="19054" b="14253"/>
          <a:stretch>
            <a:fillRect/>
          </a:stretch>
        </p:blipFill>
        <p:spPr>
          <a:xfrm>
            <a:off x="0" y="0"/>
            <a:ext cx="807085" cy="859155"/>
          </a:xfrm>
          <a:prstGeom prst="rect">
            <a:avLst/>
          </a:prstGeom>
        </p:spPr>
      </p:pic>
      <p:pic>
        <p:nvPicPr>
          <p:cNvPr id="9" name="Picture 8" descr="WhatsApp Image 2026-05-26 at 9.15.32 AM"/>
          <p:cNvPicPr>
            <a:picLocks noChangeAspect="1"/>
          </p:cNvPicPr>
          <p:nvPr/>
        </p:nvPicPr>
        <p:blipFill>
          <a:blip r:embed="rId4"/>
          <a:srcRect l="11601" t="7675" r="19054" b="14253"/>
          <a:stretch>
            <a:fillRect/>
          </a:stretch>
        </p:blipFill>
        <p:spPr>
          <a:xfrm>
            <a:off x="11384915" y="5998845"/>
            <a:ext cx="807085" cy="859155"/>
          </a:xfrm>
          <a:prstGeom prst="rect">
            <a:avLst/>
          </a:prstGeom>
        </p:spPr>
      </p:pic>
      <p:sp>
        <p:nvSpPr>
          <p:cNvPr id="5" name="Text Box 4"/>
          <p:cNvSpPr txBox="1"/>
          <p:nvPr/>
        </p:nvSpPr>
        <p:spPr>
          <a:xfrm>
            <a:off x="0" y="1913255"/>
            <a:ext cx="12192000" cy="492125"/>
          </a:xfrm>
          <a:prstGeom prst="rect">
            <a:avLst/>
          </a:prstGeom>
          <a:noFill/>
        </p:spPr>
        <p:txBody>
          <a:bodyPr wrap="square" rtlCol="0">
            <a:noAutofit/>
          </a:bodyPr>
          <a:p>
            <a:pPr algn="ctr"/>
            <a:r>
              <a:rPr lang="en-US" altLang="en-GB" sz="2600" b="1">
                <a:solidFill>
                  <a:schemeClr val="bg1"/>
                </a:solidFill>
              </a:rPr>
              <a:t>CONVERSION SYSTEMS</a:t>
            </a:r>
            <a:endParaRPr lang="en-US" altLang="en-GB" sz="2600">
              <a:solidFill>
                <a:schemeClr val="bg1"/>
              </a:solidFill>
            </a:endParaRPr>
          </a:p>
          <a:p>
            <a:pPr algn="ctr"/>
            <a:endParaRPr lang="en-US" altLang="en-GB">
              <a:solidFill>
                <a:schemeClr val="bg1"/>
              </a:solidFill>
            </a:endParaRPr>
          </a:p>
          <a:p>
            <a:pPr algn="ctr"/>
            <a:endParaRPr lang="en-US" altLang="en-GB">
              <a:solidFill>
                <a:schemeClr val="bg1"/>
              </a:solidFill>
            </a:endParaRPr>
          </a:p>
        </p:txBody>
      </p:sp>
      <p:sp>
        <p:nvSpPr>
          <p:cNvPr id="11" name="Text Box 10"/>
          <p:cNvSpPr txBox="1"/>
          <p:nvPr/>
        </p:nvSpPr>
        <p:spPr>
          <a:xfrm>
            <a:off x="0" y="1102995"/>
            <a:ext cx="12192000" cy="521970"/>
          </a:xfrm>
          <a:prstGeom prst="rect">
            <a:avLst/>
          </a:prstGeom>
          <a:noFill/>
        </p:spPr>
        <p:txBody>
          <a:bodyPr wrap="square" rtlCol="0">
            <a:spAutoFit/>
          </a:bodyPr>
          <a:p>
            <a:pPr algn="ctr"/>
            <a:r>
              <a:rPr lang="en-US" altLang="en-GB" sz="2800" b="1">
                <a:solidFill>
                  <a:srgbClr val="FFFF00"/>
                </a:solidFill>
              </a:rPr>
              <a:t>TRANSACTION LOG - PART TWO</a:t>
            </a:r>
            <a:endParaRPr lang="en-US" altLang="en-GB" sz="2800" b="1">
              <a:solidFill>
                <a:srgbClr val="FFFF00"/>
              </a:solidFill>
            </a:endParaRPr>
          </a:p>
        </p:txBody>
      </p:sp>
      <p:graphicFrame>
        <p:nvGraphicFramePr>
          <p:cNvPr id="13" name="Table 12"/>
          <p:cNvGraphicFramePr/>
          <p:nvPr>
            <p:custDataLst>
              <p:tags r:id="rId5"/>
            </p:custDataLst>
          </p:nvPr>
        </p:nvGraphicFramePr>
        <p:xfrm>
          <a:off x="73660" y="2903220"/>
          <a:ext cx="12033885" cy="2626360"/>
        </p:xfrm>
        <a:graphic>
          <a:graphicData uri="http://schemas.openxmlformats.org/drawingml/2006/table">
            <a:tbl>
              <a:tblPr firstRow="1" bandRow="1">
                <a:tableStyleId>{5C22544A-7EE6-4342-B048-85BDC9FD1C3A}</a:tableStyleId>
              </a:tblPr>
              <a:tblGrid>
                <a:gridCol w="1297940"/>
                <a:gridCol w="2940685"/>
                <a:gridCol w="3286760"/>
                <a:gridCol w="4508500"/>
              </a:tblGrid>
              <a:tr h="708025">
                <a:tc>
                  <a:txBody>
                    <a:bodyPr/>
                    <a:p>
                      <a:pPr>
                        <a:buNone/>
                      </a:pPr>
                      <a:r>
                        <a:rPr lang="en-US" altLang="en-GB" sz="2000">
                          <a:solidFill>
                            <a:schemeClr val="bg1"/>
                          </a:solidFill>
                          <a:sym typeface="+mn-ea"/>
                        </a:rPr>
                        <a:t>BINARY</a:t>
                      </a:r>
                      <a:endParaRPr lang="en-US" altLang="en-GB" sz="2000">
                        <a:solidFill>
                          <a:schemeClr val="bg1"/>
                        </a:solidFill>
                      </a:endParaRPr>
                    </a:p>
                    <a:p>
                      <a:pPr>
                        <a:buNone/>
                      </a:pPr>
                      <a:endParaRPr lang="en-US" altLang="en-GB" sz="2000">
                        <a:solidFill>
                          <a:schemeClr val="bg1"/>
                        </a:solidFill>
                      </a:endParaRPr>
                    </a:p>
                  </a:txBody>
                  <a:tcPr>
                    <a:solidFill>
                      <a:srgbClr val="862638"/>
                    </a:solidFill>
                  </a:tcPr>
                </a:tc>
                <a:tc>
                  <a:txBody>
                    <a:bodyPr/>
                    <a:p>
                      <a:pPr>
                        <a:buNone/>
                      </a:pPr>
                      <a:r>
                        <a:rPr lang="en-US" altLang="en-GB" sz="2000">
                          <a:solidFill>
                            <a:schemeClr val="bg1"/>
                          </a:solidFill>
                          <a:sym typeface="+mn-ea"/>
                        </a:rPr>
                        <a:t>OCTAL</a:t>
                      </a:r>
                      <a:endParaRPr lang="en-US" altLang="en-GB" sz="2000">
                        <a:solidFill>
                          <a:schemeClr val="bg1"/>
                        </a:solidFill>
                      </a:endParaRPr>
                    </a:p>
                    <a:p>
                      <a:pPr>
                        <a:buNone/>
                      </a:pPr>
                      <a:endParaRPr lang="en-US" altLang="en-GB" sz="2000">
                        <a:solidFill>
                          <a:schemeClr val="bg1"/>
                        </a:solidFill>
                      </a:endParaRPr>
                    </a:p>
                  </a:txBody>
                  <a:tcPr>
                    <a:solidFill>
                      <a:srgbClr val="862638"/>
                    </a:solidFill>
                  </a:tcPr>
                </a:tc>
                <a:tc>
                  <a:txBody>
                    <a:bodyPr/>
                    <a:p>
                      <a:pPr>
                        <a:buNone/>
                      </a:pPr>
                      <a:r>
                        <a:rPr lang="en-US" altLang="en-GB" sz="2000">
                          <a:solidFill>
                            <a:schemeClr val="bg1"/>
                          </a:solidFill>
                          <a:sym typeface="+mn-ea"/>
                        </a:rPr>
                        <a:t>DECIMAL</a:t>
                      </a:r>
                      <a:endParaRPr lang="en-US" altLang="en-GB" sz="2000">
                        <a:solidFill>
                          <a:schemeClr val="bg1"/>
                        </a:solidFill>
                      </a:endParaRPr>
                    </a:p>
                    <a:p>
                      <a:pPr>
                        <a:buNone/>
                      </a:pPr>
                      <a:endParaRPr lang="en-US" altLang="en-GB" sz="2000">
                        <a:solidFill>
                          <a:schemeClr val="bg1"/>
                        </a:solidFill>
                      </a:endParaRPr>
                    </a:p>
                  </a:txBody>
                  <a:tcPr>
                    <a:solidFill>
                      <a:srgbClr val="862638"/>
                    </a:solidFill>
                  </a:tcPr>
                </a:tc>
                <a:tc>
                  <a:txBody>
                    <a:bodyPr/>
                    <a:p>
                      <a:pPr>
                        <a:buNone/>
                      </a:pPr>
                      <a:r>
                        <a:rPr lang="en-US" altLang="en-GB" sz="2000">
                          <a:solidFill>
                            <a:schemeClr val="bg1"/>
                          </a:solidFill>
                          <a:sym typeface="+mn-ea"/>
                        </a:rPr>
                        <a:t>HEXA</a:t>
                      </a:r>
                      <a:endParaRPr lang="en-US" altLang="en-GB" sz="2000">
                        <a:solidFill>
                          <a:schemeClr val="bg1"/>
                        </a:solidFill>
                      </a:endParaRPr>
                    </a:p>
                    <a:p>
                      <a:pPr>
                        <a:buNone/>
                      </a:pPr>
                      <a:endParaRPr lang="en-US" altLang="en-GB" sz="2000">
                        <a:solidFill>
                          <a:schemeClr val="bg1"/>
                        </a:solidFill>
                      </a:endParaRPr>
                    </a:p>
                  </a:txBody>
                  <a:tcPr>
                    <a:solidFill>
                      <a:srgbClr val="862638"/>
                    </a:solidFill>
                  </a:tcPr>
                </a:tc>
              </a:tr>
              <a:tr h="399415">
                <a:tc>
                  <a:txBody>
                    <a:bodyPr/>
                    <a:p>
                      <a:pPr>
                        <a:buNone/>
                      </a:pPr>
                      <a:r>
                        <a:rPr lang="en-US" altLang="en-GB" sz="2000">
                          <a:solidFill>
                            <a:schemeClr val="bg1"/>
                          </a:solidFill>
                        </a:rPr>
                        <a:t>Base: 2</a:t>
                      </a:r>
                      <a:endParaRPr lang="en-US" altLang="en-GB" sz="2000">
                        <a:solidFill>
                          <a:schemeClr val="bg1"/>
                        </a:solidFill>
                      </a:endParaRPr>
                    </a:p>
                  </a:txBody>
                  <a:tcPr>
                    <a:solidFill>
                      <a:srgbClr val="862638"/>
                    </a:solidFill>
                  </a:tcPr>
                </a:tc>
                <a:tc>
                  <a:txBody>
                    <a:bodyPr/>
                    <a:p>
                      <a:pPr>
                        <a:buNone/>
                      </a:pPr>
                      <a:r>
                        <a:rPr lang="en-US" altLang="en-GB" sz="2000">
                          <a:solidFill>
                            <a:schemeClr val="bg1"/>
                          </a:solidFill>
                          <a:sym typeface="+mn-ea"/>
                        </a:rPr>
                        <a:t>Base: </a:t>
                      </a:r>
                      <a:r>
                        <a:rPr lang="en-US" altLang="en-GB" sz="2000">
                          <a:solidFill>
                            <a:schemeClr val="bg1"/>
                          </a:solidFill>
                        </a:rPr>
                        <a:t>8</a:t>
                      </a:r>
                      <a:endParaRPr lang="en-US" altLang="en-GB" sz="2000">
                        <a:solidFill>
                          <a:schemeClr val="bg1"/>
                        </a:solidFill>
                      </a:endParaRPr>
                    </a:p>
                  </a:txBody>
                  <a:tcPr>
                    <a:solidFill>
                      <a:srgbClr val="862638"/>
                    </a:solidFill>
                  </a:tcPr>
                </a:tc>
                <a:tc>
                  <a:txBody>
                    <a:bodyPr/>
                    <a:p>
                      <a:pPr>
                        <a:buNone/>
                      </a:pPr>
                      <a:r>
                        <a:rPr lang="en-US" altLang="en-GB" sz="2000">
                          <a:solidFill>
                            <a:schemeClr val="bg1"/>
                          </a:solidFill>
                          <a:sym typeface="+mn-ea"/>
                        </a:rPr>
                        <a:t>Base: </a:t>
                      </a:r>
                      <a:r>
                        <a:rPr lang="en-US" altLang="en-GB" sz="2000">
                          <a:solidFill>
                            <a:schemeClr val="bg1"/>
                          </a:solidFill>
                        </a:rPr>
                        <a:t>10</a:t>
                      </a:r>
                      <a:endParaRPr lang="en-US" altLang="en-GB" sz="2000">
                        <a:solidFill>
                          <a:schemeClr val="bg1"/>
                        </a:solidFill>
                      </a:endParaRPr>
                    </a:p>
                  </a:txBody>
                  <a:tcPr>
                    <a:solidFill>
                      <a:srgbClr val="862638"/>
                    </a:solidFill>
                  </a:tcPr>
                </a:tc>
                <a:tc>
                  <a:txBody>
                    <a:bodyPr/>
                    <a:p>
                      <a:pPr>
                        <a:buNone/>
                      </a:pPr>
                      <a:r>
                        <a:rPr lang="en-US" altLang="en-GB" sz="2000">
                          <a:solidFill>
                            <a:schemeClr val="bg1"/>
                          </a:solidFill>
                          <a:sym typeface="+mn-ea"/>
                        </a:rPr>
                        <a:t>Base: </a:t>
                      </a:r>
                      <a:r>
                        <a:rPr lang="en-US" altLang="en-GB" sz="2000">
                          <a:solidFill>
                            <a:schemeClr val="bg1"/>
                          </a:solidFill>
                        </a:rPr>
                        <a:t>16</a:t>
                      </a:r>
                      <a:endParaRPr lang="en-US" altLang="en-GB" sz="2000">
                        <a:solidFill>
                          <a:schemeClr val="bg1"/>
                        </a:solidFill>
                      </a:endParaRPr>
                    </a:p>
                  </a:txBody>
                  <a:tcPr>
                    <a:solidFill>
                      <a:srgbClr val="862638"/>
                    </a:solidFill>
                  </a:tcPr>
                </a:tc>
              </a:tr>
              <a:tr h="658495">
                <a:tc>
                  <a:txBody>
                    <a:bodyPr/>
                    <a:p>
                      <a:pPr>
                        <a:buNone/>
                      </a:pPr>
                      <a:r>
                        <a:rPr lang="en-US" altLang="en-GB" sz="2000">
                          <a:solidFill>
                            <a:schemeClr val="bg1"/>
                          </a:solidFill>
                        </a:rPr>
                        <a:t>Range: 0-1</a:t>
                      </a:r>
                      <a:endParaRPr lang="en-US" altLang="en-GB" sz="2000">
                        <a:solidFill>
                          <a:schemeClr val="bg1"/>
                        </a:solidFill>
                      </a:endParaRPr>
                    </a:p>
                  </a:txBody>
                  <a:tcPr>
                    <a:solidFill>
                      <a:srgbClr val="862638"/>
                    </a:solidFill>
                  </a:tcPr>
                </a:tc>
                <a:tc>
                  <a:txBody>
                    <a:bodyPr/>
                    <a:p>
                      <a:pPr>
                        <a:buNone/>
                      </a:pPr>
                      <a:r>
                        <a:rPr lang="en-US" altLang="en-GB" sz="2000">
                          <a:solidFill>
                            <a:schemeClr val="bg1"/>
                          </a:solidFill>
                          <a:sym typeface="+mn-ea"/>
                        </a:rPr>
                        <a:t>Range: </a:t>
                      </a:r>
                      <a:r>
                        <a:rPr lang="en-US" altLang="en-GB" sz="2000">
                          <a:solidFill>
                            <a:schemeClr val="bg1"/>
                          </a:solidFill>
                        </a:rPr>
                        <a:t>0-7</a:t>
                      </a:r>
                      <a:endParaRPr lang="en-US" altLang="en-GB" sz="2000">
                        <a:solidFill>
                          <a:schemeClr val="bg1"/>
                        </a:solidFill>
                      </a:endParaRPr>
                    </a:p>
                  </a:txBody>
                  <a:tcPr>
                    <a:solidFill>
                      <a:srgbClr val="862638"/>
                    </a:solidFill>
                  </a:tcPr>
                </a:tc>
                <a:tc>
                  <a:txBody>
                    <a:bodyPr/>
                    <a:p>
                      <a:pPr>
                        <a:buNone/>
                      </a:pPr>
                      <a:r>
                        <a:rPr lang="en-US" altLang="en-GB" sz="2000">
                          <a:solidFill>
                            <a:schemeClr val="bg1"/>
                          </a:solidFill>
                          <a:sym typeface="+mn-ea"/>
                        </a:rPr>
                        <a:t>Range: </a:t>
                      </a:r>
                      <a:r>
                        <a:rPr lang="en-US" altLang="en-GB" sz="2000">
                          <a:solidFill>
                            <a:schemeClr val="bg1"/>
                          </a:solidFill>
                        </a:rPr>
                        <a:t>0-9</a:t>
                      </a:r>
                      <a:endParaRPr lang="en-US" altLang="en-GB" sz="2000">
                        <a:solidFill>
                          <a:schemeClr val="bg1"/>
                        </a:solidFill>
                      </a:endParaRPr>
                    </a:p>
                  </a:txBody>
                  <a:tcPr>
                    <a:solidFill>
                      <a:srgbClr val="862638"/>
                    </a:solidFill>
                  </a:tcPr>
                </a:tc>
                <a:tc>
                  <a:txBody>
                    <a:bodyPr/>
                    <a:p>
                      <a:pPr>
                        <a:buNone/>
                      </a:pPr>
                      <a:r>
                        <a:rPr lang="en-US" altLang="en-GB" sz="2000">
                          <a:solidFill>
                            <a:schemeClr val="bg1"/>
                          </a:solidFill>
                          <a:sym typeface="+mn-ea"/>
                        </a:rPr>
                        <a:t>Range: </a:t>
                      </a:r>
                      <a:r>
                        <a:rPr lang="en-US" altLang="en-GB" sz="2000">
                          <a:solidFill>
                            <a:schemeClr val="bg1"/>
                          </a:solidFill>
                        </a:rPr>
                        <a:t>0-15</a:t>
                      </a:r>
                      <a:endParaRPr lang="en-US" altLang="en-GB" sz="2000">
                        <a:solidFill>
                          <a:schemeClr val="bg1"/>
                        </a:solidFill>
                      </a:endParaRPr>
                    </a:p>
                  </a:txBody>
                  <a:tcPr>
                    <a:solidFill>
                      <a:srgbClr val="862638"/>
                    </a:solidFill>
                  </a:tcPr>
                </a:tc>
              </a:tr>
              <a:tr h="860425">
                <a:tc>
                  <a:txBody>
                    <a:bodyPr/>
                    <a:p>
                      <a:pPr>
                        <a:buNone/>
                      </a:pPr>
                      <a:r>
                        <a:rPr lang="en-US" altLang="en-GB" sz="2000">
                          <a:solidFill>
                            <a:schemeClr val="bg1"/>
                          </a:solidFill>
                        </a:rPr>
                        <a:t>Digits: 0,1</a:t>
                      </a:r>
                      <a:endParaRPr lang="en-US" altLang="en-GB" sz="2000">
                        <a:solidFill>
                          <a:schemeClr val="bg1"/>
                        </a:solidFill>
                      </a:endParaRPr>
                    </a:p>
                  </a:txBody>
                  <a:tcPr>
                    <a:solidFill>
                      <a:srgbClr val="862638"/>
                    </a:solidFill>
                  </a:tcPr>
                </a:tc>
                <a:tc>
                  <a:txBody>
                    <a:bodyPr/>
                    <a:p>
                      <a:pPr>
                        <a:buNone/>
                      </a:pPr>
                      <a:r>
                        <a:rPr lang="en-US" altLang="en-GB" sz="2000">
                          <a:solidFill>
                            <a:schemeClr val="bg1"/>
                          </a:solidFill>
                          <a:sym typeface="+mn-ea"/>
                        </a:rPr>
                        <a:t>Digits: </a:t>
                      </a:r>
                      <a:r>
                        <a:rPr lang="en-US" altLang="en-GB" sz="2000">
                          <a:solidFill>
                            <a:schemeClr val="bg1"/>
                          </a:solidFill>
                        </a:rPr>
                        <a:t>0,1,2,3,4,5,6 AND 7</a:t>
                      </a:r>
                      <a:endParaRPr lang="en-US" altLang="en-GB" sz="2000">
                        <a:solidFill>
                          <a:schemeClr val="bg1"/>
                        </a:solidFill>
                      </a:endParaRPr>
                    </a:p>
                  </a:txBody>
                  <a:tcPr>
                    <a:solidFill>
                      <a:srgbClr val="862638"/>
                    </a:solidFill>
                  </a:tcPr>
                </a:tc>
                <a:tc>
                  <a:txBody>
                    <a:bodyPr/>
                    <a:p>
                      <a:pPr>
                        <a:buNone/>
                      </a:pPr>
                      <a:r>
                        <a:rPr lang="en-US" altLang="en-GB" sz="2000">
                          <a:solidFill>
                            <a:schemeClr val="bg1"/>
                          </a:solidFill>
                          <a:sym typeface="+mn-ea"/>
                        </a:rPr>
                        <a:t>Digits: </a:t>
                      </a:r>
                      <a:r>
                        <a:rPr lang="en-US" altLang="en-GB" sz="2000">
                          <a:solidFill>
                            <a:schemeClr val="bg1"/>
                          </a:solidFill>
                        </a:rPr>
                        <a:t>0,1,2,3,4,5,6,7,8 AND 9</a:t>
                      </a:r>
                      <a:endParaRPr lang="en-US" altLang="en-GB" sz="2000">
                        <a:solidFill>
                          <a:schemeClr val="bg1"/>
                        </a:solidFill>
                      </a:endParaRPr>
                    </a:p>
                  </a:txBody>
                  <a:tcPr>
                    <a:solidFill>
                      <a:srgbClr val="862638"/>
                    </a:solidFill>
                  </a:tcPr>
                </a:tc>
                <a:tc>
                  <a:txBody>
                    <a:bodyPr/>
                    <a:p>
                      <a:pPr>
                        <a:buNone/>
                      </a:pPr>
                      <a:r>
                        <a:rPr lang="en-US" altLang="en-GB" sz="2000">
                          <a:solidFill>
                            <a:schemeClr val="bg1"/>
                          </a:solidFill>
                          <a:sym typeface="+mn-ea"/>
                        </a:rPr>
                        <a:t>Digits: </a:t>
                      </a:r>
                      <a:r>
                        <a:rPr lang="en-US" altLang="en-GB" sz="2000">
                          <a:solidFill>
                            <a:schemeClr val="bg1"/>
                          </a:solidFill>
                        </a:rPr>
                        <a:t>0,1,2,3,4,5,6,7,8,9,A,B,C,D,E AND F</a:t>
                      </a:r>
                      <a:endParaRPr lang="en-US" altLang="en-GB" sz="2000">
                        <a:solidFill>
                          <a:schemeClr val="bg1"/>
                        </a:solidFill>
                      </a:endParaRPr>
                    </a:p>
                  </a:txBody>
                  <a:tcPr>
                    <a:solidFill>
                      <a:srgbClr val="862638"/>
                    </a:solidFill>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p:sp>
        <p:nvSpPr>
          <p:cNvPr id="2" name="Text Box 1"/>
          <p:cNvSpPr txBox="1"/>
          <p:nvPr/>
        </p:nvSpPr>
        <p:spPr>
          <a:xfrm>
            <a:off x="593090" y="313690"/>
            <a:ext cx="10219055" cy="521970"/>
          </a:xfrm>
          <a:prstGeom prst="rect">
            <a:avLst/>
          </a:prstGeom>
          <a:noFill/>
        </p:spPr>
        <p:txBody>
          <a:bodyPr wrap="square" rtlCol="0">
            <a:spAutoFit/>
          </a:bodyPr>
          <a:p>
            <a:pPr algn="ctr"/>
            <a:r>
              <a:rPr lang="en-US" altLang="en-GB" sz="2800" b="1">
                <a:solidFill>
                  <a:srgbClr val="FFFF00"/>
                </a:solidFill>
              </a:rPr>
              <a:t>A. BINARY CONVERSIONS ON(1) AND OFF (0)</a:t>
            </a:r>
            <a:endParaRPr lang="en-US" altLang="en-GB" sz="2800" b="1">
              <a:solidFill>
                <a:srgbClr val="FFFF00"/>
              </a:solidFill>
            </a:endParaRPr>
          </a:p>
        </p:txBody>
      </p:sp>
      <p:sp>
        <p:nvSpPr>
          <p:cNvPr id="3" name="Text Box 2"/>
          <p:cNvSpPr txBox="1"/>
          <p:nvPr/>
        </p:nvSpPr>
        <p:spPr>
          <a:xfrm>
            <a:off x="66675" y="1876425"/>
            <a:ext cx="11965940" cy="1198880"/>
          </a:xfrm>
          <a:prstGeom prst="rect">
            <a:avLst/>
          </a:prstGeom>
          <a:noFill/>
        </p:spPr>
        <p:txBody>
          <a:bodyPr wrap="square" rtlCol="0">
            <a:spAutoFit/>
          </a:bodyPr>
          <a:p>
            <a:r>
              <a:rPr lang="en-US" altLang="en-GB" b="1">
                <a:solidFill>
                  <a:srgbClr val="FFFF00"/>
                </a:solidFill>
              </a:rPr>
              <a:t>1. DIVISION RULE: </a:t>
            </a:r>
            <a:r>
              <a:rPr lang="en-US" altLang="en-GB" b="1">
                <a:solidFill>
                  <a:schemeClr val="tx1">
                    <a:lumMod val="95000"/>
                    <a:lumOff val="5000"/>
                  </a:schemeClr>
                </a:solidFill>
              </a:rPr>
              <a:t>DIVIDE BY 2 </a:t>
            </a:r>
            <a:r>
              <a:rPr lang="en-US" altLang="en-GB" b="1">
                <a:solidFill>
                  <a:srgbClr val="C00000"/>
                </a:solidFill>
              </a:rPr>
              <a:t> </a:t>
            </a:r>
            <a:r>
              <a:rPr lang="en-US" altLang="en-GB">
                <a:solidFill>
                  <a:schemeClr val="bg1"/>
                </a:solidFill>
              </a:rPr>
              <a:t>Repeatedly noting the Remainder always(0 or 1) 0 for even and 1 for odd.</a:t>
            </a:r>
            <a:endParaRPr lang="en-US" altLang="en-GB">
              <a:solidFill>
                <a:schemeClr val="bg1"/>
              </a:solidFill>
            </a:endParaRPr>
          </a:p>
          <a:p>
            <a:endParaRPr lang="en-US" altLang="en-GB">
              <a:solidFill>
                <a:schemeClr val="bg1"/>
              </a:solidFill>
            </a:endParaRPr>
          </a:p>
          <a:p>
            <a:pPr marL="285750" indent="-285750">
              <a:buFont typeface="Wingdings" panose="05000000000000000000" charset="0"/>
              <a:buChar char="q"/>
            </a:pPr>
            <a:r>
              <a:rPr lang="en-US" altLang="en-GB">
                <a:solidFill>
                  <a:schemeClr val="bg1"/>
                </a:solidFill>
              </a:rPr>
              <a:t>And read the remainder from </a:t>
            </a:r>
            <a:r>
              <a:rPr lang="en-US" altLang="en-GB" b="1">
                <a:solidFill>
                  <a:srgbClr val="FFFF00"/>
                </a:solidFill>
              </a:rPr>
              <a:t>BOTTOM UP</a:t>
            </a:r>
            <a:r>
              <a:rPr lang="en-US" altLang="en-GB">
                <a:solidFill>
                  <a:schemeClr val="bg1"/>
                </a:solidFill>
              </a:rPr>
              <a:t> and that is the equivalent </a:t>
            </a:r>
            <a:endParaRPr lang="en-US" altLang="en-GB">
              <a:solidFill>
                <a:schemeClr val="bg1"/>
              </a:solidFill>
            </a:endParaRPr>
          </a:p>
          <a:p>
            <a:pPr marL="285750" indent="-285750">
              <a:buFont typeface="Wingdings" panose="05000000000000000000" charset="0"/>
              <a:buChar char="q"/>
            </a:pPr>
            <a:r>
              <a:rPr lang="en-US" altLang="en-GB">
                <a:solidFill>
                  <a:schemeClr val="bg1"/>
                </a:solidFill>
              </a:rPr>
              <a:t>Very efficient method can divide small numbers of 5 or as massive as 5,000,000</a:t>
            </a:r>
            <a:endParaRPr lang="en-US" altLang="en-GB">
              <a:solidFill>
                <a:schemeClr val="bg1"/>
              </a:solidFill>
            </a:endParaRPr>
          </a:p>
        </p:txBody>
      </p:sp>
      <p:sp>
        <p:nvSpPr>
          <p:cNvPr id="6" name="Text Box 5"/>
          <p:cNvSpPr txBox="1"/>
          <p:nvPr/>
        </p:nvSpPr>
        <p:spPr>
          <a:xfrm>
            <a:off x="3477260" y="1202055"/>
            <a:ext cx="4064000" cy="521970"/>
          </a:xfrm>
          <a:prstGeom prst="rect">
            <a:avLst/>
          </a:prstGeom>
          <a:noFill/>
        </p:spPr>
        <p:txBody>
          <a:bodyPr wrap="square" rtlCol="0">
            <a:spAutoFit/>
          </a:bodyPr>
          <a:p>
            <a:r>
              <a:rPr lang="en-US" altLang="en-GB" sz="2800" b="1">
                <a:solidFill>
                  <a:srgbClr val="FFFF00"/>
                </a:solidFill>
              </a:rPr>
              <a:t>WHOLE NUMBERS</a:t>
            </a:r>
            <a:endParaRPr lang="en-US" altLang="en-GB" sz="2800" b="1">
              <a:solidFill>
                <a:srgbClr val="FFFF00"/>
              </a:solidFill>
            </a:endParaRPr>
          </a:p>
        </p:txBody>
      </p:sp>
      <p:sp>
        <p:nvSpPr>
          <p:cNvPr id="8" name="Text Box 7"/>
          <p:cNvSpPr txBox="1"/>
          <p:nvPr/>
        </p:nvSpPr>
        <p:spPr>
          <a:xfrm>
            <a:off x="229235" y="3349625"/>
            <a:ext cx="11803380" cy="1438275"/>
          </a:xfrm>
          <a:prstGeom prst="rect">
            <a:avLst/>
          </a:prstGeom>
          <a:noFill/>
        </p:spPr>
        <p:txBody>
          <a:bodyPr wrap="square" rtlCol="0">
            <a:noAutofit/>
          </a:bodyPr>
          <a:p>
            <a:r>
              <a:rPr lang="en-US" altLang="en-GB" b="1">
                <a:solidFill>
                  <a:srgbClr val="FFFF00"/>
                </a:solidFill>
              </a:rPr>
              <a:t>NUMBER 0:  EXAMPLE  0/2 = 0</a:t>
            </a:r>
            <a:endParaRPr lang="en-US" altLang="en-GB" b="1">
              <a:solidFill>
                <a:srgbClr val="FFFF00"/>
              </a:solidFill>
            </a:endParaRPr>
          </a:p>
          <a:p>
            <a:endParaRPr lang="en-US" altLang="en-GB">
              <a:solidFill>
                <a:schemeClr val="bg1"/>
              </a:solidFill>
            </a:endParaRPr>
          </a:p>
          <a:p>
            <a:r>
              <a:rPr lang="en-US" altLang="en-GB">
                <a:solidFill>
                  <a:schemeClr val="bg1"/>
                </a:solidFill>
                <a:sym typeface="+mn-ea"/>
              </a:rPr>
              <a:t>In computer science,</a:t>
            </a:r>
            <a:r>
              <a:rPr lang="en-US" altLang="en-GB" b="1">
                <a:solidFill>
                  <a:schemeClr val="bg1"/>
                </a:solidFill>
                <a:sym typeface="+mn-ea"/>
              </a:rPr>
              <a:t> </a:t>
            </a:r>
            <a:r>
              <a:rPr lang="en-US" altLang="en-GB" b="1">
                <a:solidFill>
                  <a:schemeClr val="tx1"/>
                </a:solidFill>
                <a:sym typeface="+mn-ea"/>
              </a:rPr>
              <a:t>a single 0 </a:t>
            </a:r>
            <a:r>
              <a:rPr lang="en-US" altLang="en-GB" b="1">
                <a:solidFill>
                  <a:schemeClr val="bg1"/>
                </a:solidFill>
                <a:sym typeface="+mn-ea"/>
              </a:rPr>
              <a:t>isn’t always just a 0.</a:t>
            </a:r>
            <a:r>
              <a:rPr lang="en-US" altLang="en-GB">
                <a:solidFill>
                  <a:schemeClr val="bg1"/>
                </a:solidFill>
                <a:sym typeface="+mn-ea"/>
              </a:rPr>
              <a:t> computer stores data in fixed sizes called bytes </a:t>
            </a:r>
            <a:r>
              <a:rPr lang="en-US" altLang="en-GB">
                <a:solidFill>
                  <a:srgbClr val="FFFF00"/>
                </a:solidFill>
                <a:sym typeface="+mn-ea"/>
              </a:rPr>
              <a:t>(8 bits).</a:t>
            </a:r>
            <a:endParaRPr lang="en-US" altLang="en-GB">
              <a:solidFill>
                <a:schemeClr val="bg1"/>
              </a:solidFill>
            </a:endParaRPr>
          </a:p>
          <a:p>
            <a:r>
              <a:rPr lang="en-US" altLang="en-GB" b="1">
                <a:solidFill>
                  <a:srgbClr val="FFFF00"/>
                </a:solidFill>
                <a:sym typeface="+mn-ea"/>
              </a:rPr>
              <a:t>RULE:</a:t>
            </a:r>
            <a:r>
              <a:rPr lang="en-US" altLang="en-GB">
                <a:solidFill>
                  <a:schemeClr val="bg1"/>
                </a:solidFill>
                <a:sym typeface="+mn-ea"/>
              </a:rPr>
              <a:t> If a test or a program asks for the binary 0, its is</a:t>
            </a:r>
            <a:r>
              <a:rPr lang="en-US" altLang="en-GB" b="1" i="1">
                <a:solidFill>
                  <a:schemeClr val="bg1"/>
                </a:solidFill>
                <a:sym typeface="+mn-ea"/>
              </a:rPr>
              <a:t> never blank</a:t>
            </a:r>
            <a:r>
              <a:rPr lang="en-US" altLang="en-GB">
                <a:solidFill>
                  <a:schemeClr val="bg1"/>
                </a:solidFill>
                <a:sym typeface="+mn-ea"/>
              </a:rPr>
              <a:t>. if they ask for a standard 8-bit byte representation, 0 is written as eight zeros </a:t>
            </a:r>
            <a:r>
              <a:rPr lang="en-US" altLang="en-GB" b="1">
                <a:solidFill>
                  <a:srgbClr val="FFFF00"/>
                </a:solidFill>
                <a:sym typeface="+mn-ea"/>
              </a:rPr>
              <a:t>0</a:t>
            </a:r>
            <a:r>
              <a:rPr lang="en-US" altLang="en-GB" b="1">
                <a:solidFill>
                  <a:schemeClr val="bg1"/>
                </a:solidFill>
                <a:sym typeface="+mn-ea"/>
              </a:rPr>
              <a:t>0000000</a:t>
            </a:r>
            <a:endParaRPr lang="en-US" altLang="en-GB">
              <a:solidFill>
                <a:schemeClr val="bg1"/>
              </a:solidFill>
            </a:endParaRPr>
          </a:p>
          <a:p>
            <a:r>
              <a:rPr lang="en-US" altLang="en-GB"/>
              <a:t> </a:t>
            </a:r>
            <a:endParaRPr lang="en-US" altLang="en-GB"/>
          </a:p>
        </p:txBody>
      </p:sp>
      <p:sp>
        <p:nvSpPr>
          <p:cNvPr id="18" name="Text Box 17"/>
          <p:cNvSpPr txBox="1"/>
          <p:nvPr/>
        </p:nvSpPr>
        <p:spPr>
          <a:xfrm>
            <a:off x="66675" y="4958080"/>
            <a:ext cx="12125325" cy="1476375"/>
          </a:xfrm>
          <a:prstGeom prst="rect">
            <a:avLst/>
          </a:prstGeom>
          <a:noFill/>
        </p:spPr>
        <p:txBody>
          <a:bodyPr wrap="square" rtlCol="0">
            <a:spAutoFit/>
          </a:bodyPr>
          <a:p>
            <a:r>
              <a:rPr lang="en-US" altLang="en-GB" b="1">
                <a:solidFill>
                  <a:srgbClr val="FFFF00"/>
                </a:solidFill>
              </a:rPr>
              <a:t>2. SUBTRACTION RULE: </a:t>
            </a:r>
            <a:r>
              <a:rPr lang="en-US" altLang="en-GB" b="1">
                <a:solidFill>
                  <a:schemeClr val="bg1"/>
                </a:solidFill>
              </a:rPr>
              <a:t>To  convert using this method, you compare your target number against the standard binary positional values</a:t>
            </a:r>
            <a:r>
              <a:rPr lang="en-US" altLang="en-GB" b="1">
                <a:solidFill>
                  <a:schemeClr val="tx1"/>
                </a:solidFill>
              </a:rPr>
              <a:t>(POWERS OF TWO)</a:t>
            </a:r>
            <a:endParaRPr lang="en-US" altLang="en-GB" b="1">
              <a:solidFill>
                <a:schemeClr val="tx1"/>
              </a:solidFill>
            </a:endParaRPr>
          </a:p>
          <a:p>
            <a:pPr marL="285750" indent="-285750">
              <a:buFont typeface="Wingdings" panose="05000000000000000000" charset="0"/>
              <a:buChar char="q"/>
            </a:pPr>
            <a:r>
              <a:rPr lang="en-US" altLang="en-GB" b="1">
                <a:solidFill>
                  <a:schemeClr val="bg1"/>
                </a:solidFill>
              </a:rPr>
              <a:t>If the number </a:t>
            </a:r>
            <a:r>
              <a:rPr lang="en-US" altLang="en-GB" b="1">
                <a:solidFill>
                  <a:schemeClr val="tx1"/>
                </a:solidFill>
              </a:rPr>
              <a:t>is greater than or equal </a:t>
            </a:r>
            <a:r>
              <a:rPr lang="en-US" altLang="en-GB" b="1">
                <a:solidFill>
                  <a:schemeClr val="bg1"/>
                </a:solidFill>
              </a:rPr>
              <a:t>to the positional value: </a:t>
            </a:r>
            <a:r>
              <a:rPr lang="en-US" altLang="en-GB" b="1">
                <a:solidFill>
                  <a:srgbClr val="FFFF00"/>
                </a:solidFill>
              </a:rPr>
              <a:t>put a 1,</a:t>
            </a:r>
            <a:r>
              <a:rPr lang="en-US" altLang="en-GB" b="1">
                <a:solidFill>
                  <a:srgbClr val="FFFF00"/>
                </a:solidFill>
              </a:rPr>
              <a:t> subtract the value,</a:t>
            </a:r>
            <a:r>
              <a:rPr lang="en-US" altLang="en-GB" b="1">
                <a:solidFill>
                  <a:schemeClr val="bg1"/>
                </a:solidFill>
              </a:rPr>
              <a:t> and move to the next column with the remainder.</a:t>
            </a:r>
            <a:endParaRPr lang="en-US" altLang="en-GB" b="1">
              <a:solidFill>
                <a:schemeClr val="bg1"/>
              </a:solidFill>
            </a:endParaRPr>
          </a:p>
          <a:p>
            <a:pPr marL="285750" indent="-285750">
              <a:buFont typeface="Wingdings" panose="05000000000000000000" charset="0"/>
              <a:buChar char="q"/>
            </a:pPr>
            <a:r>
              <a:rPr lang="en-US" altLang="en-GB" b="1">
                <a:solidFill>
                  <a:schemeClr val="bg1"/>
                </a:solidFill>
              </a:rPr>
              <a:t>If the number is less than the positional value: </a:t>
            </a:r>
            <a:r>
              <a:rPr lang="en-US" altLang="en-GB" b="1">
                <a:solidFill>
                  <a:srgbClr val="FFFF00"/>
                </a:solidFill>
              </a:rPr>
              <a:t>put a 0,</a:t>
            </a:r>
            <a:r>
              <a:rPr lang="en-US" altLang="en-GB" b="1">
                <a:solidFill>
                  <a:schemeClr val="bg1"/>
                </a:solidFill>
              </a:rPr>
              <a:t> and move to the next column carrying the same number.</a:t>
            </a:r>
            <a:endParaRPr lang="en-US" altLang="en-GB" b="1">
              <a:solidFill>
                <a:schemeClr val="bg1"/>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p:graphicFrame>
        <p:nvGraphicFramePr>
          <p:cNvPr id="2" name="Table 1"/>
          <p:cNvGraphicFramePr/>
          <p:nvPr>
            <p:custDataLst>
              <p:tags r:id="rId1"/>
            </p:custDataLst>
          </p:nvPr>
        </p:nvGraphicFramePr>
        <p:xfrm>
          <a:off x="8685530" y="5497195"/>
          <a:ext cx="2887980" cy="1134745"/>
        </p:xfrm>
        <a:graphic>
          <a:graphicData uri="http://schemas.openxmlformats.org/drawingml/2006/table">
            <a:tbl>
              <a:tblPr firstRow="1" bandRow="1">
                <a:tableStyleId>{5C22544A-7EE6-4342-B048-85BDC9FD1C3A}</a:tableStyleId>
              </a:tblPr>
              <a:tblGrid>
                <a:gridCol w="1443990"/>
                <a:gridCol w="1443990"/>
              </a:tblGrid>
              <a:tr h="351155">
                <a:tc>
                  <a:txBody>
                    <a:bodyPr/>
                    <a:p>
                      <a:r>
                        <a:rPr lang="en-US" altLang="zh-CN" sz="2800">
                          <a:solidFill>
                            <a:schemeClr val="bg1"/>
                          </a:solidFill>
                        </a:rPr>
                        <a:t>Switch</a:t>
                      </a:r>
                      <a:endParaRPr lang="en-US" altLang="zh-CN" sz="2800">
                        <a:solidFill>
                          <a:schemeClr val="bg1"/>
                        </a:solidFill>
                      </a:endParaRPr>
                    </a:p>
                  </a:txBody>
                  <a:tcPr marL="0" marR="0" marT="0" marB="0" anchor="ctr" anchorCtr="0">
                    <a:solidFill>
                      <a:srgbClr val="90293D"/>
                    </a:solidFill>
                  </a:tcPr>
                </a:tc>
                <a:tc>
                  <a:txBody>
                    <a:bodyPr/>
                    <a:p>
                      <a:r>
                        <a:rPr lang="en-US" sz="2800">
                          <a:solidFill>
                            <a:schemeClr val="bg1"/>
                          </a:solidFill>
                        </a:rPr>
                        <a:t>Binary</a:t>
                      </a:r>
                      <a:endParaRPr lang="en-US" sz="2800">
                        <a:solidFill>
                          <a:schemeClr val="bg1"/>
                        </a:solidFill>
                      </a:endParaRPr>
                    </a:p>
                  </a:txBody>
                  <a:tcPr marL="0" marR="0" marT="0" marB="0" anchor="ctr" anchorCtr="0">
                    <a:solidFill>
                      <a:srgbClr val="90293D"/>
                    </a:solidFill>
                  </a:tcPr>
                </a:tc>
              </a:tr>
              <a:tr h="391795">
                <a:tc>
                  <a:txBody>
                    <a:bodyPr/>
                    <a:p>
                      <a:pPr>
                        <a:buNone/>
                      </a:pPr>
                      <a:r>
                        <a:rPr lang="en-US" altLang="en-GB">
                          <a:solidFill>
                            <a:schemeClr val="bg1"/>
                          </a:solidFill>
                        </a:rPr>
                        <a:t>ON</a:t>
                      </a:r>
                      <a:endParaRPr lang="en-US" altLang="en-GB">
                        <a:solidFill>
                          <a:schemeClr val="bg1"/>
                        </a:solidFill>
                      </a:endParaRPr>
                    </a:p>
                  </a:txBody>
                  <a:tcPr anchor="ctr" anchorCtr="0">
                    <a:solidFill>
                      <a:srgbClr val="90293D"/>
                    </a:solidFill>
                  </a:tcPr>
                </a:tc>
                <a:tc>
                  <a:txBody>
                    <a:bodyPr/>
                    <a:p>
                      <a:pPr>
                        <a:buNone/>
                      </a:pPr>
                      <a:r>
                        <a:rPr lang="en-US" altLang="en-GB">
                          <a:solidFill>
                            <a:schemeClr val="bg1"/>
                          </a:solidFill>
                        </a:rPr>
                        <a:t>1</a:t>
                      </a:r>
                      <a:endParaRPr lang="en-US" altLang="en-GB">
                        <a:solidFill>
                          <a:schemeClr val="bg1"/>
                        </a:solidFill>
                      </a:endParaRPr>
                    </a:p>
                  </a:txBody>
                  <a:tcPr anchor="ctr" anchorCtr="0">
                    <a:solidFill>
                      <a:srgbClr val="90293D"/>
                    </a:solidFill>
                  </a:tcPr>
                </a:tc>
              </a:tr>
              <a:tr h="391795">
                <a:tc>
                  <a:txBody>
                    <a:bodyPr/>
                    <a:p>
                      <a:pPr>
                        <a:buNone/>
                      </a:pPr>
                      <a:r>
                        <a:rPr lang="en-US" altLang="en-GB">
                          <a:solidFill>
                            <a:schemeClr val="bg1"/>
                          </a:solidFill>
                        </a:rPr>
                        <a:t>OFF</a:t>
                      </a:r>
                      <a:endParaRPr lang="en-US" altLang="en-GB">
                        <a:solidFill>
                          <a:schemeClr val="bg1"/>
                        </a:solidFill>
                      </a:endParaRPr>
                    </a:p>
                  </a:txBody>
                  <a:tcPr anchor="ctr" anchorCtr="0">
                    <a:solidFill>
                      <a:srgbClr val="90293D"/>
                    </a:solidFill>
                  </a:tcPr>
                </a:tc>
                <a:tc>
                  <a:txBody>
                    <a:bodyPr/>
                    <a:p>
                      <a:pPr>
                        <a:buNone/>
                      </a:pPr>
                      <a:r>
                        <a:rPr lang="en-US" altLang="en-GB">
                          <a:solidFill>
                            <a:schemeClr val="bg1"/>
                          </a:solidFill>
                        </a:rPr>
                        <a:t>0</a:t>
                      </a:r>
                      <a:endParaRPr lang="en-US" altLang="en-GB">
                        <a:solidFill>
                          <a:schemeClr val="bg1"/>
                        </a:solidFill>
                      </a:endParaRPr>
                    </a:p>
                  </a:txBody>
                  <a:tcPr anchor="ctr" anchorCtr="0">
                    <a:solidFill>
                      <a:srgbClr val="90293D"/>
                    </a:solidFill>
                  </a:tcPr>
                </a:tc>
              </a:tr>
            </a:tbl>
          </a:graphicData>
        </a:graphic>
      </p:graphicFrame>
      <p:sp>
        <p:nvSpPr>
          <p:cNvPr id="12" name="Text Box 11"/>
          <p:cNvSpPr txBox="1"/>
          <p:nvPr/>
        </p:nvSpPr>
        <p:spPr>
          <a:xfrm>
            <a:off x="5404485" y="2899410"/>
            <a:ext cx="2551430" cy="1058545"/>
          </a:xfrm>
          <a:prstGeom prst="rect">
            <a:avLst/>
          </a:prstGeom>
          <a:noFill/>
        </p:spPr>
        <p:txBody>
          <a:bodyPr wrap="square" rtlCol="0">
            <a:noAutofit/>
          </a:bodyPr>
          <a:p>
            <a:r>
              <a:rPr lang="en-US" altLang="en-GB" sz="2800" b="1">
                <a:solidFill>
                  <a:schemeClr val="bg1"/>
                </a:solidFill>
              </a:rPr>
              <a:t>Binary Place Values</a:t>
            </a:r>
            <a:endParaRPr lang="en-US" altLang="en-GB" sz="2800" b="1">
              <a:solidFill>
                <a:schemeClr val="bg1"/>
              </a:solidFill>
            </a:endParaRPr>
          </a:p>
          <a:p>
            <a:endParaRPr lang="en-US" altLang="en-GB">
              <a:solidFill>
                <a:schemeClr val="bg1"/>
              </a:solidFill>
            </a:endParaRPr>
          </a:p>
          <a:p>
            <a:r>
              <a:rPr lang="en-US" altLang="en-GB">
                <a:solidFill>
                  <a:schemeClr val="bg1"/>
                </a:solidFill>
              </a:rPr>
              <a:t>In decimal, place values are:</a:t>
            </a:r>
            <a:endParaRPr lang="en-US" altLang="en-GB"/>
          </a:p>
          <a:p>
            <a:endParaRPr lang="en-US" altLang="en-GB"/>
          </a:p>
          <a:p>
            <a:r>
              <a:rPr lang="en-US" altLang="en-GB"/>
              <a:t>	</a:t>
            </a:r>
            <a:endParaRPr lang="en-US" altLang="en-GB"/>
          </a:p>
          <a:p>
            <a:r>
              <a:rPr lang="en-US" altLang="en-GB"/>
              <a:t>	</a:t>
            </a:r>
            <a:endParaRPr lang="en-US" altLang="en-GB"/>
          </a:p>
          <a:p>
            <a:r>
              <a:rPr lang="en-US" altLang="en-GB"/>
              <a:t>	</a:t>
            </a:r>
            <a:endParaRPr lang="en-US" altLang="en-GB"/>
          </a:p>
        </p:txBody>
      </p:sp>
      <p:graphicFrame>
        <p:nvGraphicFramePr>
          <p:cNvPr id="13" name="Table 12"/>
          <p:cNvGraphicFramePr/>
          <p:nvPr>
            <p:custDataLst>
              <p:tags r:id="rId2"/>
            </p:custDataLst>
          </p:nvPr>
        </p:nvGraphicFramePr>
        <p:xfrm>
          <a:off x="4103370" y="4015740"/>
          <a:ext cx="4368800" cy="2691765"/>
        </p:xfrm>
        <a:graphic>
          <a:graphicData uri="http://schemas.openxmlformats.org/drawingml/2006/table">
            <a:tbl>
              <a:tblPr firstRow="1" bandRow="1">
                <a:tableStyleId>{5C22544A-7EE6-4342-B048-85BDC9FD1C3A}</a:tableStyleId>
              </a:tblPr>
              <a:tblGrid>
                <a:gridCol w="2184400"/>
                <a:gridCol w="2184400"/>
              </a:tblGrid>
              <a:tr h="601345">
                <a:tc>
                  <a:txBody>
                    <a:bodyPr/>
                    <a:p>
                      <a:pPr>
                        <a:buNone/>
                      </a:pPr>
                      <a:r>
                        <a:rPr lang="en-US" altLang="en-GB" sz="1800" b="1">
                          <a:solidFill>
                            <a:schemeClr val="bg1"/>
                          </a:solidFill>
                          <a:sym typeface="+mn-ea"/>
                        </a:rPr>
                        <a:t>Position	</a:t>
                      </a:r>
                      <a:endParaRPr lang="en-US" altLang="en-GB" sz="1800" b="1">
                        <a:solidFill>
                          <a:schemeClr val="bg1"/>
                        </a:solidFill>
                        <a:sym typeface="+mn-ea"/>
                      </a:endParaRPr>
                    </a:p>
                  </a:txBody>
                  <a:tcPr>
                    <a:solidFill>
                      <a:srgbClr val="A42F43"/>
                    </a:solidFill>
                  </a:tcPr>
                </a:tc>
                <a:tc>
                  <a:txBody>
                    <a:bodyPr/>
                    <a:p>
                      <a:pPr>
                        <a:buNone/>
                      </a:pPr>
                      <a:r>
                        <a:rPr lang="en-US" altLang="en-GB" sz="1800" b="1">
                          <a:solidFill>
                            <a:schemeClr val="bg1"/>
                          </a:solidFill>
                          <a:sym typeface="+mn-ea"/>
                        </a:rPr>
                        <a:t>Value</a:t>
                      </a:r>
                      <a:endParaRPr lang="en-US" altLang="en-GB" sz="1800" b="1">
                        <a:solidFill>
                          <a:schemeClr val="bg1"/>
                        </a:solidFill>
                      </a:endParaRPr>
                    </a:p>
                    <a:p>
                      <a:pPr>
                        <a:buNone/>
                      </a:pPr>
                      <a:endParaRPr lang="en-US" altLang="en-GB" sz="1800" b="1">
                        <a:solidFill>
                          <a:schemeClr val="bg1"/>
                        </a:solidFill>
                      </a:endParaRPr>
                    </a:p>
                  </a:txBody>
                  <a:tcPr>
                    <a:solidFill>
                      <a:srgbClr val="A42F43"/>
                    </a:solidFill>
                  </a:tcPr>
                </a:tc>
              </a:tr>
              <a:tr h="373380">
                <a:tc>
                  <a:txBody>
                    <a:bodyPr/>
                    <a:p>
                      <a:pPr>
                        <a:buNone/>
                      </a:pPr>
                      <a:r>
                        <a:rPr lang="en-US" altLang="en-GB" sz="1800" b="1">
                          <a:solidFill>
                            <a:schemeClr val="bg1"/>
                          </a:solidFill>
                          <a:sym typeface="+mn-ea"/>
                        </a:rPr>
                        <a:t>Ones</a:t>
                      </a:r>
                      <a:endParaRPr lang="en-US" altLang="en-GB" sz="1800" b="1">
                        <a:solidFill>
                          <a:schemeClr val="bg1"/>
                        </a:solidFill>
                        <a:sym typeface="+mn-ea"/>
                      </a:endParaRPr>
                    </a:p>
                  </a:txBody>
                  <a:tcPr>
                    <a:solidFill>
                      <a:srgbClr val="A42F43"/>
                    </a:solidFill>
                  </a:tcPr>
                </a:tc>
                <a:tc>
                  <a:txBody>
                    <a:bodyPr/>
                    <a:p>
                      <a:pPr>
                        <a:buNone/>
                      </a:pPr>
                      <a:r>
                        <a:rPr lang="en-US" altLang="en-GB" sz="1800" b="1">
                          <a:solidFill>
                            <a:schemeClr val="bg1"/>
                          </a:solidFill>
                          <a:sym typeface="+mn-ea"/>
                        </a:rPr>
                        <a:t>1</a:t>
                      </a:r>
                      <a:endParaRPr lang="en-US" altLang="en-GB" sz="1800" b="1">
                        <a:solidFill>
                          <a:schemeClr val="bg1"/>
                        </a:solidFill>
                        <a:sym typeface="+mn-ea"/>
                      </a:endParaRPr>
                    </a:p>
                  </a:txBody>
                  <a:tcPr>
                    <a:solidFill>
                      <a:srgbClr val="A42F43"/>
                    </a:solidFill>
                  </a:tcPr>
                </a:tc>
              </a:tr>
              <a:tr h="374015">
                <a:tc>
                  <a:txBody>
                    <a:bodyPr/>
                    <a:p>
                      <a:pPr>
                        <a:buNone/>
                      </a:pPr>
                      <a:r>
                        <a:rPr lang="en-US" altLang="en-GB" sz="1800" b="1">
                          <a:solidFill>
                            <a:schemeClr val="bg1"/>
                          </a:solidFill>
                          <a:sym typeface="+mn-ea"/>
                        </a:rPr>
                        <a:t>Tens</a:t>
                      </a:r>
                      <a:endParaRPr lang="en-US" altLang="en-GB" sz="1800" b="1">
                        <a:solidFill>
                          <a:schemeClr val="bg1"/>
                        </a:solidFill>
                        <a:sym typeface="+mn-ea"/>
                      </a:endParaRPr>
                    </a:p>
                  </a:txBody>
                  <a:tcPr>
                    <a:solidFill>
                      <a:srgbClr val="A42F43"/>
                    </a:solidFill>
                  </a:tcPr>
                </a:tc>
                <a:tc>
                  <a:txBody>
                    <a:bodyPr/>
                    <a:p>
                      <a:pPr>
                        <a:buNone/>
                      </a:pPr>
                      <a:r>
                        <a:rPr lang="en-US" altLang="en-GB" sz="1800" b="1">
                          <a:solidFill>
                            <a:schemeClr val="bg1"/>
                          </a:solidFill>
                          <a:sym typeface="+mn-ea"/>
                        </a:rPr>
                        <a:t>10</a:t>
                      </a:r>
                      <a:endParaRPr lang="en-US" altLang="en-GB" sz="1800" b="1">
                        <a:solidFill>
                          <a:schemeClr val="bg1"/>
                        </a:solidFill>
                        <a:sym typeface="+mn-ea"/>
                      </a:endParaRPr>
                    </a:p>
                  </a:txBody>
                  <a:tcPr>
                    <a:solidFill>
                      <a:srgbClr val="A42F43"/>
                    </a:solidFill>
                  </a:tcPr>
                </a:tc>
              </a:tr>
              <a:tr h="652145">
                <a:tc>
                  <a:txBody>
                    <a:bodyPr/>
                    <a:p>
                      <a:pPr>
                        <a:buNone/>
                      </a:pPr>
                      <a:r>
                        <a:rPr lang="en-US" altLang="en-GB" sz="1800" b="1">
                          <a:solidFill>
                            <a:schemeClr val="bg1"/>
                          </a:solidFill>
                          <a:sym typeface="+mn-ea"/>
                        </a:rPr>
                        <a:t>Hundreds	</a:t>
                      </a:r>
                      <a:endParaRPr lang="en-US" altLang="en-GB" sz="1800" b="1">
                        <a:solidFill>
                          <a:schemeClr val="bg1"/>
                        </a:solidFill>
                        <a:sym typeface="+mn-ea"/>
                      </a:endParaRPr>
                    </a:p>
                  </a:txBody>
                  <a:tcPr>
                    <a:solidFill>
                      <a:srgbClr val="A42F43"/>
                    </a:solidFill>
                  </a:tcPr>
                </a:tc>
                <a:tc>
                  <a:txBody>
                    <a:bodyPr/>
                    <a:p>
                      <a:pPr>
                        <a:buNone/>
                      </a:pPr>
                      <a:r>
                        <a:rPr lang="en-US" altLang="en-GB" sz="1800" b="1">
                          <a:solidFill>
                            <a:schemeClr val="bg1"/>
                          </a:solidFill>
                          <a:sym typeface="+mn-ea"/>
                        </a:rPr>
                        <a:t>100</a:t>
                      </a:r>
                      <a:endParaRPr lang="en-US" altLang="en-GB" sz="1800" b="1">
                        <a:solidFill>
                          <a:schemeClr val="bg1"/>
                        </a:solidFill>
                      </a:endParaRPr>
                    </a:p>
                    <a:p>
                      <a:pPr>
                        <a:buNone/>
                      </a:pPr>
                      <a:endParaRPr lang="en-US" altLang="en-GB" sz="1800" b="1">
                        <a:solidFill>
                          <a:schemeClr val="bg1"/>
                        </a:solidFill>
                      </a:endParaRPr>
                    </a:p>
                  </a:txBody>
                  <a:tcPr>
                    <a:solidFill>
                      <a:srgbClr val="A42F43"/>
                    </a:solidFill>
                  </a:tcPr>
                </a:tc>
              </a:tr>
              <a:tr h="652145">
                <a:tc>
                  <a:txBody>
                    <a:bodyPr/>
                    <a:p>
                      <a:pPr>
                        <a:buNone/>
                      </a:pPr>
                      <a:r>
                        <a:rPr lang="en-US" altLang="en-GB" sz="1800" b="1">
                          <a:solidFill>
                            <a:schemeClr val="bg1"/>
                          </a:solidFill>
                          <a:sym typeface="+mn-ea"/>
                        </a:rPr>
                        <a:t>Thousands</a:t>
                      </a:r>
                      <a:endParaRPr lang="en-US" altLang="en-GB" sz="1800" b="1">
                        <a:solidFill>
                          <a:schemeClr val="bg1"/>
                        </a:solidFill>
                        <a:sym typeface="+mn-ea"/>
                      </a:endParaRPr>
                    </a:p>
                  </a:txBody>
                  <a:tcPr>
                    <a:solidFill>
                      <a:srgbClr val="A42F43"/>
                    </a:solidFill>
                  </a:tcPr>
                </a:tc>
                <a:tc>
                  <a:txBody>
                    <a:bodyPr/>
                    <a:p>
                      <a:pPr>
                        <a:buNone/>
                      </a:pPr>
                      <a:r>
                        <a:rPr lang="en-US" altLang="en-GB" sz="1800" b="1">
                          <a:solidFill>
                            <a:schemeClr val="bg1"/>
                          </a:solidFill>
                          <a:sym typeface="+mn-ea"/>
                        </a:rPr>
                        <a:t>1000</a:t>
                      </a:r>
                      <a:endParaRPr lang="en-US" altLang="en-GB" sz="1800" b="1">
                        <a:solidFill>
                          <a:schemeClr val="bg1"/>
                        </a:solidFill>
                      </a:endParaRPr>
                    </a:p>
                    <a:p>
                      <a:pPr>
                        <a:buNone/>
                      </a:pPr>
                      <a:endParaRPr lang="en-US" altLang="en-GB" sz="1800" b="1">
                        <a:solidFill>
                          <a:schemeClr val="bg1"/>
                        </a:solidFill>
                      </a:endParaRPr>
                    </a:p>
                  </a:txBody>
                  <a:tcPr>
                    <a:solidFill>
                      <a:srgbClr val="A42F43"/>
                    </a:solidFill>
                  </a:tcPr>
                </a:tc>
              </a:tr>
            </a:tbl>
          </a:graphicData>
        </a:graphic>
      </p:graphicFrame>
      <p:graphicFrame>
        <p:nvGraphicFramePr>
          <p:cNvPr id="15" name="Table 14"/>
          <p:cNvGraphicFramePr/>
          <p:nvPr>
            <p:custDataLst>
              <p:tags r:id="rId3"/>
            </p:custDataLst>
          </p:nvPr>
        </p:nvGraphicFramePr>
        <p:xfrm>
          <a:off x="8746490" y="368300"/>
          <a:ext cx="4621530" cy="3657600"/>
        </p:xfrm>
        <a:graphic>
          <a:graphicData uri="http://schemas.openxmlformats.org/drawingml/2006/table">
            <a:tbl>
              <a:tblPr firstRow="1" bandRow="1">
                <a:tableStyleId>{5C22544A-7EE6-4342-B048-85BDC9FD1C3A}</a:tableStyleId>
              </a:tblPr>
              <a:tblGrid>
                <a:gridCol w="1540510"/>
                <a:gridCol w="1540510"/>
              </a:tblGrid>
              <a:tr h="365760">
                <a:tc>
                  <a:txBody>
                    <a:bodyPr/>
                    <a:p>
                      <a:pPr>
                        <a:buNone/>
                      </a:pPr>
                      <a:r>
                        <a:rPr lang="en-US" altLang="en-GB" sz="1800" b="1">
                          <a:solidFill>
                            <a:schemeClr val="bg1"/>
                          </a:solidFill>
                          <a:sym typeface="+mn-ea"/>
                        </a:rPr>
                        <a:t>Position	</a:t>
                      </a:r>
                      <a:endParaRPr lang="en-US" altLang="en-GB" sz="1800" b="1">
                        <a:solidFill>
                          <a:schemeClr val="bg1"/>
                        </a:solidFill>
                        <a:sym typeface="+mn-ea"/>
                      </a:endParaRPr>
                    </a:p>
                  </a:txBody>
                  <a:tcPr>
                    <a:solidFill>
                      <a:srgbClr val="A42F43"/>
                    </a:solidFill>
                  </a:tcPr>
                </a:tc>
                <a:tc>
                  <a:txBody>
                    <a:bodyPr/>
                    <a:p>
                      <a:pPr>
                        <a:buNone/>
                      </a:pPr>
                      <a:r>
                        <a:rPr lang="en-US" altLang="en-GB" sz="1800" b="1">
                          <a:solidFill>
                            <a:schemeClr val="bg1"/>
                          </a:solidFill>
                          <a:sym typeface="+mn-ea"/>
                        </a:rPr>
                        <a:t>Value</a:t>
                      </a:r>
                      <a:endParaRPr lang="en-US" altLang="en-GB" sz="1800" b="1">
                        <a:solidFill>
                          <a:schemeClr val="bg1"/>
                        </a:solidFill>
                      </a:endParaRPr>
                    </a:p>
                    <a:p>
                      <a:pPr>
                        <a:buNone/>
                      </a:pPr>
                      <a:endParaRPr lang="en-US" altLang="en-GB" sz="1800" b="1">
                        <a:solidFill>
                          <a:schemeClr val="bg1"/>
                        </a:solidFill>
                      </a:endParaRPr>
                    </a:p>
                  </a:txBody>
                  <a:tcPr>
                    <a:solidFill>
                      <a:srgbClr val="A42F43"/>
                    </a:solidFill>
                  </a:tcPr>
                </a:tc>
              </a:tr>
              <a:tr h="365760">
                <a:tc>
                  <a:txBody>
                    <a:bodyPr/>
                    <a:p>
                      <a:pPr>
                        <a:buNone/>
                      </a:pPr>
                      <a:r>
                        <a:rPr lang="en-US" altLang="en-GB" sz="1800" b="1">
                          <a:solidFill>
                            <a:schemeClr val="bg1"/>
                          </a:solidFill>
                          <a:sym typeface="+mn-ea"/>
                        </a:rPr>
                        <a:t>2</a:t>
                      </a:r>
                      <a:r>
                        <a:rPr lang="en-US" altLang="en-US" sz="1800" b="1">
                          <a:solidFill>
                            <a:schemeClr val="bg1"/>
                          </a:solidFill>
                          <a:sym typeface="+mn-ea"/>
                        </a:rPr>
                        <a:t>⁰</a:t>
                      </a:r>
                      <a:endParaRPr lang="en-US" altLang="en-US" sz="1800" b="1">
                        <a:solidFill>
                          <a:schemeClr val="bg1"/>
                        </a:solidFill>
                        <a:sym typeface="+mn-ea"/>
                      </a:endParaRPr>
                    </a:p>
                  </a:txBody>
                  <a:tcPr>
                    <a:solidFill>
                      <a:srgbClr val="A42F43"/>
                    </a:solidFill>
                  </a:tcPr>
                </a:tc>
                <a:tc>
                  <a:txBody>
                    <a:bodyPr/>
                    <a:p>
                      <a:pPr>
                        <a:buNone/>
                      </a:pPr>
                      <a:r>
                        <a:rPr lang="en-US" altLang="en-GB" sz="1800" b="1">
                          <a:solidFill>
                            <a:schemeClr val="bg1"/>
                          </a:solidFill>
                          <a:sym typeface="+mn-ea"/>
                        </a:rPr>
                        <a:t>1</a:t>
                      </a:r>
                      <a:endParaRPr lang="en-US" altLang="en-GB" sz="1800" b="1">
                        <a:solidFill>
                          <a:schemeClr val="bg1"/>
                        </a:solidFill>
                        <a:sym typeface="+mn-ea"/>
                      </a:endParaRPr>
                    </a:p>
                  </a:txBody>
                  <a:tcPr>
                    <a:solidFill>
                      <a:srgbClr val="A42F43"/>
                    </a:solidFill>
                  </a:tcPr>
                </a:tc>
              </a:tr>
              <a:tr h="365760">
                <a:tc>
                  <a:txBody>
                    <a:bodyPr/>
                    <a:p>
                      <a:pPr>
                        <a:buNone/>
                      </a:pPr>
                      <a:r>
                        <a:rPr lang="en-US" altLang="en-GB" sz="1800" b="1">
                          <a:solidFill>
                            <a:schemeClr val="bg1"/>
                          </a:solidFill>
                          <a:sym typeface="+mn-ea"/>
                        </a:rPr>
                        <a:t>2</a:t>
                      </a:r>
                      <a:r>
                        <a:rPr lang="en-US" altLang="en-US" sz="1800" b="1">
                          <a:solidFill>
                            <a:schemeClr val="bg1"/>
                          </a:solidFill>
                          <a:sym typeface="+mn-ea"/>
                        </a:rPr>
                        <a:t>¹</a:t>
                      </a:r>
                      <a:endParaRPr lang="en-US" altLang="en-US" sz="1800" b="1">
                        <a:solidFill>
                          <a:schemeClr val="bg1"/>
                        </a:solidFill>
                        <a:sym typeface="+mn-ea"/>
                      </a:endParaRPr>
                    </a:p>
                  </a:txBody>
                  <a:tcPr>
                    <a:solidFill>
                      <a:srgbClr val="A42F43"/>
                    </a:solidFill>
                  </a:tcPr>
                </a:tc>
                <a:tc>
                  <a:txBody>
                    <a:bodyPr/>
                    <a:p>
                      <a:pPr>
                        <a:buNone/>
                      </a:pPr>
                      <a:r>
                        <a:rPr lang="en-US" altLang="en-GB" sz="1800" b="1">
                          <a:solidFill>
                            <a:schemeClr val="bg1"/>
                          </a:solidFill>
                          <a:sym typeface="+mn-ea"/>
                        </a:rPr>
                        <a:t>2</a:t>
                      </a:r>
                      <a:endParaRPr lang="en-US" altLang="en-GB" sz="1800" b="1">
                        <a:solidFill>
                          <a:schemeClr val="bg1"/>
                        </a:solidFill>
                        <a:sym typeface="+mn-ea"/>
                      </a:endParaRPr>
                    </a:p>
                  </a:txBody>
                  <a:tcPr>
                    <a:solidFill>
                      <a:srgbClr val="A42F43"/>
                    </a:solidFill>
                  </a:tcPr>
                </a:tc>
              </a:tr>
              <a:tr h="365760">
                <a:tc>
                  <a:txBody>
                    <a:bodyPr/>
                    <a:p>
                      <a:pPr>
                        <a:buNone/>
                      </a:pPr>
                      <a:r>
                        <a:rPr lang="en-US" altLang="en-GB" sz="1800" b="1">
                          <a:solidFill>
                            <a:schemeClr val="bg1"/>
                          </a:solidFill>
                          <a:sym typeface="+mn-ea"/>
                        </a:rPr>
                        <a:t>2</a:t>
                      </a:r>
                      <a:r>
                        <a:rPr lang="en-US" altLang="en-US" sz="1800" b="1">
                          <a:solidFill>
                            <a:schemeClr val="bg1"/>
                          </a:solidFill>
                          <a:sym typeface="+mn-ea"/>
                        </a:rPr>
                        <a:t>²</a:t>
                      </a:r>
                      <a:endParaRPr lang="en-US" altLang="en-US" sz="1800" b="1">
                        <a:solidFill>
                          <a:schemeClr val="bg1"/>
                        </a:solidFill>
                        <a:sym typeface="+mn-ea"/>
                      </a:endParaRPr>
                    </a:p>
                  </a:txBody>
                  <a:tcPr>
                    <a:solidFill>
                      <a:srgbClr val="A42F43"/>
                    </a:solidFill>
                  </a:tcPr>
                </a:tc>
                <a:tc>
                  <a:txBody>
                    <a:bodyPr/>
                    <a:p>
                      <a:pPr>
                        <a:buNone/>
                      </a:pPr>
                      <a:r>
                        <a:rPr lang="en-US" altLang="en-GB" sz="1800" b="1">
                          <a:solidFill>
                            <a:schemeClr val="bg1"/>
                          </a:solidFill>
                          <a:sym typeface="+mn-ea"/>
                        </a:rPr>
                        <a:t>4</a:t>
                      </a:r>
                      <a:endParaRPr lang="en-US" altLang="en-GB" sz="1800" b="1">
                        <a:solidFill>
                          <a:schemeClr val="bg1"/>
                        </a:solidFill>
                        <a:sym typeface="+mn-ea"/>
                      </a:endParaRPr>
                    </a:p>
                  </a:txBody>
                  <a:tcPr>
                    <a:solidFill>
                      <a:srgbClr val="A42F43"/>
                    </a:solidFill>
                  </a:tcPr>
                </a:tc>
              </a:tr>
              <a:tr h="365760">
                <a:tc>
                  <a:txBody>
                    <a:bodyPr/>
                    <a:p>
                      <a:pPr>
                        <a:buNone/>
                      </a:pPr>
                      <a:r>
                        <a:rPr lang="en-US" altLang="en-GB" sz="1800" b="1">
                          <a:solidFill>
                            <a:schemeClr val="bg1"/>
                          </a:solidFill>
                          <a:sym typeface="+mn-ea"/>
                        </a:rPr>
                        <a:t>2</a:t>
                      </a:r>
                      <a:r>
                        <a:rPr lang="en-US" altLang="en-US" sz="1800" b="1">
                          <a:solidFill>
                            <a:schemeClr val="bg1"/>
                          </a:solidFill>
                          <a:sym typeface="+mn-ea"/>
                        </a:rPr>
                        <a:t>³</a:t>
                      </a:r>
                      <a:endParaRPr lang="en-US" altLang="en-US" sz="1800" b="1">
                        <a:solidFill>
                          <a:schemeClr val="bg1"/>
                        </a:solidFill>
                        <a:sym typeface="+mn-ea"/>
                      </a:endParaRPr>
                    </a:p>
                  </a:txBody>
                  <a:tcPr>
                    <a:solidFill>
                      <a:srgbClr val="A42F43"/>
                    </a:solidFill>
                  </a:tcPr>
                </a:tc>
                <a:tc>
                  <a:txBody>
                    <a:bodyPr/>
                    <a:p>
                      <a:pPr>
                        <a:buNone/>
                      </a:pPr>
                      <a:r>
                        <a:rPr lang="en-US" altLang="en-GB" sz="1800" b="1">
                          <a:solidFill>
                            <a:schemeClr val="bg1"/>
                          </a:solidFill>
                          <a:sym typeface="+mn-ea"/>
                        </a:rPr>
                        <a:t>8</a:t>
                      </a:r>
                      <a:endParaRPr lang="en-US" altLang="en-GB" sz="1800" b="1">
                        <a:solidFill>
                          <a:schemeClr val="bg1"/>
                        </a:solidFill>
                        <a:sym typeface="+mn-ea"/>
                      </a:endParaRPr>
                    </a:p>
                  </a:txBody>
                  <a:tcPr>
                    <a:solidFill>
                      <a:srgbClr val="A42F43"/>
                    </a:solidFill>
                  </a:tcPr>
                </a:tc>
              </a:tr>
              <a:tr h="365760">
                <a:tc>
                  <a:txBody>
                    <a:bodyPr/>
                    <a:p>
                      <a:pPr>
                        <a:buNone/>
                      </a:pPr>
                      <a:r>
                        <a:rPr lang="en-US" altLang="en-GB" sz="1800" b="1">
                          <a:solidFill>
                            <a:schemeClr val="bg1"/>
                          </a:solidFill>
                          <a:sym typeface="+mn-ea"/>
                        </a:rPr>
                        <a:t>2</a:t>
                      </a:r>
                      <a:r>
                        <a:rPr lang="en-US" altLang="en-US" sz="1800" b="1">
                          <a:solidFill>
                            <a:schemeClr val="bg1"/>
                          </a:solidFill>
                          <a:sym typeface="+mn-ea"/>
                        </a:rPr>
                        <a:t>⁴</a:t>
                      </a:r>
                      <a:endParaRPr lang="en-US" altLang="en-US" sz="1800" b="1">
                        <a:solidFill>
                          <a:schemeClr val="bg1"/>
                        </a:solidFill>
                        <a:sym typeface="+mn-ea"/>
                      </a:endParaRPr>
                    </a:p>
                  </a:txBody>
                  <a:tcPr>
                    <a:solidFill>
                      <a:srgbClr val="A42F43"/>
                    </a:solidFill>
                  </a:tcPr>
                </a:tc>
                <a:tc>
                  <a:txBody>
                    <a:bodyPr/>
                    <a:p>
                      <a:pPr>
                        <a:buNone/>
                      </a:pPr>
                      <a:r>
                        <a:rPr lang="en-US" altLang="en-GB" sz="1800" b="1">
                          <a:solidFill>
                            <a:schemeClr val="bg1"/>
                          </a:solidFill>
                          <a:sym typeface="+mn-ea"/>
                        </a:rPr>
                        <a:t>16</a:t>
                      </a:r>
                      <a:endParaRPr lang="en-US" altLang="en-GB" sz="1800" b="1">
                        <a:solidFill>
                          <a:schemeClr val="bg1"/>
                        </a:solidFill>
                        <a:sym typeface="+mn-ea"/>
                      </a:endParaRPr>
                    </a:p>
                  </a:txBody>
                  <a:tcPr>
                    <a:solidFill>
                      <a:srgbClr val="A42F43"/>
                    </a:solidFill>
                  </a:tcPr>
                </a:tc>
              </a:tr>
              <a:tr h="365760">
                <a:tc>
                  <a:txBody>
                    <a:bodyPr/>
                    <a:p>
                      <a:pPr>
                        <a:buNone/>
                      </a:pPr>
                      <a:r>
                        <a:rPr lang="en-US" altLang="en-GB" sz="1800" b="1">
                          <a:solidFill>
                            <a:schemeClr val="bg1"/>
                          </a:solidFill>
                          <a:sym typeface="+mn-ea"/>
                        </a:rPr>
                        <a:t>2</a:t>
                      </a:r>
                      <a:r>
                        <a:rPr lang="en-US" altLang="en-US" sz="1800" b="1">
                          <a:solidFill>
                            <a:schemeClr val="bg1"/>
                          </a:solidFill>
                          <a:sym typeface="+mn-ea"/>
                        </a:rPr>
                        <a:t>⁵</a:t>
                      </a:r>
                      <a:endParaRPr lang="en-US" altLang="en-US" sz="1800" b="1">
                        <a:solidFill>
                          <a:schemeClr val="bg1"/>
                        </a:solidFill>
                        <a:sym typeface="+mn-ea"/>
                      </a:endParaRPr>
                    </a:p>
                  </a:txBody>
                  <a:tcPr>
                    <a:solidFill>
                      <a:srgbClr val="A42F43"/>
                    </a:solidFill>
                  </a:tcPr>
                </a:tc>
                <a:tc>
                  <a:txBody>
                    <a:bodyPr/>
                    <a:p>
                      <a:pPr>
                        <a:buNone/>
                      </a:pPr>
                      <a:r>
                        <a:rPr lang="en-US" altLang="en-US" sz="1800" b="1">
                          <a:solidFill>
                            <a:schemeClr val="bg1"/>
                          </a:solidFill>
                          <a:sym typeface="+mn-ea"/>
                        </a:rPr>
                        <a:t>32</a:t>
                      </a:r>
                      <a:endParaRPr lang="en-US" altLang="en-US" sz="1800" b="1">
                        <a:solidFill>
                          <a:schemeClr val="bg1"/>
                        </a:solidFill>
                      </a:endParaRPr>
                    </a:p>
                    <a:p>
                      <a:pPr>
                        <a:buNone/>
                      </a:pPr>
                      <a:endParaRPr lang="en-US" altLang="en-US" sz="1800" b="1">
                        <a:solidFill>
                          <a:schemeClr val="bg1"/>
                        </a:solidFill>
                      </a:endParaRPr>
                    </a:p>
                  </a:txBody>
                  <a:tcPr>
                    <a:solidFill>
                      <a:srgbClr val="A42F43"/>
                    </a:solidFill>
                  </a:tcPr>
                </a:tc>
              </a:tr>
              <a:tr h="365760">
                <a:tc>
                  <a:txBody>
                    <a:bodyPr/>
                    <a:p>
                      <a:pPr>
                        <a:buNone/>
                      </a:pPr>
                      <a:r>
                        <a:rPr lang="en-US" altLang="en-GB" sz="1800" b="1">
                          <a:solidFill>
                            <a:schemeClr val="bg1"/>
                          </a:solidFill>
                          <a:sym typeface="+mn-ea"/>
                        </a:rPr>
                        <a:t>2</a:t>
                      </a:r>
                      <a:r>
                        <a:rPr lang="en-US" altLang="en-US" sz="1800" b="1">
                          <a:solidFill>
                            <a:schemeClr val="bg1"/>
                          </a:solidFill>
                          <a:sym typeface="+mn-ea"/>
                        </a:rPr>
                        <a:t>⁶</a:t>
                      </a:r>
                      <a:endParaRPr lang="en-US" altLang="en-US" sz="1800" b="1">
                        <a:solidFill>
                          <a:schemeClr val="bg1"/>
                        </a:solidFill>
                        <a:sym typeface="+mn-ea"/>
                      </a:endParaRPr>
                    </a:p>
                  </a:txBody>
                  <a:tcPr>
                    <a:solidFill>
                      <a:srgbClr val="A42F43"/>
                    </a:solidFill>
                  </a:tcPr>
                </a:tc>
                <a:tc>
                  <a:txBody>
                    <a:bodyPr/>
                    <a:p>
                      <a:pPr>
                        <a:buNone/>
                      </a:pPr>
                      <a:r>
                        <a:rPr lang="en-US" altLang="en-GB" sz="1800" b="1">
                          <a:solidFill>
                            <a:schemeClr val="bg1"/>
                          </a:solidFill>
                          <a:sym typeface="+mn-ea"/>
                        </a:rPr>
                        <a:t>64</a:t>
                      </a:r>
                      <a:endParaRPr lang="en-US" altLang="en-GB" sz="1800" b="1">
                        <a:solidFill>
                          <a:schemeClr val="bg1"/>
                        </a:solidFill>
                        <a:sym typeface="+mn-ea"/>
                      </a:endParaRPr>
                    </a:p>
                  </a:txBody>
                  <a:tcPr>
                    <a:solidFill>
                      <a:srgbClr val="A42F43"/>
                    </a:solidFill>
                  </a:tcPr>
                </a:tc>
              </a:tr>
              <a:tr h="365760">
                <a:tc>
                  <a:txBody>
                    <a:bodyPr/>
                    <a:p>
                      <a:pPr>
                        <a:buNone/>
                      </a:pPr>
                      <a:r>
                        <a:rPr lang="en-US" altLang="en-GB" sz="1800" b="1">
                          <a:solidFill>
                            <a:schemeClr val="bg1"/>
                          </a:solidFill>
                          <a:sym typeface="+mn-ea"/>
                        </a:rPr>
                        <a:t>2</a:t>
                      </a:r>
                      <a:r>
                        <a:rPr lang="en-US" altLang="en-US" sz="1800" b="1">
                          <a:solidFill>
                            <a:schemeClr val="bg1"/>
                          </a:solidFill>
                          <a:sym typeface="+mn-ea"/>
                        </a:rPr>
                        <a:t>⁷</a:t>
                      </a:r>
                      <a:endParaRPr lang="en-US" altLang="en-US" sz="1800" b="1">
                        <a:solidFill>
                          <a:schemeClr val="bg1"/>
                        </a:solidFill>
                        <a:sym typeface="+mn-ea"/>
                      </a:endParaRPr>
                    </a:p>
                  </a:txBody>
                  <a:tcPr>
                    <a:solidFill>
                      <a:srgbClr val="A42F43"/>
                    </a:solidFill>
                  </a:tcPr>
                </a:tc>
                <a:tc>
                  <a:txBody>
                    <a:bodyPr/>
                    <a:p>
                      <a:pPr>
                        <a:buNone/>
                      </a:pPr>
                      <a:r>
                        <a:rPr lang="en-US" altLang="en-US" sz="1800" b="1">
                          <a:solidFill>
                            <a:schemeClr val="bg1"/>
                          </a:solidFill>
                          <a:sym typeface="+mn-ea"/>
                        </a:rPr>
                        <a:t>128</a:t>
                      </a:r>
                      <a:endParaRPr lang="en-US" altLang="en-US" sz="1800" b="1">
                        <a:solidFill>
                          <a:schemeClr val="bg1"/>
                        </a:solidFill>
                      </a:endParaRPr>
                    </a:p>
                    <a:p>
                      <a:pPr>
                        <a:buNone/>
                      </a:pPr>
                      <a:endParaRPr lang="en-US" altLang="en-US" sz="1800" b="1">
                        <a:solidFill>
                          <a:schemeClr val="bg1"/>
                        </a:solidFill>
                      </a:endParaRPr>
                    </a:p>
                    <a:p>
                      <a:pPr>
                        <a:buNone/>
                      </a:pPr>
                      <a:endParaRPr lang="en-US" altLang="en-US" sz="1800" b="1">
                        <a:solidFill>
                          <a:schemeClr val="bg1"/>
                        </a:solidFill>
                      </a:endParaRPr>
                    </a:p>
                  </a:txBody>
                  <a:tcPr>
                    <a:solidFill>
                      <a:srgbClr val="A42F43"/>
                    </a:solidFill>
                  </a:tcPr>
                </a:tc>
              </a:tr>
            </a:tbl>
          </a:graphicData>
        </a:graphic>
      </p:graphicFrame>
      <p:sp>
        <p:nvSpPr>
          <p:cNvPr id="17" name="Text Box 16"/>
          <p:cNvSpPr txBox="1"/>
          <p:nvPr/>
        </p:nvSpPr>
        <p:spPr>
          <a:xfrm>
            <a:off x="8293100" y="0"/>
            <a:ext cx="4064000" cy="368300"/>
          </a:xfrm>
          <a:prstGeom prst="rect">
            <a:avLst/>
          </a:prstGeom>
          <a:noFill/>
        </p:spPr>
        <p:txBody>
          <a:bodyPr wrap="square" rtlCol="0">
            <a:spAutoFit/>
          </a:bodyPr>
          <a:p>
            <a:r>
              <a:rPr lang="en-US" altLang="en-GB" b="1">
                <a:solidFill>
                  <a:schemeClr val="bg1"/>
                </a:solidFill>
              </a:rPr>
              <a:t>In binary, place values double each time:</a:t>
            </a:r>
            <a:endParaRPr lang="en-US" altLang="en-GB" b="1">
              <a:solidFill>
                <a:schemeClr val="bg1"/>
              </a:solidFill>
            </a:endParaRPr>
          </a:p>
        </p:txBody>
      </p:sp>
      <p:sp>
        <p:nvSpPr>
          <p:cNvPr id="18" name="Text Box 17"/>
          <p:cNvSpPr txBox="1"/>
          <p:nvPr/>
        </p:nvSpPr>
        <p:spPr>
          <a:xfrm>
            <a:off x="113030" y="203200"/>
            <a:ext cx="4064000" cy="5354320"/>
          </a:xfrm>
          <a:prstGeom prst="rect">
            <a:avLst/>
          </a:prstGeom>
          <a:noFill/>
        </p:spPr>
        <p:txBody>
          <a:bodyPr wrap="square" rtlCol="0">
            <a:spAutoFit/>
          </a:bodyPr>
          <a:p>
            <a:r>
              <a:rPr lang="en-US" altLang="en-GB" b="1">
                <a:solidFill>
                  <a:srgbClr val="FFFF00"/>
                </a:solidFill>
              </a:rPr>
              <a:t>SUBTRACTION RULE (TWO RULES)</a:t>
            </a:r>
            <a:endParaRPr lang="en-US" altLang="en-GB" b="1">
              <a:solidFill>
                <a:srgbClr val="FFFF00"/>
              </a:solidFill>
            </a:endParaRPr>
          </a:p>
          <a:p>
            <a:endParaRPr lang="en-US" altLang="en-GB" b="1">
              <a:solidFill>
                <a:srgbClr val="FFFF00"/>
              </a:solidFill>
            </a:endParaRPr>
          </a:p>
          <a:p>
            <a:r>
              <a:rPr lang="en-US" altLang="en-GB" b="1">
                <a:solidFill>
                  <a:srgbClr val="FFFF00"/>
                </a:solidFill>
              </a:rPr>
              <a:t>1. Put </a:t>
            </a:r>
            <a:r>
              <a:rPr lang="en-US" altLang="en-GB" b="1">
                <a:solidFill>
                  <a:schemeClr val="tx1"/>
                </a:solidFill>
              </a:rPr>
              <a:t>1</a:t>
            </a:r>
            <a:r>
              <a:rPr lang="en-US" altLang="en-GB" b="1">
                <a:solidFill>
                  <a:srgbClr val="FFFF00"/>
                </a:solidFill>
              </a:rPr>
              <a:t> if:</a:t>
            </a:r>
            <a:endParaRPr lang="en-US" altLang="en-GB" b="1">
              <a:solidFill>
                <a:srgbClr val="FFFF00"/>
              </a:solidFill>
            </a:endParaRPr>
          </a:p>
          <a:p>
            <a:endParaRPr lang="en-US" altLang="en-GB" b="1">
              <a:solidFill>
                <a:schemeClr val="bg1"/>
              </a:solidFill>
            </a:endParaRPr>
          </a:p>
          <a:p>
            <a:r>
              <a:rPr lang="en-US" altLang="en-GB" b="1">
                <a:solidFill>
                  <a:schemeClr val="bg1"/>
                </a:solidFill>
              </a:rPr>
              <a:t>Your Number </a:t>
            </a:r>
            <a:r>
              <a:rPr lang="en-US" altLang="en-GB" b="1">
                <a:solidFill>
                  <a:srgbClr val="FF0000"/>
                </a:solidFill>
              </a:rPr>
              <a:t>&gt;=</a:t>
            </a:r>
            <a:r>
              <a:rPr lang="en-US" altLang="en-GB" b="1">
                <a:solidFill>
                  <a:schemeClr val="bg1"/>
                </a:solidFill>
              </a:rPr>
              <a:t> Column Value</a:t>
            </a:r>
            <a:endParaRPr lang="en-US" altLang="en-GB" b="1">
              <a:solidFill>
                <a:schemeClr val="bg1"/>
              </a:solidFill>
            </a:endParaRPr>
          </a:p>
          <a:p>
            <a:endParaRPr lang="en-US" altLang="en-GB" b="1">
              <a:solidFill>
                <a:schemeClr val="bg1"/>
              </a:solidFill>
            </a:endParaRPr>
          </a:p>
          <a:p>
            <a:pPr marL="285750" indent="-285750">
              <a:buFont typeface="Wingdings" panose="05000000000000000000" charset="0"/>
              <a:buChar char="q"/>
            </a:pPr>
            <a:r>
              <a:rPr lang="en-US" altLang="en-GB" b="1">
                <a:solidFill>
                  <a:schemeClr val="bg1"/>
                </a:solidFill>
              </a:rPr>
              <a:t>Then subtract:</a:t>
            </a:r>
            <a:endParaRPr lang="en-US" altLang="en-GB" b="1">
              <a:solidFill>
                <a:schemeClr val="bg1"/>
              </a:solidFill>
            </a:endParaRPr>
          </a:p>
          <a:p>
            <a:r>
              <a:rPr lang="en-US" altLang="en-GB" b="1">
                <a:solidFill>
                  <a:schemeClr val="bg1"/>
                </a:solidFill>
              </a:rPr>
              <a:t>Your Number - Column value =</a:t>
            </a:r>
            <a:endParaRPr lang="en-US" altLang="en-GB" b="1">
              <a:solidFill>
                <a:schemeClr val="bg1"/>
              </a:solidFill>
            </a:endParaRPr>
          </a:p>
          <a:p>
            <a:endParaRPr lang="en-US" altLang="en-GB" b="1">
              <a:solidFill>
                <a:schemeClr val="bg1"/>
              </a:solidFill>
            </a:endParaRPr>
          </a:p>
          <a:p>
            <a:endParaRPr lang="en-US" altLang="en-GB" b="1">
              <a:solidFill>
                <a:schemeClr val="bg1"/>
              </a:solidFill>
            </a:endParaRPr>
          </a:p>
          <a:p>
            <a:r>
              <a:rPr lang="en-US" altLang="en-GB" b="1">
                <a:solidFill>
                  <a:srgbClr val="FFFF00"/>
                </a:solidFill>
              </a:rPr>
              <a:t>2. Put </a:t>
            </a:r>
            <a:r>
              <a:rPr lang="en-US" altLang="en-GB" b="1">
                <a:solidFill>
                  <a:schemeClr val="tx1"/>
                </a:solidFill>
              </a:rPr>
              <a:t>0</a:t>
            </a:r>
            <a:r>
              <a:rPr lang="en-US" altLang="en-GB" b="1">
                <a:solidFill>
                  <a:srgbClr val="FFFF00"/>
                </a:solidFill>
              </a:rPr>
              <a:t> if:</a:t>
            </a:r>
            <a:endParaRPr lang="en-US" altLang="en-GB" b="1">
              <a:solidFill>
                <a:srgbClr val="FFFF00"/>
              </a:solidFill>
            </a:endParaRPr>
          </a:p>
          <a:p>
            <a:endParaRPr lang="en-US" altLang="en-GB" b="1">
              <a:solidFill>
                <a:schemeClr val="bg1"/>
              </a:solidFill>
            </a:endParaRPr>
          </a:p>
          <a:p>
            <a:r>
              <a:rPr lang="en-US" altLang="en-GB" b="1">
                <a:solidFill>
                  <a:schemeClr val="bg1"/>
                </a:solidFill>
              </a:rPr>
              <a:t>Your Number </a:t>
            </a:r>
            <a:r>
              <a:rPr lang="en-US" altLang="en-GB" b="1">
                <a:solidFill>
                  <a:srgbClr val="FF0000"/>
                </a:solidFill>
              </a:rPr>
              <a:t>&lt; </a:t>
            </a:r>
            <a:r>
              <a:rPr lang="en-US" altLang="en-GB" b="1">
                <a:solidFill>
                  <a:schemeClr val="bg1"/>
                </a:solidFill>
              </a:rPr>
              <a:t>Column Value</a:t>
            </a:r>
            <a:endParaRPr lang="en-US" altLang="en-GB" b="1">
              <a:solidFill>
                <a:schemeClr val="bg1"/>
              </a:solidFill>
            </a:endParaRPr>
          </a:p>
          <a:p>
            <a:endParaRPr lang="en-US" altLang="en-GB" b="1">
              <a:solidFill>
                <a:schemeClr val="bg1"/>
              </a:solidFill>
            </a:endParaRPr>
          </a:p>
          <a:p>
            <a:pPr marL="285750" indent="-285750">
              <a:buFont typeface="Wingdings" panose="05000000000000000000" charset="0"/>
              <a:buChar char="q"/>
            </a:pPr>
            <a:r>
              <a:rPr lang="en-US" altLang="en-GB" b="1">
                <a:solidFill>
                  <a:schemeClr val="bg1"/>
                </a:solidFill>
              </a:rPr>
              <a:t>Do not subtract. Just carry the exact same number over the next column</a:t>
            </a:r>
            <a:endParaRPr lang="en-US" altLang="en-GB" b="1">
              <a:solidFill>
                <a:schemeClr val="bg1"/>
              </a:solidFill>
            </a:endParaRPr>
          </a:p>
          <a:p>
            <a:endParaRPr lang="en-US" altLang="en-GB" b="1">
              <a:solidFill>
                <a:schemeClr val="bg1"/>
              </a:solidFill>
            </a:endParaRPr>
          </a:p>
          <a:p>
            <a:endParaRPr lang="en-US" altLang="en-GB"/>
          </a:p>
          <a:p>
            <a:endParaRPr lang="en-US" altLang="en-GB"/>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a:xfrm>
          <a:off x="0" y="0"/>
          <a:ext cx="0" cy="0"/>
          <a:chOff x="0" y="0"/>
          <a:chExt cx="0" cy="0"/>
        </a:xfrm>
      </p:grpSpPr>
      <p:pic>
        <p:nvPicPr>
          <p:cNvPr id="20" name="Picture 19" descr="WhatsApp Image 2026-05-26 at 9.15.32 AM"/>
          <p:cNvPicPr>
            <a:picLocks noChangeAspect="1"/>
          </p:cNvPicPr>
          <p:nvPr/>
        </p:nvPicPr>
        <p:blipFill>
          <a:blip r:embed="rId1"/>
          <a:srcRect l="11601" t="7675" r="19054" b="14253"/>
          <a:stretch>
            <a:fillRect/>
          </a:stretch>
        </p:blipFill>
        <p:spPr>
          <a:xfrm>
            <a:off x="0" y="0"/>
            <a:ext cx="807085" cy="859155"/>
          </a:xfrm>
          <a:prstGeom prst="rect">
            <a:avLst/>
          </a:prstGeom>
        </p:spPr>
      </p:pic>
      <p:pic>
        <p:nvPicPr>
          <p:cNvPr id="5" name="Picture 4" descr="WhatsApp Image 2026-05-26 at 9.15.32 AM"/>
          <p:cNvPicPr>
            <a:picLocks noChangeAspect="1"/>
          </p:cNvPicPr>
          <p:nvPr/>
        </p:nvPicPr>
        <p:blipFill>
          <a:blip r:embed="rId1"/>
          <a:srcRect l="11601" t="7675" r="19054" b="14253"/>
          <a:stretch>
            <a:fillRect/>
          </a:stretch>
        </p:blipFill>
        <p:spPr>
          <a:xfrm>
            <a:off x="11363325" y="5998845"/>
            <a:ext cx="807085" cy="859155"/>
          </a:xfrm>
          <a:prstGeom prst="rect">
            <a:avLst/>
          </a:prstGeom>
        </p:spPr>
      </p:pic>
      <p:sp>
        <p:nvSpPr>
          <p:cNvPr id="6" name="Text Box 5"/>
          <p:cNvSpPr txBox="1"/>
          <p:nvPr/>
        </p:nvSpPr>
        <p:spPr>
          <a:xfrm>
            <a:off x="924560" y="93345"/>
            <a:ext cx="6227445" cy="443865"/>
          </a:xfrm>
          <a:prstGeom prst="rect">
            <a:avLst/>
          </a:prstGeom>
        </p:spPr>
        <p:txBody>
          <a:bodyPr wrap="square">
            <a:noAutofit/>
          </a:bodyPr>
          <a:p>
            <a:pPr>
              <a:spcAft>
                <a:spcPct val="60000"/>
              </a:spcAft>
            </a:pPr>
            <a:r>
              <a:rPr lang="en-US" altLang="zh-CN" sz="1600">
                <a:solidFill>
                  <a:schemeClr val="bg1"/>
                </a:solidFill>
              </a:rPr>
              <a:t>Let's convert 13 to binary. write your answer also in 8 - byte</a:t>
            </a:r>
            <a:endParaRPr lang="en-US" altLang="zh-CN" sz="1600">
              <a:solidFill>
                <a:schemeClr val="bg1"/>
              </a:solidFill>
            </a:endParaRPr>
          </a:p>
          <a:p>
            <a:pPr>
              <a:spcAft>
                <a:spcPct val="60000"/>
              </a:spcAft>
            </a:pPr>
            <a:endParaRPr lang="en-US" altLang="zh-CN" sz="1600">
              <a:solidFill>
                <a:schemeClr val="bg1"/>
              </a:solidFill>
            </a:endParaRPr>
          </a:p>
        </p:txBody>
      </p:sp>
      <p:sp>
        <p:nvSpPr>
          <p:cNvPr id="23" name="Text Box 22"/>
          <p:cNvSpPr txBox="1"/>
          <p:nvPr/>
        </p:nvSpPr>
        <p:spPr>
          <a:xfrm>
            <a:off x="1112520" y="537210"/>
            <a:ext cx="2418080" cy="368300"/>
          </a:xfrm>
          <a:prstGeom prst="rect">
            <a:avLst/>
          </a:prstGeom>
          <a:noFill/>
        </p:spPr>
        <p:txBody>
          <a:bodyPr wrap="square" rtlCol="0">
            <a:spAutoFit/>
          </a:bodyPr>
          <a:p>
            <a:r>
              <a:rPr lang="en-US" altLang="en-GB">
                <a:solidFill>
                  <a:srgbClr val="FFFF00"/>
                </a:solidFill>
              </a:rPr>
              <a:t>DIVISION METHOD</a:t>
            </a:r>
            <a:endParaRPr lang="en-US" altLang="en-GB">
              <a:solidFill>
                <a:srgbClr val="FFFF00"/>
              </a:solidFill>
            </a:endParaRPr>
          </a:p>
        </p:txBody>
      </p:sp>
      <p:sp>
        <p:nvSpPr>
          <p:cNvPr id="24" name="Text Box 23"/>
          <p:cNvSpPr txBox="1"/>
          <p:nvPr/>
        </p:nvSpPr>
        <p:spPr>
          <a:xfrm>
            <a:off x="6324600" y="490855"/>
            <a:ext cx="2722880" cy="368300"/>
          </a:xfrm>
          <a:prstGeom prst="rect">
            <a:avLst/>
          </a:prstGeom>
          <a:noFill/>
        </p:spPr>
        <p:txBody>
          <a:bodyPr wrap="square" rtlCol="0">
            <a:spAutoFit/>
          </a:bodyPr>
          <a:p>
            <a:r>
              <a:rPr lang="en-US" altLang="en-GB">
                <a:solidFill>
                  <a:srgbClr val="FFFF00"/>
                </a:solidFill>
              </a:rPr>
              <a:t>SUBTRACTION METHOD</a:t>
            </a:r>
            <a:endParaRPr lang="en-US" altLang="en-GB">
              <a:solidFill>
                <a:srgbClr val="FFFF00"/>
              </a:solidFill>
            </a:endParaRPr>
          </a:p>
        </p:txBody>
      </p:sp>
      <p:graphicFrame>
        <p:nvGraphicFramePr>
          <p:cNvPr id="50" name="Table 49"/>
          <p:cNvGraphicFramePr/>
          <p:nvPr/>
        </p:nvGraphicFramePr>
        <p:xfrm>
          <a:off x="1828800" y="1524000"/>
          <a:ext cx="8533765" cy="3810000"/>
        </p:xfrm>
        <a:graphic>
          <a:graphicData uri="http://schemas.openxmlformats.org/drawingml/2006/table">
            <a:tbl>
              <a:tblPr firstRow="1" bandRow="1">
                <a:tableStyleId>{5C22544A-7EE6-4342-B048-85BDC9FD1C3A}</a:tableStyleId>
              </a:tblPr>
              <a:tblGrid>
                <a:gridCol w="852805"/>
                <a:gridCol w="852805"/>
                <a:gridCol w="852805"/>
                <a:gridCol w="852805"/>
                <a:gridCol w="852805"/>
                <a:gridCol w="852805"/>
                <a:gridCol w="852805"/>
                <a:gridCol w="852805"/>
                <a:gridCol w="852805"/>
                <a:gridCol w="852805"/>
              </a:tblGrid>
              <a:tr h="381000">
                <a:tc>
                  <a:txBody>
                    <a:bodyPr/>
                    <a:p>
                      <a:pPr>
                        <a:buNone/>
                      </a:pPr>
                      <a:r>
                        <a:rPr lang="en-US" altLang="en-GB"/>
                        <a:t>2</a:t>
                      </a:r>
                      <a:endParaRPr lang="en-US" altLang="en-GB"/>
                    </a:p>
                  </a:txBody>
                  <a:tcPr/>
                </a:tc>
                <a:tc>
                  <a:txBody>
                    <a:bodyPr/>
                    <a:p>
                      <a:pPr>
                        <a:buNone/>
                      </a:pPr>
                      <a:r>
                        <a:rPr lang="en-US" altLang="en-GB"/>
                        <a:t>13</a:t>
                      </a:r>
                      <a:endParaRPr lang="en-US" altLang="en-GB"/>
                    </a:p>
                  </a:txBody>
                  <a:tcPr/>
                </a:tc>
                <a:tc>
                  <a:txBody>
                    <a:bodyPr/>
                    <a:p>
                      <a:pPr>
                        <a:buNone/>
                      </a:pPr>
                      <a:r>
                        <a:rPr lang="en-US" altLang="en-GB"/>
                        <a:t>RM</a:t>
                      </a:r>
                      <a:endParaRPr lang="en-US" altLang="en-GB"/>
                    </a:p>
                  </a:txBody>
                  <a:tcPr/>
                </a:tc>
                <a:tc>
                  <a:txBody>
                    <a:bodyPr/>
                    <a:p>
                      <a:pPr>
                        <a:buNone/>
                      </a:pPr>
                      <a:endParaRPr lang="en-GB" altLang="en-US"/>
                    </a:p>
                  </a:txBody>
                  <a:tcPr>
                    <a:solidFill>
                      <a:srgbClr val="FF0000"/>
                    </a:solidFill>
                  </a:tcPr>
                </a:tc>
                <a:tc>
                  <a:txBody>
                    <a:bodyPr/>
                    <a:p>
                      <a:pPr>
                        <a:buNone/>
                      </a:pPr>
                      <a:r>
                        <a:rPr lang="en-US" altLang="en-GB"/>
                        <a:t>13</a:t>
                      </a:r>
                      <a:endParaRPr lang="en-US" altLang="en-GB"/>
                    </a:p>
                  </a:txBody>
                  <a:tcPr/>
                </a:tc>
                <a:tc>
                  <a:txBody>
                    <a:bodyPr/>
                    <a:p>
                      <a:pPr>
                        <a:buNone/>
                      </a:pPr>
                      <a:r>
                        <a:rPr lang="en-US" altLang="en-GB"/>
                        <a:t>8</a:t>
                      </a:r>
                      <a:endParaRPr lang="en-US" altLang="en-GB"/>
                    </a:p>
                  </a:txBody>
                  <a:tcPr/>
                </a:tc>
                <a:tc>
                  <a:txBody>
                    <a:bodyPr/>
                    <a:p>
                      <a:pPr>
                        <a:buNone/>
                      </a:pPr>
                      <a:r>
                        <a:rPr lang="en-US" altLang="en-GB"/>
                        <a:t>4</a:t>
                      </a:r>
                      <a:endParaRPr lang="en-US" altLang="en-GB"/>
                    </a:p>
                  </a:txBody>
                  <a:tcPr/>
                </a:tc>
                <a:tc>
                  <a:txBody>
                    <a:bodyPr/>
                    <a:p>
                      <a:pPr>
                        <a:buNone/>
                      </a:pPr>
                      <a:r>
                        <a:rPr lang="en-US" altLang="en-GB"/>
                        <a:t>2</a:t>
                      </a:r>
                      <a:endParaRPr lang="en-US" altLang="en-GB"/>
                    </a:p>
                  </a:txBody>
                  <a:tcPr/>
                </a:tc>
                <a:tc>
                  <a:txBody>
                    <a:bodyPr/>
                    <a:p>
                      <a:pPr>
                        <a:buNone/>
                      </a:pPr>
                      <a:r>
                        <a:rPr lang="en-US" altLang="en-GB"/>
                        <a:t>1</a:t>
                      </a:r>
                      <a:endParaRPr lang="en-US" altLang="en-GB"/>
                    </a:p>
                  </a:txBody>
                  <a:tcPr/>
                </a:tc>
                <a:tc>
                  <a:txBody>
                    <a:bodyPr/>
                    <a:p>
                      <a:pPr>
                        <a:buNone/>
                      </a:pPr>
                      <a:endParaRPr lang="en-GB" altLang="en-US"/>
                    </a:p>
                  </a:txBody>
                  <a:tcPr/>
                </a:tc>
              </a:tr>
              <a:tr h="381000">
                <a:tc>
                  <a:txBody>
                    <a:bodyPr/>
                    <a:p>
                      <a:pPr>
                        <a:buNone/>
                      </a:pPr>
                      <a:r>
                        <a:rPr lang="en-US" altLang="en-GB"/>
                        <a:t>2</a:t>
                      </a:r>
                      <a:endParaRPr lang="en-US" altLang="en-GB"/>
                    </a:p>
                  </a:txBody>
                  <a:tcPr/>
                </a:tc>
                <a:tc>
                  <a:txBody>
                    <a:bodyPr/>
                    <a:p>
                      <a:pPr>
                        <a:buNone/>
                      </a:pPr>
                      <a:r>
                        <a:rPr lang="en-US" altLang="en-GB"/>
                        <a:t>6</a:t>
                      </a:r>
                      <a:endParaRPr lang="en-US" altLang="en-GB"/>
                    </a:p>
                  </a:txBody>
                  <a:tcPr/>
                </a:tc>
                <a:tc>
                  <a:txBody>
                    <a:bodyPr/>
                    <a:p>
                      <a:pPr>
                        <a:buNone/>
                      </a:pPr>
                      <a:r>
                        <a:rPr lang="en-US" altLang="en-GB"/>
                        <a:t>1</a:t>
                      </a:r>
                      <a:endParaRPr lang="en-US" altLang="en-GB"/>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r>
                        <a:rPr lang="en-US" altLang="en-GB"/>
                        <a:t>5</a:t>
                      </a:r>
                      <a:endParaRPr lang="en-US" altLang="en-GB"/>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r>
                        <a:rPr lang="en-US" altLang="en-GB"/>
                        <a:t>1</a:t>
                      </a:r>
                      <a:endParaRPr lang="en-US" altLang="en-GB"/>
                    </a:p>
                  </a:txBody>
                  <a:tcPr/>
                </a:tc>
              </a:tr>
              <a:tr h="381000">
                <a:tc>
                  <a:txBody>
                    <a:bodyPr/>
                    <a:p>
                      <a:pPr>
                        <a:buNone/>
                      </a:pPr>
                      <a:r>
                        <a:rPr lang="en-US" altLang="en-GB"/>
                        <a:t>2</a:t>
                      </a:r>
                      <a:endParaRPr lang="en-US" altLang="en-GB"/>
                    </a:p>
                  </a:txBody>
                  <a:tcPr/>
                </a:tc>
                <a:tc>
                  <a:txBody>
                    <a:bodyPr/>
                    <a:p>
                      <a:pPr>
                        <a:buNone/>
                      </a:pPr>
                      <a:r>
                        <a:rPr lang="en-US" altLang="en-GB"/>
                        <a:t>3</a:t>
                      </a:r>
                      <a:endParaRPr lang="en-US" altLang="en-GB"/>
                    </a:p>
                  </a:txBody>
                  <a:tcPr/>
                </a:tc>
                <a:tc>
                  <a:txBody>
                    <a:bodyPr/>
                    <a:p>
                      <a:pPr>
                        <a:buNone/>
                      </a:pPr>
                      <a:r>
                        <a:rPr lang="en-US" altLang="en-GB"/>
                        <a:t>0</a:t>
                      </a:r>
                      <a:endParaRPr lang="en-US" altLang="en-GB"/>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r>
                        <a:rPr lang="en-US" altLang="en-GB"/>
                        <a:t>1</a:t>
                      </a:r>
                      <a:endParaRPr lang="en-US" altLang="en-GB"/>
                    </a:p>
                  </a:txBody>
                  <a:tcPr/>
                </a:tc>
                <a:tc>
                  <a:txBody>
                    <a:bodyPr/>
                    <a:p>
                      <a:pPr>
                        <a:buNone/>
                      </a:pPr>
                      <a:endParaRPr lang="en-GB" altLang="en-US"/>
                    </a:p>
                  </a:txBody>
                  <a:tcPr/>
                </a:tc>
                <a:tc>
                  <a:txBody>
                    <a:bodyPr/>
                    <a:p>
                      <a:pPr>
                        <a:buNone/>
                      </a:pPr>
                      <a:endParaRPr lang="en-GB" altLang="en-US"/>
                    </a:p>
                  </a:txBody>
                  <a:tcPr/>
                </a:tc>
                <a:tc>
                  <a:txBody>
                    <a:bodyPr/>
                    <a:p>
                      <a:pPr>
                        <a:buNone/>
                      </a:pPr>
                      <a:r>
                        <a:rPr lang="en-US" altLang="en-GB"/>
                        <a:t>1</a:t>
                      </a:r>
                      <a:endParaRPr lang="en-US" altLang="en-GB"/>
                    </a:p>
                  </a:txBody>
                  <a:tcPr/>
                </a:tc>
              </a:tr>
              <a:tr h="381000">
                <a:tc>
                  <a:txBody>
                    <a:bodyPr/>
                    <a:p>
                      <a:pPr>
                        <a:buNone/>
                      </a:pPr>
                      <a:r>
                        <a:rPr lang="en-US" altLang="en-GB"/>
                        <a:t>2</a:t>
                      </a:r>
                      <a:endParaRPr lang="en-US" altLang="en-GB"/>
                    </a:p>
                  </a:txBody>
                  <a:tcPr/>
                </a:tc>
                <a:tc>
                  <a:txBody>
                    <a:bodyPr/>
                    <a:p>
                      <a:pPr>
                        <a:buNone/>
                      </a:pPr>
                      <a:r>
                        <a:rPr lang="en-US" altLang="en-GB"/>
                        <a:t>1</a:t>
                      </a:r>
                      <a:endParaRPr lang="en-US" altLang="en-GB"/>
                    </a:p>
                  </a:txBody>
                  <a:tcPr/>
                </a:tc>
                <a:tc>
                  <a:txBody>
                    <a:bodyPr/>
                    <a:p>
                      <a:pPr>
                        <a:buNone/>
                      </a:pPr>
                      <a:r>
                        <a:rPr lang="en-US" altLang="en-GB"/>
                        <a:t>1</a:t>
                      </a:r>
                      <a:endParaRPr lang="en-US" altLang="en-GB"/>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r>
                        <a:rPr lang="en-US" altLang="en-GB"/>
                        <a:t>0</a:t>
                      </a:r>
                      <a:endParaRPr lang="en-US" altLang="en-GB"/>
                    </a:p>
                  </a:txBody>
                  <a:tcPr/>
                </a:tc>
              </a:tr>
              <a:tr h="381000">
                <a:tc>
                  <a:txBody>
                    <a:bodyPr/>
                    <a:p>
                      <a:pPr>
                        <a:buNone/>
                      </a:pPr>
                      <a:endParaRPr lang="en-GB" altLang="en-US"/>
                    </a:p>
                  </a:txBody>
                  <a:tcPr/>
                </a:tc>
                <a:tc>
                  <a:txBody>
                    <a:bodyPr/>
                    <a:p>
                      <a:pPr>
                        <a:buNone/>
                      </a:pPr>
                      <a:endParaRPr lang="en-GB" altLang="en-US"/>
                    </a:p>
                  </a:txBody>
                  <a:tcPr/>
                </a:tc>
                <a:tc>
                  <a:txBody>
                    <a:bodyPr/>
                    <a:p>
                      <a:pPr>
                        <a:buNone/>
                      </a:pPr>
                      <a:r>
                        <a:rPr lang="en-US" altLang="en-GB"/>
                        <a:t>1</a:t>
                      </a:r>
                      <a:endParaRPr lang="en-US" altLang="en-GB"/>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r>
                        <a:rPr lang="en-US" altLang="en-GB"/>
                        <a:t>1</a:t>
                      </a:r>
                      <a:endParaRPr lang="en-US" altLang="en-GB"/>
                    </a:p>
                  </a:txBody>
                  <a:tcPr/>
                </a:tc>
                <a:tc>
                  <a:txBody>
                    <a:bodyPr/>
                    <a:p>
                      <a:pPr>
                        <a:buNone/>
                      </a:pPr>
                      <a:endParaRPr lang="en-GB" altLang="en-US"/>
                    </a:p>
                  </a:txBody>
                  <a:tcPr/>
                </a:tc>
                <a:tc>
                  <a:txBody>
                    <a:bodyPr/>
                    <a:p>
                      <a:pPr>
                        <a:buNone/>
                      </a:pPr>
                      <a:r>
                        <a:rPr lang="en-US" altLang="en-GB"/>
                        <a:t>1</a:t>
                      </a:r>
                      <a:endParaRPr lang="en-US" altLang="en-GB"/>
                    </a:p>
                  </a:txBody>
                  <a:tcPr/>
                </a:tc>
              </a:tr>
              <a:tr h="381000">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US" altLang="en-GB">
                        <a:highlight>
                          <a:srgbClr val="FFFF00"/>
                        </a:highlight>
                      </a:endParaRPr>
                    </a:p>
                  </a:txBody>
                  <a:tcPr/>
                </a:tc>
              </a:tr>
              <a:tr h="381000">
                <a:tc>
                  <a:txBody>
                    <a:bodyPr/>
                    <a:p>
                      <a:pPr>
                        <a:buNone/>
                      </a:pPr>
                      <a:endParaRPr lang="en-GB" altLang="en-US"/>
                    </a:p>
                  </a:txBody>
                  <a:tcPr/>
                </a:tc>
                <a:tc>
                  <a:txBody>
                    <a:bodyPr/>
                    <a:p>
                      <a:pPr>
                        <a:buNone/>
                      </a:pPr>
                      <a:endParaRPr lang="en-GB" altLang="en-US"/>
                    </a:p>
                  </a:txBody>
                  <a:tcPr/>
                </a:tc>
                <a:tc>
                  <a:txBody>
                    <a:bodyPr/>
                    <a:p>
                      <a:pPr>
                        <a:buNone/>
                      </a:pPr>
                      <a:r>
                        <a:rPr lang="en-US" altLang="en-GB"/>
                        <a:t>1101</a:t>
                      </a:r>
                      <a:endParaRPr lang="en-US" altLang="en-GB"/>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r>
                        <a:rPr lang="en-US" altLang="en-GB" sz="1800">
                          <a:sym typeface="+mn-ea"/>
                        </a:rPr>
                        <a:t>1101</a:t>
                      </a:r>
                      <a:endParaRPr lang="en-US" altLang="en-GB" sz="1800"/>
                    </a:p>
                    <a:p>
                      <a:pPr>
                        <a:buNone/>
                      </a:pPr>
                      <a:endParaRPr lang="en-GB" altLang="en-US"/>
                    </a:p>
                  </a:txBody>
                  <a:tcPr/>
                </a:tc>
              </a:tr>
              <a:tr h="381000">
                <a:tc>
                  <a:txBody>
                    <a:bodyPr/>
                    <a:p>
                      <a:pPr>
                        <a:buNone/>
                      </a:pPr>
                      <a:endParaRPr lang="en-GB" altLang="en-US"/>
                    </a:p>
                  </a:txBody>
                  <a:tcPr/>
                </a:tc>
                <a:tc>
                  <a:txBody>
                    <a:bodyPr/>
                    <a:p>
                      <a:pPr>
                        <a:buNone/>
                      </a:pPr>
                      <a:endParaRPr lang="en-GB" altLang="en-US"/>
                    </a:p>
                  </a:txBody>
                  <a:tcPr/>
                </a:tc>
                <a:tc>
                  <a:txBody>
                    <a:bodyPr/>
                    <a:p>
                      <a:pPr>
                        <a:buNone/>
                      </a:pPr>
                      <a:endParaRPr lang="en-US" altLang="en-GB"/>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r>
              <a:tr h="381000">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r>
              <a:tr h="381000">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r>
            </a:tbl>
          </a:graphicData>
        </a:graphic>
      </p:graphicFrame>
      <p:cxnSp>
        <p:nvCxnSpPr>
          <p:cNvPr id="51" name="Straight Arrow Connector 50"/>
          <p:cNvCxnSpPr/>
          <p:nvPr/>
        </p:nvCxnSpPr>
        <p:spPr>
          <a:xfrm flipH="1" flipV="1">
            <a:off x="3984625" y="2042160"/>
            <a:ext cx="20320" cy="1270000"/>
          </a:xfrm>
          <a:prstGeom prst="straightConnector1">
            <a:avLst/>
          </a:prstGeom>
          <a:ln>
            <a:solidFill>
              <a:srgbClr val="002060"/>
            </a:solidFill>
            <a:tailEnd type="arrow"/>
          </a:ln>
        </p:spPr>
        <p:style>
          <a:lnRef idx="2">
            <a:schemeClr val="accent1"/>
          </a:lnRef>
          <a:fillRef idx="0">
            <a:srgbClr val="FFFFFF"/>
          </a:fillRef>
          <a:effectRef idx="0">
            <a:srgbClr val="FFFFFF"/>
          </a:effectRef>
          <a:fontRef idx="minor">
            <a:schemeClr val="tx1"/>
          </a:fontRef>
        </p:style>
      </p:cxnSp>
      <p:sp>
        <p:nvSpPr>
          <p:cNvPr id="52" name="Text Box 51"/>
          <p:cNvSpPr txBox="1"/>
          <p:nvPr/>
        </p:nvSpPr>
        <p:spPr>
          <a:xfrm>
            <a:off x="1828800" y="5415280"/>
            <a:ext cx="4064000" cy="645160"/>
          </a:xfrm>
          <a:prstGeom prst="rect">
            <a:avLst/>
          </a:prstGeom>
          <a:noFill/>
        </p:spPr>
        <p:txBody>
          <a:bodyPr wrap="square" rtlCol="0">
            <a:spAutoFit/>
          </a:bodyPr>
          <a:p>
            <a:r>
              <a:rPr lang="en-US" altLang="en-GB">
                <a:highlight>
                  <a:srgbClr val="FF00FF"/>
                </a:highlight>
                <a:sym typeface="+mn-ea"/>
              </a:rPr>
              <a:t>00001101</a:t>
            </a:r>
            <a:endParaRPr lang="en-US" altLang="en-GB">
              <a:highlight>
                <a:srgbClr val="FF00FF"/>
              </a:highlight>
            </a:endParaRPr>
          </a:p>
          <a:p>
            <a:endParaRPr lang="en-US" altLang="en-GB">
              <a:highlight>
                <a:srgbClr val="FF00FF"/>
              </a:highlight>
            </a:endParaRPr>
          </a:p>
        </p:txBody>
      </p:sp>
      <p:sp>
        <p:nvSpPr>
          <p:cNvPr id="53" name="Text Box 52"/>
          <p:cNvSpPr txBox="1"/>
          <p:nvPr/>
        </p:nvSpPr>
        <p:spPr>
          <a:xfrm>
            <a:off x="7655560" y="5415280"/>
            <a:ext cx="4064000" cy="645160"/>
          </a:xfrm>
          <a:prstGeom prst="rect">
            <a:avLst/>
          </a:prstGeom>
          <a:noFill/>
        </p:spPr>
        <p:txBody>
          <a:bodyPr wrap="square" rtlCol="0">
            <a:spAutoFit/>
          </a:bodyPr>
          <a:p>
            <a:r>
              <a:rPr lang="en-US" altLang="en-GB">
                <a:highlight>
                  <a:srgbClr val="FFFF00"/>
                </a:highlight>
                <a:sym typeface="+mn-ea"/>
              </a:rPr>
              <a:t>00001101</a:t>
            </a:r>
            <a:endParaRPr lang="en-US" altLang="en-GB">
              <a:highlight>
                <a:srgbClr val="FFFF00"/>
              </a:highlight>
            </a:endParaRPr>
          </a:p>
          <a:p>
            <a:endParaRPr lang="en-GB"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p:graphicFrame>
        <p:nvGraphicFramePr>
          <p:cNvPr id="5" name="Table 4"/>
          <p:cNvGraphicFramePr/>
          <p:nvPr/>
        </p:nvGraphicFramePr>
        <p:xfrm>
          <a:off x="1828800" y="1524000"/>
          <a:ext cx="8528050" cy="4069080"/>
        </p:xfrm>
        <a:graphic>
          <a:graphicData uri="http://schemas.openxmlformats.org/drawingml/2006/table">
            <a:tbl>
              <a:tblPr firstRow="1" bandRow="1">
                <a:tableStyleId>{5C22544A-7EE6-4342-B048-85BDC9FD1C3A}</a:tableStyleId>
              </a:tblPr>
              <a:tblGrid>
                <a:gridCol w="710671"/>
                <a:gridCol w="710671"/>
                <a:gridCol w="710671"/>
                <a:gridCol w="710670"/>
                <a:gridCol w="710671"/>
                <a:gridCol w="710671"/>
                <a:gridCol w="710671"/>
                <a:gridCol w="710671"/>
                <a:gridCol w="710670"/>
                <a:gridCol w="710672"/>
                <a:gridCol w="710670"/>
                <a:gridCol w="710671"/>
              </a:tblGrid>
              <a:tr h="381000">
                <a:tc>
                  <a:txBody>
                    <a:bodyPr/>
                    <a:p>
                      <a:pPr>
                        <a:buNone/>
                      </a:pPr>
                      <a:r>
                        <a:rPr lang="en-US" altLang="en-GB"/>
                        <a:t>2</a:t>
                      </a:r>
                      <a:endParaRPr lang="en-US" altLang="en-GB"/>
                    </a:p>
                  </a:txBody>
                  <a:tcPr/>
                </a:tc>
                <a:tc>
                  <a:txBody>
                    <a:bodyPr/>
                    <a:p>
                      <a:pPr>
                        <a:buNone/>
                      </a:pPr>
                      <a:r>
                        <a:rPr lang="en-US" altLang="en-GB"/>
                        <a:t>16</a:t>
                      </a:r>
                      <a:endParaRPr lang="en-US" altLang="en-GB"/>
                    </a:p>
                  </a:txBody>
                  <a:tcPr/>
                </a:tc>
                <a:tc>
                  <a:txBody>
                    <a:bodyPr/>
                    <a:p>
                      <a:pPr>
                        <a:buNone/>
                      </a:pPr>
                      <a:r>
                        <a:rPr lang="en-US" altLang="en-GB"/>
                        <a:t>RM</a:t>
                      </a:r>
                      <a:endParaRPr lang="en-US" altLang="en-GB"/>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r>
                        <a:rPr lang="en-US" altLang="en-GB">
                          <a:solidFill>
                            <a:srgbClr val="002060"/>
                          </a:solidFill>
                          <a:highlight>
                            <a:srgbClr val="FFFF00"/>
                          </a:highlight>
                        </a:rPr>
                        <a:t>16</a:t>
                      </a:r>
                      <a:endParaRPr lang="en-US" altLang="en-GB">
                        <a:solidFill>
                          <a:srgbClr val="002060"/>
                        </a:solidFill>
                        <a:highlight>
                          <a:srgbClr val="FFFF00"/>
                        </a:highlight>
                      </a:endParaRPr>
                    </a:p>
                  </a:txBody>
                  <a:tcPr/>
                </a:tc>
                <a:tc>
                  <a:txBody>
                    <a:bodyPr/>
                    <a:p>
                      <a:pPr>
                        <a:buNone/>
                      </a:pPr>
                      <a:r>
                        <a:rPr lang="en-US" altLang="en-GB"/>
                        <a:t>16</a:t>
                      </a:r>
                      <a:endParaRPr lang="en-US" altLang="en-GB"/>
                    </a:p>
                  </a:txBody>
                  <a:tcPr/>
                </a:tc>
                <a:tc>
                  <a:txBody>
                    <a:bodyPr/>
                    <a:p>
                      <a:pPr>
                        <a:buNone/>
                      </a:pPr>
                      <a:r>
                        <a:rPr lang="en-US" altLang="en-GB"/>
                        <a:t>8</a:t>
                      </a:r>
                      <a:endParaRPr lang="en-US" altLang="en-GB"/>
                    </a:p>
                  </a:txBody>
                  <a:tcPr/>
                </a:tc>
                <a:tc>
                  <a:txBody>
                    <a:bodyPr/>
                    <a:p>
                      <a:pPr>
                        <a:buNone/>
                      </a:pPr>
                      <a:r>
                        <a:rPr lang="en-US" altLang="en-GB"/>
                        <a:t>4</a:t>
                      </a:r>
                      <a:endParaRPr lang="en-US" altLang="en-GB"/>
                    </a:p>
                  </a:txBody>
                  <a:tcPr/>
                </a:tc>
                <a:tc>
                  <a:txBody>
                    <a:bodyPr/>
                    <a:p>
                      <a:pPr>
                        <a:buNone/>
                      </a:pPr>
                      <a:r>
                        <a:rPr lang="en-US" altLang="en-GB"/>
                        <a:t>2</a:t>
                      </a:r>
                      <a:endParaRPr lang="en-US" altLang="en-GB"/>
                    </a:p>
                  </a:txBody>
                  <a:tcPr/>
                </a:tc>
                <a:tc>
                  <a:txBody>
                    <a:bodyPr/>
                    <a:p>
                      <a:pPr>
                        <a:buNone/>
                      </a:pPr>
                      <a:r>
                        <a:rPr lang="en-US" altLang="en-GB"/>
                        <a:t>1</a:t>
                      </a:r>
                      <a:endParaRPr lang="en-US" altLang="en-GB"/>
                    </a:p>
                  </a:txBody>
                  <a:tcPr/>
                </a:tc>
                <a:tc>
                  <a:txBody>
                    <a:bodyPr/>
                    <a:p>
                      <a:pPr>
                        <a:buNone/>
                      </a:pPr>
                      <a:endParaRPr lang="en-GB" altLang="en-US"/>
                    </a:p>
                  </a:txBody>
                  <a:tcPr/>
                </a:tc>
              </a:tr>
              <a:tr h="381000">
                <a:tc>
                  <a:txBody>
                    <a:bodyPr/>
                    <a:p>
                      <a:pPr>
                        <a:buNone/>
                      </a:pPr>
                      <a:r>
                        <a:rPr lang="en-US" altLang="en-GB"/>
                        <a:t>2</a:t>
                      </a:r>
                      <a:endParaRPr lang="en-US" altLang="en-GB"/>
                    </a:p>
                  </a:txBody>
                  <a:tcPr/>
                </a:tc>
                <a:tc>
                  <a:txBody>
                    <a:bodyPr/>
                    <a:p>
                      <a:pPr>
                        <a:buNone/>
                      </a:pPr>
                      <a:r>
                        <a:rPr lang="en-US" altLang="en-GB"/>
                        <a:t>8</a:t>
                      </a:r>
                      <a:endParaRPr lang="en-US" altLang="en-GB"/>
                    </a:p>
                  </a:txBody>
                  <a:tcPr/>
                </a:tc>
                <a:tc>
                  <a:txBody>
                    <a:bodyPr/>
                    <a:p>
                      <a:pPr>
                        <a:buNone/>
                      </a:pPr>
                      <a:r>
                        <a:rPr lang="en-US" altLang="en-GB"/>
                        <a:t>0</a:t>
                      </a:r>
                      <a:endParaRPr lang="en-US" altLang="en-GB"/>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r>
                        <a:rPr lang="en-US" altLang="en-GB"/>
                        <a:t>0</a:t>
                      </a:r>
                      <a:endParaRPr lang="en-US" altLang="en-GB"/>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r>
                        <a:rPr lang="en-US" altLang="en-GB"/>
                        <a:t>1</a:t>
                      </a:r>
                      <a:endParaRPr lang="en-US" altLang="en-GB"/>
                    </a:p>
                  </a:txBody>
                  <a:tcPr/>
                </a:tc>
              </a:tr>
              <a:tr h="381000">
                <a:tc>
                  <a:txBody>
                    <a:bodyPr/>
                    <a:p>
                      <a:pPr>
                        <a:buNone/>
                      </a:pPr>
                      <a:r>
                        <a:rPr lang="en-US" altLang="en-GB"/>
                        <a:t>2</a:t>
                      </a:r>
                      <a:endParaRPr lang="en-US" altLang="en-GB"/>
                    </a:p>
                  </a:txBody>
                  <a:tcPr/>
                </a:tc>
                <a:tc>
                  <a:txBody>
                    <a:bodyPr/>
                    <a:p>
                      <a:pPr>
                        <a:buNone/>
                      </a:pPr>
                      <a:r>
                        <a:rPr lang="en-US" altLang="en-GB"/>
                        <a:t>4</a:t>
                      </a:r>
                      <a:endParaRPr lang="en-US" altLang="en-GB"/>
                    </a:p>
                  </a:txBody>
                  <a:tcPr/>
                </a:tc>
                <a:tc>
                  <a:txBody>
                    <a:bodyPr/>
                    <a:p>
                      <a:pPr>
                        <a:buNone/>
                      </a:pPr>
                      <a:r>
                        <a:rPr lang="en-US" altLang="en-GB"/>
                        <a:t>0</a:t>
                      </a:r>
                      <a:endParaRPr lang="en-US" altLang="en-GB"/>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r>
                        <a:rPr lang="en-US" altLang="en-GB"/>
                        <a:t>0</a:t>
                      </a:r>
                      <a:endParaRPr lang="en-US" altLang="en-GB"/>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r>
                        <a:rPr lang="en-US" altLang="en-GB"/>
                        <a:t>0</a:t>
                      </a:r>
                      <a:endParaRPr lang="en-US" altLang="en-GB"/>
                    </a:p>
                  </a:txBody>
                  <a:tcPr/>
                </a:tc>
              </a:tr>
              <a:tr h="381000">
                <a:tc>
                  <a:txBody>
                    <a:bodyPr/>
                    <a:p>
                      <a:pPr>
                        <a:buNone/>
                      </a:pPr>
                      <a:r>
                        <a:rPr lang="en-US" altLang="en-GB"/>
                        <a:t>2</a:t>
                      </a:r>
                      <a:endParaRPr lang="en-US" altLang="en-GB"/>
                    </a:p>
                  </a:txBody>
                  <a:tcPr/>
                </a:tc>
                <a:tc>
                  <a:txBody>
                    <a:bodyPr/>
                    <a:p>
                      <a:pPr>
                        <a:buNone/>
                      </a:pPr>
                      <a:r>
                        <a:rPr lang="en-US" altLang="en-GB"/>
                        <a:t>2</a:t>
                      </a:r>
                      <a:endParaRPr lang="en-US" altLang="en-GB"/>
                    </a:p>
                  </a:txBody>
                  <a:tcPr/>
                </a:tc>
                <a:tc>
                  <a:txBody>
                    <a:bodyPr/>
                    <a:p>
                      <a:pPr>
                        <a:buNone/>
                      </a:pPr>
                      <a:r>
                        <a:rPr lang="en-US" altLang="en-GB"/>
                        <a:t>0</a:t>
                      </a:r>
                      <a:endParaRPr lang="en-US" altLang="en-GB"/>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r>
                        <a:rPr lang="en-US" altLang="en-GB"/>
                        <a:t>0</a:t>
                      </a:r>
                      <a:endParaRPr lang="en-US" altLang="en-GB"/>
                    </a:p>
                  </a:txBody>
                  <a:tcPr/>
                </a:tc>
                <a:tc>
                  <a:txBody>
                    <a:bodyPr/>
                    <a:p>
                      <a:pPr>
                        <a:buNone/>
                      </a:pPr>
                      <a:endParaRPr lang="en-GB" altLang="en-US"/>
                    </a:p>
                  </a:txBody>
                  <a:tcPr/>
                </a:tc>
                <a:tc>
                  <a:txBody>
                    <a:bodyPr/>
                    <a:p>
                      <a:pPr>
                        <a:buNone/>
                      </a:pPr>
                      <a:endParaRPr lang="en-GB" altLang="en-US"/>
                    </a:p>
                  </a:txBody>
                  <a:tcPr/>
                </a:tc>
                <a:tc>
                  <a:txBody>
                    <a:bodyPr/>
                    <a:p>
                      <a:pPr>
                        <a:buNone/>
                      </a:pPr>
                      <a:r>
                        <a:rPr lang="en-US" altLang="en-GB"/>
                        <a:t>0</a:t>
                      </a:r>
                      <a:endParaRPr lang="en-US" altLang="en-GB"/>
                    </a:p>
                  </a:txBody>
                  <a:tcPr/>
                </a:tc>
              </a:tr>
              <a:tr h="381000">
                <a:tc>
                  <a:txBody>
                    <a:bodyPr/>
                    <a:p>
                      <a:pPr>
                        <a:buNone/>
                      </a:pPr>
                      <a:r>
                        <a:rPr lang="en-US" altLang="en-GB"/>
                        <a:t>2</a:t>
                      </a:r>
                      <a:endParaRPr lang="en-US" altLang="en-GB"/>
                    </a:p>
                  </a:txBody>
                  <a:tcPr/>
                </a:tc>
                <a:tc>
                  <a:txBody>
                    <a:bodyPr/>
                    <a:p>
                      <a:pPr>
                        <a:buNone/>
                      </a:pPr>
                      <a:r>
                        <a:rPr lang="en-US" altLang="en-GB"/>
                        <a:t>1</a:t>
                      </a:r>
                      <a:endParaRPr lang="en-US" altLang="en-GB"/>
                    </a:p>
                  </a:txBody>
                  <a:tcPr/>
                </a:tc>
                <a:tc>
                  <a:txBody>
                    <a:bodyPr/>
                    <a:p>
                      <a:pPr>
                        <a:buNone/>
                      </a:pPr>
                      <a:r>
                        <a:rPr lang="en-US" altLang="en-GB"/>
                        <a:t>0</a:t>
                      </a:r>
                      <a:endParaRPr lang="en-US" altLang="en-GB"/>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r>
                        <a:rPr lang="en-US" altLang="en-GB"/>
                        <a:t>0</a:t>
                      </a:r>
                      <a:endParaRPr lang="en-US" altLang="en-GB"/>
                    </a:p>
                  </a:txBody>
                  <a:tcPr/>
                </a:tc>
                <a:tc>
                  <a:txBody>
                    <a:bodyPr/>
                    <a:p>
                      <a:pPr>
                        <a:buNone/>
                      </a:pPr>
                      <a:endParaRPr lang="en-GB" altLang="en-US"/>
                    </a:p>
                  </a:txBody>
                  <a:tcPr/>
                </a:tc>
                <a:tc>
                  <a:txBody>
                    <a:bodyPr/>
                    <a:p>
                      <a:pPr>
                        <a:buNone/>
                      </a:pPr>
                      <a:r>
                        <a:rPr lang="en-US" altLang="en-GB"/>
                        <a:t>0</a:t>
                      </a:r>
                      <a:endParaRPr lang="en-US" altLang="en-GB"/>
                    </a:p>
                  </a:txBody>
                  <a:tcPr/>
                </a:tc>
              </a:tr>
              <a:tr h="381000">
                <a:tc>
                  <a:txBody>
                    <a:bodyPr/>
                    <a:p>
                      <a:pPr>
                        <a:buNone/>
                      </a:pPr>
                      <a:endParaRPr lang="en-GB" altLang="en-US"/>
                    </a:p>
                  </a:txBody>
                  <a:tcPr/>
                </a:tc>
                <a:tc>
                  <a:txBody>
                    <a:bodyPr/>
                    <a:p>
                      <a:pPr>
                        <a:buNone/>
                      </a:pPr>
                      <a:endParaRPr lang="en-GB" altLang="en-US"/>
                    </a:p>
                  </a:txBody>
                  <a:tcPr/>
                </a:tc>
                <a:tc>
                  <a:txBody>
                    <a:bodyPr/>
                    <a:p>
                      <a:pPr>
                        <a:buNone/>
                      </a:pPr>
                      <a:r>
                        <a:rPr lang="en-US" altLang="en-GB"/>
                        <a:t>1</a:t>
                      </a:r>
                      <a:endParaRPr lang="en-US" altLang="en-GB"/>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r>
                        <a:rPr lang="en-US" altLang="en-GB"/>
                        <a:t>0</a:t>
                      </a:r>
                      <a:endParaRPr lang="en-US" altLang="en-GB"/>
                    </a:p>
                  </a:txBody>
                  <a:tcPr/>
                </a:tc>
                <a:tc>
                  <a:txBody>
                    <a:bodyPr/>
                    <a:p>
                      <a:pPr>
                        <a:buNone/>
                      </a:pPr>
                      <a:r>
                        <a:rPr lang="en-US" altLang="en-GB"/>
                        <a:t>0</a:t>
                      </a:r>
                      <a:endParaRPr lang="en-US" altLang="en-GB"/>
                    </a:p>
                  </a:txBody>
                  <a:tcPr/>
                </a:tc>
              </a:tr>
              <a:tr h="381000">
                <a:tc>
                  <a:txBody>
                    <a:bodyPr/>
                    <a:p>
                      <a:pPr>
                        <a:buNone/>
                      </a:pPr>
                      <a:endParaRPr lang="en-GB" altLang="en-US"/>
                    </a:p>
                  </a:txBody>
                  <a:tcPr/>
                </a:tc>
                <a:tc>
                  <a:txBody>
                    <a:bodyPr/>
                    <a:p>
                      <a:pPr>
                        <a:buNone/>
                      </a:pPr>
                      <a:endParaRPr lang="en-GB" altLang="en-US"/>
                    </a:p>
                  </a:txBody>
                  <a:tcPr/>
                </a:tc>
                <a:tc>
                  <a:txBody>
                    <a:bodyPr/>
                    <a:p>
                      <a:pPr>
                        <a:buNone/>
                      </a:pPr>
                      <a:r>
                        <a:rPr lang="en-US" altLang="en-GB">
                          <a:highlight>
                            <a:srgbClr val="FFFF00"/>
                          </a:highlight>
                        </a:rPr>
                        <a:t>10000</a:t>
                      </a:r>
                      <a:endParaRPr lang="en-US" altLang="en-GB">
                        <a:highlight>
                          <a:srgbClr val="FFFF00"/>
                        </a:highlight>
                      </a:endParaRPr>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r>
                        <a:rPr lang="en-US" altLang="en-GB"/>
                        <a:t>10000</a:t>
                      </a:r>
                      <a:endParaRPr lang="en-US" altLang="en-GB"/>
                    </a:p>
                  </a:txBody>
                  <a:tcPr/>
                </a:tc>
              </a:tr>
              <a:tr h="381000">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r>
              <a:tr h="381000">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r>
              <a:tr h="381000">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r>
            </a:tbl>
          </a:graphicData>
        </a:graphic>
      </p:graphicFrame>
      <p:cxnSp>
        <p:nvCxnSpPr>
          <p:cNvPr id="6" name="Straight Arrow Connector 5"/>
          <p:cNvCxnSpPr/>
          <p:nvPr/>
        </p:nvCxnSpPr>
        <p:spPr>
          <a:xfrm flipV="1">
            <a:off x="3977640" y="2042160"/>
            <a:ext cx="10160" cy="16103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 name="Text Box 6"/>
          <p:cNvSpPr txBox="1"/>
          <p:nvPr/>
        </p:nvSpPr>
        <p:spPr>
          <a:xfrm>
            <a:off x="1950720" y="878840"/>
            <a:ext cx="4064000" cy="645160"/>
          </a:xfrm>
          <a:prstGeom prst="rect">
            <a:avLst/>
          </a:prstGeom>
          <a:noFill/>
        </p:spPr>
        <p:txBody>
          <a:bodyPr wrap="square" rtlCol="0">
            <a:spAutoFit/>
          </a:bodyPr>
          <a:p>
            <a:r>
              <a:rPr lang="en-US" altLang="en-GB">
                <a:solidFill>
                  <a:srgbClr val="FFFF00"/>
                </a:solidFill>
                <a:sym typeface="+mn-ea"/>
              </a:rPr>
              <a:t>DIVISION METHOD</a:t>
            </a:r>
            <a:endParaRPr lang="en-US" altLang="en-GB">
              <a:solidFill>
                <a:srgbClr val="FFFF00"/>
              </a:solidFill>
            </a:endParaRPr>
          </a:p>
          <a:p>
            <a:endParaRPr lang="en-GB" altLang="en-US"/>
          </a:p>
        </p:txBody>
      </p:sp>
      <p:sp>
        <p:nvSpPr>
          <p:cNvPr id="24" name="Text Box 23"/>
          <p:cNvSpPr txBox="1"/>
          <p:nvPr/>
        </p:nvSpPr>
        <p:spPr>
          <a:xfrm>
            <a:off x="6761480" y="1017270"/>
            <a:ext cx="2722880" cy="368300"/>
          </a:xfrm>
          <a:prstGeom prst="rect">
            <a:avLst/>
          </a:prstGeom>
          <a:noFill/>
        </p:spPr>
        <p:txBody>
          <a:bodyPr wrap="square" rtlCol="0">
            <a:spAutoFit/>
          </a:bodyPr>
          <a:p>
            <a:r>
              <a:rPr lang="en-US" altLang="en-GB">
                <a:solidFill>
                  <a:srgbClr val="FFFF00"/>
                </a:solidFill>
              </a:rPr>
              <a:t>SUBTRACTION METHOD</a:t>
            </a:r>
            <a:endParaRPr lang="en-US" altLang="en-GB">
              <a:solidFill>
                <a:srgbClr val="FFFF00"/>
              </a:solidFill>
            </a:endParaRPr>
          </a:p>
        </p:txBody>
      </p:sp>
      <p:sp>
        <p:nvSpPr>
          <p:cNvPr id="9" name="Text Box 8"/>
          <p:cNvSpPr txBox="1"/>
          <p:nvPr/>
        </p:nvSpPr>
        <p:spPr>
          <a:xfrm>
            <a:off x="1986280" y="5902960"/>
            <a:ext cx="4064000" cy="645160"/>
          </a:xfrm>
          <a:prstGeom prst="rect">
            <a:avLst/>
          </a:prstGeom>
          <a:noFill/>
        </p:spPr>
        <p:txBody>
          <a:bodyPr wrap="square" rtlCol="0">
            <a:spAutoFit/>
          </a:bodyPr>
          <a:p>
            <a:r>
              <a:rPr lang="en-US" altLang="en-GB">
                <a:highlight>
                  <a:srgbClr val="FFFF00"/>
                </a:highlight>
                <a:sym typeface="+mn-ea"/>
              </a:rPr>
              <a:t>00010000</a:t>
            </a:r>
            <a:endParaRPr lang="en-US" altLang="en-GB">
              <a:highlight>
                <a:srgbClr val="FFFF00"/>
              </a:highlight>
            </a:endParaRPr>
          </a:p>
          <a:p>
            <a:endParaRPr lang="en-GB" altLang="en-US"/>
          </a:p>
        </p:txBody>
      </p:sp>
      <p:sp>
        <p:nvSpPr>
          <p:cNvPr id="10" name="Text Box 9"/>
          <p:cNvSpPr txBox="1"/>
          <p:nvPr/>
        </p:nvSpPr>
        <p:spPr>
          <a:xfrm>
            <a:off x="7767320" y="5731510"/>
            <a:ext cx="4064000" cy="645160"/>
          </a:xfrm>
          <a:prstGeom prst="rect">
            <a:avLst/>
          </a:prstGeom>
          <a:noFill/>
        </p:spPr>
        <p:txBody>
          <a:bodyPr wrap="square" rtlCol="0">
            <a:spAutoFit/>
          </a:bodyPr>
          <a:p>
            <a:r>
              <a:rPr lang="en-US" altLang="en-GB">
                <a:sym typeface="+mn-ea"/>
              </a:rPr>
              <a:t>00010000</a:t>
            </a:r>
            <a:endParaRPr lang="en-US" altLang="en-GB"/>
          </a:p>
          <a:p>
            <a:endParaRPr lang="en-GB" altLang="en-US"/>
          </a:p>
        </p:txBody>
      </p:sp>
      <p:sp>
        <p:nvSpPr>
          <p:cNvPr id="11" name="Text Box 10"/>
          <p:cNvSpPr txBox="1"/>
          <p:nvPr/>
        </p:nvSpPr>
        <p:spPr>
          <a:xfrm>
            <a:off x="240030" y="233680"/>
            <a:ext cx="11704955" cy="645160"/>
          </a:xfrm>
          <a:prstGeom prst="rect">
            <a:avLst/>
          </a:prstGeom>
          <a:noFill/>
        </p:spPr>
        <p:txBody>
          <a:bodyPr wrap="square" rtlCol="0">
            <a:spAutoFit/>
          </a:bodyPr>
          <a:p>
            <a:r>
              <a:rPr lang="en-US" altLang="zh-CN">
                <a:solidFill>
                  <a:schemeClr val="bg1"/>
                </a:solidFill>
                <a:sym typeface="+mn-ea"/>
              </a:rPr>
              <a:t>Let's convert 16 to binary. write your answer also in 8 - byte</a:t>
            </a:r>
            <a:endParaRPr lang="en-US" altLang="zh-CN">
              <a:solidFill>
                <a:schemeClr val="bg1"/>
              </a:solidFill>
            </a:endParaRPr>
          </a:p>
          <a:p>
            <a:endParaRPr lang="en-GB"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p:sp>
        <p:nvSpPr>
          <p:cNvPr id="2" name="Text Box 1"/>
          <p:cNvSpPr txBox="1"/>
          <p:nvPr/>
        </p:nvSpPr>
        <p:spPr>
          <a:xfrm>
            <a:off x="121920" y="243840"/>
            <a:ext cx="12070080" cy="1198880"/>
          </a:xfrm>
          <a:prstGeom prst="rect">
            <a:avLst/>
          </a:prstGeom>
          <a:noFill/>
        </p:spPr>
        <p:txBody>
          <a:bodyPr wrap="square" rtlCol="0">
            <a:spAutoFit/>
          </a:bodyPr>
          <a:p>
            <a:r>
              <a:rPr lang="en-US" altLang="en-GB">
                <a:solidFill>
                  <a:srgbClr val="FFFF00"/>
                </a:solidFill>
              </a:rPr>
              <a:t>BINARY FRACTIONS (DECIMAL POINTS)</a:t>
            </a:r>
            <a:endParaRPr lang="en-US" altLang="en-GB">
              <a:solidFill>
                <a:srgbClr val="FFFF00"/>
              </a:solidFill>
            </a:endParaRPr>
          </a:p>
          <a:p>
            <a:endParaRPr lang="en-US" altLang="en-GB">
              <a:solidFill>
                <a:schemeClr val="bg1"/>
              </a:solidFill>
            </a:endParaRPr>
          </a:p>
          <a:p>
            <a:r>
              <a:rPr lang="en-US" altLang="en-GB">
                <a:solidFill>
                  <a:schemeClr val="bg1"/>
                </a:solidFill>
              </a:rPr>
              <a:t>Just like whole numbers, fraaction numbers use positional place values. When we move the right of the radix point(the decimal point). the column values </a:t>
            </a:r>
            <a:r>
              <a:rPr lang="en-US" altLang="en-GB" b="1" u="sng">
                <a:solidFill>
                  <a:srgbClr val="FFFF00"/>
                </a:solidFill>
              </a:rPr>
              <a:t>cut in half </a:t>
            </a:r>
            <a:r>
              <a:rPr lang="en-US" altLang="en-GB">
                <a:solidFill>
                  <a:schemeClr val="bg1"/>
                </a:solidFill>
              </a:rPr>
              <a:t>instead of doubling.</a:t>
            </a:r>
            <a:endParaRPr lang="en-US" altLang="en-GB">
              <a:solidFill>
                <a:schemeClr val="bg1"/>
              </a:solidFill>
            </a:endParaRPr>
          </a:p>
        </p:txBody>
      </p:sp>
      <p:sp>
        <p:nvSpPr>
          <p:cNvPr id="3" name="Text Box 2"/>
          <p:cNvSpPr txBox="1"/>
          <p:nvPr/>
        </p:nvSpPr>
        <p:spPr>
          <a:xfrm>
            <a:off x="121920" y="2275840"/>
            <a:ext cx="11267440" cy="2861310"/>
          </a:xfrm>
          <a:prstGeom prst="rect">
            <a:avLst/>
          </a:prstGeom>
          <a:noFill/>
        </p:spPr>
        <p:txBody>
          <a:bodyPr wrap="square" rtlCol="0">
            <a:spAutoFit/>
          </a:bodyPr>
          <a:p>
            <a:r>
              <a:rPr lang="en-US" altLang="en-GB" b="1">
                <a:solidFill>
                  <a:srgbClr val="FFFF00"/>
                </a:solidFill>
              </a:rPr>
              <a:t>The Fractional Place Value Table</a:t>
            </a:r>
            <a:endParaRPr lang="en-US" altLang="en-GB" b="1">
              <a:solidFill>
                <a:srgbClr val="FFFF00"/>
              </a:solidFill>
            </a:endParaRPr>
          </a:p>
          <a:p>
            <a:endParaRPr lang="en-US" altLang="en-GB">
              <a:solidFill>
                <a:schemeClr val="bg1"/>
              </a:solidFill>
            </a:endParaRPr>
          </a:p>
          <a:p>
            <a:r>
              <a:rPr lang="en-US" altLang="en-GB">
                <a:solidFill>
                  <a:srgbClr val="FFFF00"/>
                </a:solidFill>
              </a:rPr>
              <a:t>Power     </a:t>
            </a:r>
            <a:r>
              <a:rPr lang="en-US" altLang="en-GB">
                <a:solidFill>
                  <a:schemeClr val="bg1"/>
                </a:solidFill>
              </a:rPr>
              <a:t>                                </a:t>
            </a:r>
            <a:r>
              <a:rPr lang="en-US" altLang="en-GB">
                <a:solidFill>
                  <a:srgbClr val="FFFF00"/>
                </a:solidFill>
              </a:rPr>
              <a:t>| </a:t>
            </a:r>
            <a:r>
              <a:rPr lang="en-US" altLang="en-GB">
                <a:solidFill>
                  <a:schemeClr val="bg1"/>
                </a:solidFill>
              </a:rPr>
              <a:t>2^3 </a:t>
            </a:r>
            <a:r>
              <a:rPr lang="en-US" altLang="en-GB">
                <a:solidFill>
                  <a:srgbClr val="FFFF00"/>
                </a:solidFill>
              </a:rPr>
              <a:t>|</a:t>
            </a:r>
            <a:r>
              <a:rPr lang="en-US" altLang="en-GB">
                <a:solidFill>
                  <a:schemeClr val="bg1"/>
                </a:solidFill>
              </a:rPr>
              <a:t> 2^2 </a:t>
            </a:r>
            <a:r>
              <a:rPr lang="en-US" altLang="en-GB">
                <a:solidFill>
                  <a:srgbClr val="FFFF00"/>
                </a:solidFill>
              </a:rPr>
              <a:t>|</a:t>
            </a:r>
            <a:r>
              <a:rPr lang="en-US" altLang="en-GB">
                <a:solidFill>
                  <a:schemeClr val="bg1"/>
                </a:solidFill>
              </a:rPr>
              <a:t> 2^1 </a:t>
            </a:r>
            <a:r>
              <a:rPr lang="en-US" altLang="en-GB">
                <a:solidFill>
                  <a:srgbClr val="FFFF00"/>
                </a:solidFill>
              </a:rPr>
              <a:t>|</a:t>
            </a:r>
            <a:r>
              <a:rPr lang="en-US" altLang="en-GB">
                <a:solidFill>
                  <a:schemeClr val="bg1"/>
                </a:solidFill>
              </a:rPr>
              <a:t> 2^0 </a:t>
            </a:r>
            <a:r>
              <a:rPr lang="en-US" altLang="en-GB">
                <a:solidFill>
                  <a:srgbClr val="FFFF00"/>
                </a:solidFill>
              </a:rPr>
              <a:t>|</a:t>
            </a:r>
            <a:r>
              <a:rPr lang="en-US" altLang="en-GB">
                <a:solidFill>
                  <a:schemeClr val="bg1"/>
                </a:solidFill>
              </a:rPr>
              <a:t> </a:t>
            </a:r>
            <a:r>
              <a:rPr lang="en-US" altLang="en-GB" sz="2400" b="1">
                <a:solidFill>
                  <a:srgbClr val="FFFF00"/>
                </a:solidFill>
              </a:rPr>
              <a:t>.</a:t>
            </a:r>
            <a:r>
              <a:rPr lang="en-US" altLang="en-GB">
                <a:solidFill>
                  <a:srgbClr val="FFFF00"/>
                </a:solidFill>
              </a:rPr>
              <a:t>|</a:t>
            </a:r>
            <a:r>
              <a:rPr lang="en-US" altLang="en-GB">
                <a:solidFill>
                  <a:schemeClr val="bg1"/>
                </a:solidFill>
              </a:rPr>
              <a:t> 2^{-1} </a:t>
            </a:r>
            <a:r>
              <a:rPr lang="en-US" altLang="en-GB">
                <a:solidFill>
                  <a:srgbClr val="FFFF00"/>
                </a:solidFill>
              </a:rPr>
              <a:t>| </a:t>
            </a:r>
            <a:r>
              <a:rPr lang="en-US" altLang="en-GB">
                <a:solidFill>
                  <a:schemeClr val="bg1"/>
                </a:solidFill>
              </a:rPr>
              <a:t>2^{-2} </a:t>
            </a:r>
            <a:r>
              <a:rPr lang="en-US" altLang="en-GB">
                <a:solidFill>
                  <a:srgbClr val="FFFF00"/>
                </a:solidFill>
              </a:rPr>
              <a:t>|</a:t>
            </a:r>
            <a:r>
              <a:rPr lang="en-US" altLang="en-GB">
                <a:solidFill>
                  <a:schemeClr val="bg1"/>
                </a:solidFill>
              </a:rPr>
              <a:t> 2^{-3} </a:t>
            </a:r>
            <a:r>
              <a:rPr lang="en-US" altLang="en-GB">
                <a:solidFill>
                  <a:srgbClr val="FFFF00"/>
                </a:solidFill>
              </a:rPr>
              <a:t>|</a:t>
            </a:r>
            <a:r>
              <a:rPr lang="en-US" altLang="en-GB">
                <a:solidFill>
                  <a:schemeClr val="bg1"/>
                </a:solidFill>
              </a:rPr>
              <a:t> 2^{-4} </a:t>
            </a:r>
            <a:r>
              <a:rPr lang="en-US" altLang="en-GB">
                <a:solidFill>
                  <a:srgbClr val="FFFF00"/>
                </a:solidFill>
              </a:rPr>
              <a:t>|</a:t>
            </a:r>
            <a:endParaRPr lang="en-US" altLang="en-GB">
              <a:solidFill>
                <a:schemeClr val="bg1"/>
              </a:solidFill>
            </a:endParaRPr>
          </a:p>
          <a:p>
            <a:endParaRPr lang="en-US" altLang="en-GB">
              <a:solidFill>
                <a:schemeClr val="bg1"/>
              </a:solidFill>
            </a:endParaRPr>
          </a:p>
          <a:p>
            <a:endParaRPr lang="en-US" altLang="en-GB">
              <a:solidFill>
                <a:schemeClr val="bg1"/>
              </a:solidFill>
            </a:endParaRPr>
          </a:p>
          <a:p>
            <a:r>
              <a:rPr lang="en-US" altLang="en-GB">
                <a:solidFill>
                  <a:srgbClr val="FFFF00"/>
                </a:solidFill>
              </a:rPr>
              <a:t>Decimal Value   </a:t>
            </a:r>
            <a:r>
              <a:rPr lang="en-US" altLang="en-GB">
                <a:solidFill>
                  <a:schemeClr val="bg1"/>
                </a:solidFill>
              </a:rPr>
              <a:t>                    </a:t>
            </a:r>
            <a:r>
              <a:rPr lang="en-US" altLang="en-GB">
                <a:solidFill>
                  <a:srgbClr val="FFFF00"/>
                </a:solidFill>
              </a:rPr>
              <a:t>|</a:t>
            </a:r>
            <a:r>
              <a:rPr lang="en-US" altLang="en-GB">
                <a:solidFill>
                  <a:schemeClr val="bg1"/>
                </a:solidFill>
              </a:rPr>
              <a:t> 8 </a:t>
            </a:r>
            <a:r>
              <a:rPr lang="en-US" altLang="en-GB">
                <a:solidFill>
                  <a:srgbClr val="FFFF00"/>
                </a:solidFill>
              </a:rPr>
              <a:t>|</a:t>
            </a:r>
            <a:r>
              <a:rPr lang="en-US" altLang="en-GB">
                <a:solidFill>
                  <a:schemeClr val="bg1"/>
                </a:solidFill>
              </a:rPr>
              <a:t> 4 </a:t>
            </a:r>
            <a:r>
              <a:rPr lang="en-US" altLang="en-GB">
                <a:solidFill>
                  <a:srgbClr val="FFFF00"/>
                </a:solidFill>
              </a:rPr>
              <a:t>|</a:t>
            </a:r>
            <a:r>
              <a:rPr lang="en-US" altLang="en-GB">
                <a:solidFill>
                  <a:schemeClr val="bg1"/>
                </a:solidFill>
              </a:rPr>
              <a:t> 2 </a:t>
            </a:r>
            <a:r>
              <a:rPr lang="en-US" altLang="en-GB">
                <a:solidFill>
                  <a:srgbClr val="FFFF00"/>
                </a:solidFill>
              </a:rPr>
              <a:t>|</a:t>
            </a:r>
            <a:r>
              <a:rPr lang="en-US" altLang="en-GB">
                <a:solidFill>
                  <a:schemeClr val="bg1"/>
                </a:solidFill>
              </a:rPr>
              <a:t> 1 </a:t>
            </a:r>
            <a:r>
              <a:rPr lang="en-US" altLang="en-GB">
                <a:solidFill>
                  <a:srgbClr val="FFFF00"/>
                </a:solidFill>
              </a:rPr>
              <a:t>|</a:t>
            </a:r>
            <a:r>
              <a:rPr lang="en-US" altLang="en-GB">
                <a:solidFill>
                  <a:schemeClr val="bg1"/>
                </a:solidFill>
              </a:rPr>
              <a:t> </a:t>
            </a:r>
            <a:r>
              <a:rPr lang="en-US" altLang="en-GB" sz="2400" b="1">
                <a:solidFill>
                  <a:schemeClr val="tx1"/>
                </a:solidFill>
              </a:rPr>
              <a:t>.</a:t>
            </a:r>
            <a:r>
              <a:rPr lang="en-US" altLang="en-GB">
                <a:solidFill>
                  <a:srgbClr val="FFFF00"/>
                </a:solidFill>
              </a:rPr>
              <a:t>|</a:t>
            </a:r>
            <a:r>
              <a:rPr lang="en-US" altLang="en-GB">
                <a:solidFill>
                  <a:schemeClr val="bg1"/>
                </a:solidFill>
              </a:rPr>
              <a:t> 0.5 </a:t>
            </a:r>
            <a:r>
              <a:rPr lang="en-US" altLang="en-GB">
                <a:solidFill>
                  <a:srgbClr val="FFFF00"/>
                </a:solidFill>
              </a:rPr>
              <a:t>|</a:t>
            </a:r>
            <a:r>
              <a:rPr lang="en-US" altLang="en-GB">
                <a:solidFill>
                  <a:schemeClr val="bg1"/>
                </a:solidFill>
              </a:rPr>
              <a:t>0.25 </a:t>
            </a:r>
            <a:r>
              <a:rPr lang="en-US" altLang="en-GB">
                <a:solidFill>
                  <a:srgbClr val="FFFF00"/>
                </a:solidFill>
              </a:rPr>
              <a:t>|</a:t>
            </a:r>
            <a:r>
              <a:rPr lang="en-US" altLang="en-GB">
                <a:solidFill>
                  <a:schemeClr val="bg1"/>
                </a:solidFill>
              </a:rPr>
              <a:t> 0.125 </a:t>
            </a:r>
            <a:r>
              <a:rPr lang="en-US" altLang="en-GB">
                <a:solidFill>
                  <a:srgbClr val="FFFF00"/>
                </a:solidFill>
              </a:rPr>
              <a:t>|</a:t>
            </a:r>
            <a:r>
              <a:rPr lang="en-US" altLang="en-GB">
                <a:solidFill>
                  <a:schemeClr val="bg1"/>
                </a:solidFill>
              </a:rPr>
              <a:t> 0.0625 </a:t>
            </a:r>
            <a:r>
              <a:rPr lang="en-US" altLang="en-GB">
                <a:solidFill>
                  <a:srgbClr val="FFFF00"/>
                </a:solidFill>
              </a:rPr>
              <a:t>|</a:t>
            </a:r>
            <a:endParaRPr lang="en-US" altLang="en-GB">
              <a:solidFill>
                <a:schemeClr val="bg1"/>
              </a:solidFill>
            </a:endParaRPr>
          </a:p>
          <a:p>
            <a:endParaRPr lang="en-US" altLang="en-GB">
              <a:solidFill>
                <a:schemeClr val="bg1"/>
              </a:solidFill>
            </a:endParaRPr>
          </a:p>
          <a:p>
            <a:endParaRPr lang="en-US" altLang="en-GB">
              <a:solidFill>
                <a:schemeClr val="bg1"/>
              </a:solidFill>
            </a:endParaRPr>
          </a:p>
          <a:p>
            <a:r>
              <a:rPr lang="en-US" altLang="en-GB">
                <a:solidFill>
                  <a:srgbClr val="FFFF00"/>
                </a:solidFill>
              </a:rPr>
              <a:t>Fraction   </a:t>
            </a:r>
            <a:r>
              <a:rPr lang="en-US" altLang="en-GB">
                <a:solidFill>
                  <a:schemeClr val="bg1"/>
                </a:solidFill>
              </a:rPr>
              <a:t>                              </a:t>
            </a:r>
            <a:r>
              <a:rPr lang="en-US" altLang="en-GB">
                <a:solidFill>
                  <a:srgbClr val="FFFF00"/>
                </a:solidFill>
              </a:rPr>
              <a:t> |</a:t>
            </a:r>
            <a:r>
              <a:rPr lang="en-US" altLang="en-GB" sz="2400" b="1">
                <a:solidFill>
                  <a:srgbClr val="FFFF00"/>
                </a:solidFill>
              </a:rPr>
              <a:t>. </a:t>
            </a:r>
            <a:r>
              <a:rPr lang="en-US" altLang="en-GB">
                <a:solidFill>
                  <a:srgbClr val="FFFF00"/>
                </a:solidFill>
              </a:rPr>
              <a:t>|</a:t>
            </a:r>
            <a:r>
              <a:rPr lang="en-US" altLang="en-GB">
                <a:solidFill>
                  <a:schemeClr val="bg1"/>
                </a:solidFill>
              </a:rPr>
              <a:t> 1/2 </a:t>
            </a:r>
            <a:r>
              <a:rPr lang="en-US" altLang="en-GB">
                <a:solidFill>
                  <a:srgbClr val="FFFF00"/>
                </a:solidFill>
              </a:rPr>
              <a:t> | </a:t>
            </a:r>
            <a:r>
              <a:rPr lang="en-US" altLang="en-GB">
                <a:solidFill>
                  <a:schemeClr val="bg1"/>
                </a:solidFill>
              </a:rPr>
              <a:t>1/4 </a:t>
            </a:r>
            <a:r>
              <a:rPr lang="en-US" altLang="en-GB">
                <a:solidFill>
                  <a:srgbClr val="FFFF00"/>
                </a:solidFill>
              </a:rPr>
              <a:t>|</a:t>
            </a:r>
            <a:r>
              <a:rPr lang="en-US" altLang="en-GB">
                <a:solidFill>
                  <a:schemeClr val="bg1"/>
                </a:solidFill>
              </a:rPr>
              <a:t> 1/8</a:t>
            </a:r>
            <a:r>
              <a:rPr lang="en-US" altLang="en-GB">
                <a:solidFill>
                  <a:srgbClr val="FFFF00"/>
                </a:solidFill>
              </a:rPr>
              <a:t> |</a:t>
            </a:r>
            <a:r>
              <a:rPr lang="en-US" altLang="en-GB">
                <a:solidFill>
                  <a:schemeClr val="bg1"/>
                </a:solidFill>
              </a:rPr>
              <a:t>  1/16  </a:t>
            </a:r>
            <a:r>
              <a:rPr lang="en-US" altLang="en-GB">
                <a:solidFill>
                  <a:srgbClr val="FFFF00"/>
                </a:solidFill>
              </a:rPr>
              <a:t>|</a:t>
            </a:r>
            <a:endParaRPr lang="en-US" altLang="en-GB">
              <a:solidFill>
                <a:srgbClr val="FFFF00"/>
              </a:solidFill>
            </a:endParaRPr>
          </a:p>
        </p:txBody>
      </p:sp>
      <p:sp>
        <p:nvSpPr>
          <p:cNvPr id="9" name="Text Box 8"/>
          <p:cNvSpPr txBox="1"/>
          <p:nvPr/>
        </p:nvSpPr>
        <p:spPr>
          <a:xfrm>
            <a:off x="121920" y="5557520"/>
            <a:ext cx="11348085" cy="922020"/>
          </a:xfrm>
          <a:prstGeom prst="rect">
            <a:avLst/>
          </a:prstGeom>
          <a:noFill/>
        </p:spPr>
        <p:txBody>
          <a:bodyPr wrap="square" rtlCol="0">
            <a:spAutoFit/>
          </a:bodyPr>
          <a:p>
            <a:r>
              <a:rPr lang="en-US" altLang="en-GB"/>
              <a:t> </a:t>
            </a:r>
            <a:r>
              <a:rPr lang="en-US" altLang="en-GB">
                <a:solidFill>
                  <a:schemeClr val="bg1"/>
                </a:solidFill>
              </a:rPr>
              <a:t>When presenting a combined number like 13.75,  that the radix point (decimal point) acts like a mirror anchor.</a:t>
            </a:r>
            <a:endParaRPr lang="en-US" altLang="en-GB">
              <a:solidFill>
                <a:schemeClr val="bg1"/>
              </a:solidFill>
            </a:endParaRPr>
          </a:p>
          <a:p>
            <a:r>
              <a:rPr lang="en-US" altLang="en-GB">
                <a:solidFill>
                  <a:schemeClr val="bg1"/>
                </a:solidFill>
              </a:rPr>
              <a:t> Moving Left from the point: Values double </a:t>
            </a:r>
            <a:r>
              <a:rPr lang="en-US" altLang="en-GB">
                <a:solidFill>
                  <a:srgbClr val="FFFF00"/>
                </a:solidFill>
              </a:rPr>
              <a:t>(1 to 2  to 4 to 8).</a:t>
            </a:r>
            <a:endParaRPr lang="en-US" altLang="en-GB">
              <a:solidFill>
                <a:schemeClr val="bg1"/>
              </a:solidFill>
            </a:endParaRPr>
          </a:p>
          <a:p>
            <a:r>
              <a:rPr lang="en-US" altLang="en-GB">
                <a:solidFill>
                  <a:schemeClr val="bg1"/>
                </a:solidFill>
              </a:rPr>
              <a:t> Moving Right from the point: Values cut in half (</a:t>
            </a:r>
            <a:r>
              <a:rPr lang="en-US" altLang="en-GB">
                <a:solidFill>
                  <a:srgbClr val="FFFF00"/>
                </a:solidFill>
              </a:rPr>
              <a:t>0.5  to 0.25  to 0.125  to 0.0625).</a:t>
            </a:r>
            <a:endParaRPr lang="en-US" altLang="en-GB">
              <a:solidFill>
                <a:srgbClr val="FFFF00"/>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p:sp>
        <p:nvSpPr>
          <p:cNvPr id="5" name="Text Box 4"/>
          <p:cNvSpPr txBox="1"/>
          <p:nvPr/>
        </p:nvSpPr>
        <p:spPr>
          <a:xfrm>
            <a:off x="147320" y="71120"/>
            <a:ext cx="4064000" cy="368300"/>
          </a:xfrm>
          <a:prstGeom prst="rect">
            <a:avLst/>
          </a:prstGeom>
          <a:noFill/>
        </p:spPr>
        <p:txBody>
          <a:bodyPr wrap="square" rtlCol="0">
            <a:spAutoFit/>
          </a:bodyPr>
          <a:p>
            <a:r>
              <a:rPr lang="en-US" altLang="en-GB" b="1">
                <a:solidFill>
                  <a:srgbClr val="FFFF00"/>
                </a:solidFill>
              </a:rPr>
              <a:t>FRACTIONAL SUBTRACTION METHOD</a:t>
            </a:r>
            <a:endParaRPr lang="en-US" altLang="en-GB" b="1">
              <a:solidFill>
                <a:srgbClr val="FFFF00"/>
              </a:solidFill>
            </a:endParaRPr>
          </a:p>
        </p:txBody>
      </p:sp>
      <p:sp>
        <p:nvSpPr>
          <p:cNvPr id="6" name="Text Box 5"/>
          <p:cNvSpPr txBox="1"/>
          <p:nvPr/>
        </p:nvSpPr>
        <p:spPr>
          <a:xfrm>
            <a:off x="147320" y="538480"/>
            <a:ext cx="11784965" cy="1476375"/>
          </a:xfrm>
          <a:prstGeom prst="rect">
            <a:avLst/>
          </a:prstGeom>
          <a:noFill/>
        </p:spPr>
        <p:txBody>
          <a:bodyPr wrap="square" rtlCol="0">
            <a:spAutoFit/>
          </a:bodyPr>
          <a:p>
            <a:r>
              <a:rPr lang="en-US" altLang="en-GB">
                <a:solidFill>
                  <a:schemeClr val="bg1"/>
                </a:solidFill>
              </a:rPr>
              <a:t>Best for: simple, clean decimal (like </a:t>
            </a:r>
            <a:r>
              <a:rPr lang="en-US" altLang="en-GB">
                <a:solidFill>
                  <a:srgbClr val="FFFF00"/>
                </a:solidFill>
              </a:rPr>
              <a:t>0.75, 0.625, 0.5</a:t>
            </a:r>
            <a:r>
              <a:rPr lang="en-US" altLang="en-GB">
                <a:solidFill>
                  <a:schemeClr val="bg1"/>
                </a:solidFill>
              </a:rPr>
              <a:t>)</a:t>
            </a:r>
            <a:endParaRPr lang="en-US" altLang="en-GB">
              <a:solidFill>
                <a:schemeClr val="bg1"/>
              </a:solidFill>
            </a:endParaRPr>
          </a:p>
          <a:p>
            <a:endParaRPr lang="en-US" altLang="en-GB">
              <a:solidFill>
                <a:schemeClr val="bg1"/>
              </a:solidFill>
            </a:endParaRPr>
          </a:p>
          <a:p>
            <a:r>
              <a:rPr lang="en-US" altLang="en-GB">
                <a:solidFill>
                  <a:schemeClr val="bg1"/>
                </a:solidFill>
              </a:rPr>
              <a:t>This works exactly like your whole-number subtraction rule, but you use the fractional column value</a:t>
            </a:r>
            <a:endParaRPr lang="en-US" altLang="en-GB">
              <a:solidFill>
                <a:schemeClr val="bg1"/>
              </a:solidFill>
            </a:endParaRPr>
          </a:p>
          <a:p>
            <a:endParaRPr lang="en-US" altLang="en-GB">
              <a:solidFill>
                <a:schemeClr val="bg1"/>
              </a:solidFill>
            </a:endParaRPr>
          </a:p>
          <a:p>
            <a:r>
              <a:rPr lang="en-US" altLang="en-GB" b="1">
                <a:solidFill>
                  <a:srgbClr val="FFFF00"/>
                </a:solidFill>
              </a:rPr>
              <a:t>Example 13.75</a:t>
            </a:r>
            <a:endParaRPr lang="en-US" altLang="en-GB" b="1">
              <a:solidFill>
                <a:srgbClr val="FFFF00"/>
              </a:solidFill>
            </a:endParaRPr>
          </a:p>
        </p:txBody>
      </p:sp>
      <p:graphicFrame>
        <p:nvGraphicFramePr>
          <p:cNvPr id="13" name="Table 12"/>
          <p:cNvGraphicFramePr/>
          <p:nvPr/>
        </p:nvGraphicFramePr>
        <p:xfrm>
          <a:off x="1828800" y="2667000"/>
          <a:ext cx="8533765" cy="1524000"/>
        </p:xfrm>
        <a:graphic>
          <a:graphicData uri="http://schemas.openxmlformats.org/drawingml/2006/table">
            <a:tbl>
              <a:tblPr firstRow="1" bandRow="1">
                <a:tableStyleId>{5C22544A-7EE6-4342-B048-85BDC9FD1C3A}</a:tableStyleId>
              </a:tblPr>
              <a:tblGrid>
                <a:gridCol w="852805"/>
                <a:gridCol w="852805"/>
                <a:gridCol w="852805"/>
                <a:gridCol w="852805"/>
                <a:gridCol w="852805"/>
                <a:gridCol w="852805"/>
                <a:gridCol w="852805"/>
                <a:gridCol w="852805"/>
                <a:gridCol w="852805"/>
                <a:gridCol w="852805"/>
              </a:tblGrid>
              <a:tr h="381000">
                <a:tc>
                  <a:txBody>
                    <a:bodyPr/>
                    <a:p>
                      <a:pPr>
                        <a:buNone/>
                      </a:pPr>
                      <a:r>
                        <a:rPr lang="en-US" altLang="en-GB"/>
                        <a:t>8</a:t>
                      </a:r>
                      <a:endParaRPr lang="en-US" altLang="en-GB"/>
                    </a:p>
                  </a:txBody>
                  <a:tcPr/>
                </a:tc>
                <a:tc>
                  <a:txBody>
                    <a:bodyPr/>
                    <a:p>
                      <a:pPr>
                        <a:buNone/>
                      </a:pPr>
                      <a:r>
                        <a:rPr lang="en-US" altLang="en-GB"/>
                        <a:t>4</a:t>
                      </a:r>
                      <a:endParaRPr lang="en-US" altLang="en-GB"/>
                    </a:p>
                  </a:txBody>
                  <a:tcPr/>
                </a:tc>
                <a:tc>
                  <a:txBody>
                    <a:bodyPr/>
                    <a:p>
                      <a:pPr>
                        <a:buNone/>
                      </a:pPr>
                      <a:r>
                        <a:rPr lang="en-US" altLang="en-GB"/>
                        <a:t>2</a:t>
                      </a:r>
                      <a:endParaRPr lang="en-US" altLang="en-GB"/>
                    </a:p>
                  </a:txBody>
                  <a:tcPr/>
                </a:tc>
                <a:tc>
                  <a:txBody>
                    <a:bodyPr/>
                    <a:p>
                      <a:pPr>
                        <a:buNone/>
                      </a:pPr>
                      <a:r>
                        <a:rPr lang="en-US" altLang="en-GB"/>
                        <a:t>1</a:t>
                      </a:r>
                      <a:endParaRPr lang="en-US" altLang="en-GB"/>
                    </a:p>
                  </a:txBody>
                  <a:tcPr/>
                </a:tc>
                <a:tc>
                  <a:txBody>
                    <a:bodyPr/>
                    <a:p>
                      <a:pPr>
                        <a:buNone/>
                      </a:pPr>
                      <a:endParaRPr lang="en-GB" altLang="en-US"/>
                    </a:p>
                  </a:txBody>
                  <a:tcPr>
                    <a:solidFill>
                      <a:srgbClr val="FF0000"/>
                    </a:solidFill>
                  </a:tcPr>
                </a:tc>
                <a:tc>
                  <a:txBody>
                    <a:bodyPr/>
                    <a:p>
                      <a:pPr>
                        <a:buNone/>
                      </a:pPr>
                      <a:r>
                        <a:rPr lang="en-US" altLang="en-GB"/>
                        <a:t>1/2</a:t>
                      </a:r>
                      <a:endParaRPr lang="en-US" altLang="en-GB"/>
                    </a:p>
                  </a:txBody>
                  <a:tcPr/>
                </a:tc>
                <a:tc>
                  <a:txBody>
                    <a:bodyPr/>
                    <a:p>
                      <a:pPr>
                        <a:buNone/>
                      </a:pPr>
                      <a:r>
                        <a:rPr lang="en-US" altLang="en-GB"/>
                        <a:t>1/4</a:t>
                      </a:r>
                      <a:endParaRPr lang="en-US" altLang="en-GB"/>
                    </a:p>
                  </a:txBody>
                  <a:tcPr/>
                </a:tc>
                <a:tc>
                  <a:txBody>
                    <a:bodyPr/>
                    <a:p>
                      <a:pPr>
                        <a:buNone/>
                      </a:pPr>
                      <a:r>
                        <a:rPr lang="en-US" altLang="en-GB"/>
                        <a:t>1/8</a:t>
                      </a:r>
                      <a:endParaRPr lang="en-US" altLang="en-GB"/>
                    </a:p>
                  </a:txBody>
                  <a:tcPr/>
                </a:tc>
                <a:tc>
                  <a:txBody>
                    <a:bodyPr/>
                    <a:p>
                      <a:pPr>
                        <a:buNone/>
                      </a:pPr>
                      <a:r>
                        <a:rPr lang="en-US" altLang="en-GB"/>
                        <a:t>1/16</a:t>
                      </a:r>
                      <a:endParaRPr lang="en-US" altLang="en-GB"/>
                    </a:p>
                  </a:txBody>
                  <a:tcPr/>
                </a:tc>
                <a:tc>
                  <a:txBody>
                    <a:bodyPr/>
                    <a:p>
                      <a:pPr>
                        <a:buNone/>
                      </a:pPr>
                      <a:endParaRPr lang="en-GB" altLang="en-US"/>
                    </a:p>
                  </a:txBody>
                  <a:tcPr/>
                </a:tc>
              </a:tr>
              <a:tr h="381000">
                <a:tc>
                  <a:txBody>
                    <a:bodyPr/>
                    <a:p>
                      <a:pPr>
                        <a:buNone/>
                      </a:pPr>
                      <a:endParaRPr lang="en-US" altLang="en-GB"/>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r>
              <a:tr h="381000">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r>
              <a:tr h="381000">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solidFill>
                      <a:srgbClr val="FF0000"/>
                    </a:solidFill>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r>
            </a:tbl>
          </a:graphicData>
        </a:graphic>
      </p:graphicFrame>
      <p:sp>
        <p:nvSpPr>
          <p:cNvPr id="14" name="Text Box 13"/>
          <p:cNvSpPr txBox="1"/>
          <p:nvPr/>
        </p:nvSpPr>
        <p:spPr>
          <a:xfrm>
            <a:off x="2799080" y="4490720"/>
            <a:ext cx="4064000" cy="1476375"/>
          </a:xfrm>
          <a:prstGeom prst="rect">
            <a:avLst/>
          </a:prstGeom>
          <a:noFill/>
        </p:spPr>
        <p:txBody>
          <a:bodyPr wrap="square" rtlCol="0">
            <a:spAutoFit/>
          </a:bodyPr>
          <a:p>
            <a:r>
              <a:rPr lang="en-US" altLang="en-GB">
                <a:solidFill>
                  <a:schemeClr val="bg1"/>
                </a:solidFill>
              </a:rPr>
              <a:t>0.75 - 0.5 = 0.25 KEEP 1</a:t>
            </a:r>
            <a:endParaRPr lang="en-US" altLang="en-GB">
              <a:solidFill>
                <a:schemeClr val="bg1"/>
              </a:solidFill>
            </a:endParaRPr>
          </a:p>
          <a:p>
            <a:r>
              <a:rPr lang="en-US" altLang="en-GB">
                <a:solidFill>
                  <a:schemeClr val="bg1"/>
                </a:solidFill>
              </a:rPr>
              <a:t>0.25-0.25 = 0 KEEP 1 </a:t>
            </a:r>
            <a:endParaRPr lang="en-US" altLang="en-GB">
              <a:solidFill>
                <a:schemeClr val="bg1"/>
              </a:solidFill>
            </a:endParaRPr>
          </a:p>
          <a:p>
            <a:r>
              <a:rPr lang="en-US" altLang="en-GB">
                <a:solidFill>
                  <a:schemeClr val="bg1"/>
                </a:solidFill>
              </a:rPr>
              <a:t>0 STOP</a:t>
            </a:r>
            <a:endParaRPr lang="en-US" altLang="en-GB">
              <a:solidFill>
                <a:schemeClr val="bg1"/>
              </a:solidFill>
            </a:endParaRPr>
          </a:p>
          <a:p>
            <a:endParaRPr lang="en-US" altLang="en-GB">
              <a:solidFill>
                <a:schemeClr val="bg1"/>
              </a:solidFill>
            </a:endParaRPr>
          </a:p>
          <a:p>
            <a:r>
              <a:rPr lang="en-US" altLang="en-GB">
                <a:solidFill>
                  <a:schemeClr val="bg1"/>
                </a:solidFill>
              </a:rPr>
              <a:t>.11</a:t>
            </a:r>
            <a:endParaRPr lang="en-US" altLang="en-GB">
              <a:solidFill>
                <a:schemeClr val="bg1"/>
              </a:solidFill>
            </a:endParaRPr>
          </a:p>
        </p:txBody>
      </p:sp>
      <p:sp>
        <p:nvSpPr>
          <p:cNvPr id="15" name="Text Box 14"/>
          <p:cNvSpPr txBox="1"/>
          <p:nvPr/>
        </p:nvSpPr>
        <p:spPr>
          <a:xfrm>
            <a:off x="6292850" y="4368800"/>
            <a:ext cx="4064000" cy="2032635"/>
          </a:xfrm>
          <a:prstGeom prst="rect">
            <a:avLst/>
          </a:prstGeom>
          <a:noFill/>
        </p:spPr>
        <p:txBody>
          <a:bodyPr wrap="square" rtlCol="0">
            <a:noAutofit/>
          </a:bodyPr>
          <a:p>
            <a:r>
              <a:rPr lang="en-US" altLang="en-GB">
                <a:solidFill>
                  <a:schemeClr val="bg1"/>
                </a:solidFill>
              </a:rPr>
              <a:t>13</a:t>
            </a:r>
            <a:endParaRPr lang="en-US" altLang="en-GB">
              <a:solidFill>
                <a:schemeClr val="bg1"/>
              </a:solidFill>
            </a:endParaRPr>
          </a:p>
          <a:p>
            <a:r>
              <a:rPr lang="en-US" altLang="en-GB">
                <a:solidFill>
                  <a:schemeClr val="bg1"/>
                </a:solidFill>
              </a:rPr>
              <a:t>13-8 = 5 KEEP 1</a:t>
            </a:r>
            <a:endParaRPr lang="en-US" altLang="en-GB">
              <a:solidFill>
                <a:schemeClr val="bg1"/>
              </a:solidFill>
            </a:endParaRPr>
          </a:p>
          <a:p>
            <a:r>
              <a:rPr lang="en-US" altLang="en-GB">
                <a:solidFill>
                  <a:schemeClr val="bg1"/>
                </a:solidFill>
              </a:rPr>
              <a:t>5-4= 1 KEEP 1</a:t>
            </a:r>
            <a:endParaRPr lang="en-US" altLang="en-GB">
              <a:solidFill>
                <a:schemeClr val="bg1"/>
              </a:solidFill>
            </a:endParaRPr>
          </a:p>
          <a:p>
            <a:r>
              <a:rPr lang="en-US" altLang="en-GB">
                <a:solidFill>
                  <a:schemeClr val="bg1"/>
                </a:solidFill>
              </a:rPr>
              <a:t>1 KEEP 0</a:t>
            </a:r>
            <a:endParaRPr lang="en-US" altLang="en-GB">
              <a:solidFill>
                <a:schemeClr val="bg1"/>
              </a:solidFill>
            </a:endParaRPr>
          </a:p>
          <a:p>
            <a:r>
              <a:rPr lang="en-US" altLang="en-GB">
                <a:solidFill>
                  <a:schemeClr val="bg1"/>
                </a:solidFill>
              </a:rPr>
              <a:t>1-1=0 KEEP 1</a:t>
            </a:r>
            <a:endParaRPr lang="en-US" altLang="en-GB">
              <a:solidFill>
                <a:schemeClr val="bg1"/>
              </a:solidFill>
            </a:endParaRPr>
          </a:p>
          <a:p>
            <a:r>
              <a:rPr lang="en-US" altLang="en-GB">
                <a:solidFill>
                  <a:schemeClr val="bg1"/>
                </a:solidFill>
              </a:rPr>
              <a:t>0 STOP</a:t>
            </a:r>
            <a:endParaRPr lang="en-US" altLang="en-GB">
              <a:solidFill>
                <a:schemeClr val="bg1"/>
              </a:solidFill>
            </a:endParaRPr>
          </a:p>
          <a:p>
            <a:r>
              <a:rPr lang="en-US" altLang="en-GB">
                <a:solidFill>
                  <a:schemeClr val="bg1"/>
                </a:solidFill>
              </a:rPr>
              <a:t>1101</a:t>
            </a:r>
            <a:endParaRPr lang="en-US" altLang="en-GB">
              <a:solidFill>
                <a:schemeClr val="bg1"/>
              </a:solidFill>
            </a:endParaRPr>
          </a:p>
          <a:p>
            <a:endParaRPr lang="en-US" altLang="en-GB">
              <a:solidFill>
                <a:schemeClr val="bg1"/>
              </a:solidFill>
            </a:endParaRPr>
          </a:p>
        </p:txBody>
      </p:sp>
      <p:sp>
        <p:nvSpPr>
          <p:cNvPr id="16" name="Text Box 15"/>
          <p:cNvSpPr txBox="1"/>
          <p:nvPr/>
        </p:nvSpPr>
        <p:spPr>
          <a:xfrm>
            <a:off x="3357880" y="6266815"/>
            <a:ext cx="4064000" cy="368300"/>
          </a:xfrm>
          <a:prstGeom prst="rect">
            <a:avLst/>
          </a:prstGeom>
          <a:noFill/>
        </p:spPr>
        <p:txBody>
          <a:bodyPr wrap="square" rtlCol="0">
            <a:spAutoFit/>
          </a:bodyPr>
          <a:p>
            <a:r>
              <a:rPr lang="en-US" altLang="en-GB">
                <a:solidFill>
                  <a:schemeClr val="bg1"/>
                </a:solidFill>
                <a:highlight>
                  <a:srgbClr val="FF00FF"/>
                </a:highlight>
              </a:rPr>
              <a:t>1101.11</a:t>
            </a:r>
            <a:endParaRPr lang="en-US" altLang="en-GB">
              <a:solidFill>
                <a:schemeClr val="bg1"/>
              </a:solidFill>
              <a:highlight>
                <a:srgbClr val="FF00FF"/>
              </a:highlight>
            </a:endParaRPr>
          </a:p>
        </p:txBody>
      </p:sp>
      <p:sp>
        <p:nvSpPr>
          <p:cNvPr id="17" name="Text Box 16"/>
          <p:cNvSpPr txBox="1"/>
          <p:nvPr/>
        </p:nvSpPr>
        <p:spPr>
          <a:xfrm>
            <a:off x="2331720" y="2219960"/>
            <a:ext cx="4064000" cy="368300"/>
          </a:xfrm>
          <a:prstGeom prst="rect">
            <a:avLst/>
          </a:prstGeom>
          <a:noFill/>
        </p:spPr>
        <p:txBody>
          <a:bodyPr wrap="square" rtlCol="0">
            <a:spAutoFit/>
          </a:bodyPr>
          <a:p>
            <a:r>
              <a:rPr lang="en-US" altLang="en-GB"/>
              <a:t>WHOLE NUMBER</a:t>
            </a:r>
            <a:endParaRPr lang="en-US" altLang="en-GB"/>
          </a:p>
        </p:txBody>
      </p:sp>
      <p:sp>
        <p:nvSpPr>
          <p:cNvPr id="18" name="Text Box 17"/>
          <p:cNvSpPr txBox="1"/>
          <p:nvPr/>
        </p:nvSpPr>
        <p:spPr>
          <a:xfrm>
            <a:off x="6548120" y="2219960"/>
            <a:ext cx="4064000" cy="368300"/>
          </a:xfrm>
          <a:prstGeom prst="rect">
            <a:avLst/>
          </a:prstGeom>
          <a:noFill/>
        </p:spPr>
        <p:txBody>
          <a:bodyPr wrap="square" rtlCol="0">
            <a:spAutoFit/>
          </a:bodyPr>
          <a:p>
            <a:r>
              <a:rPr lang="en-US" altLang="en-GB"/>
              <a:t>FRACTION</a:t>
            </a:r>
            <a:endParaRPr lang="en-US" altLang="en-GB"/>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p:sp>
        <p:nvSpPr>
          <p:cNvPr id="4" name="Text Box 3"/>
          <p:cNvSpPr txBox="1"/>
          <p:nvPr/>
        </p:nvSpPr>
        <p:spPr>
          <a:xfrm>
            <a:off x="127000" y="0"/>
            <a:ext cx="11497310" cy="438785"/>
          </a:xfrm>
          <a:prstGeom prst="rect">
            <a:avLst/>
          </a:prstGeom>
          <a:noFill/>
        </p:spPr>
        <p:txBody>
          <a:bodyPr wrap="square" rtlCol="0">
            <a:noAutofit/>
          </a:bodyPr>
          <a:p>
            <a:r>
              <a:rPr lang="en-US" altLang="en-GB" b="1">
                <a:solidFill>
                  <a:srgbClr val="FFFF00"/>
                </a:solidFill>
              </a:rPr>
              <a:t>METHOD 2:</a:t>
            </a:r>
            <a:r>
              <a:rPr lang="en-US" altLang="en-GB">
                <a:solidFill>
                  <a:schemeClr val="bg1"/>
                </a:solidFill>
              </a:rPr>
              <a:t> The Continuous Multiplication Method</a:t>
            </a:r>
            <a:endParaRPr lang="en-US" altLang="en-GB">
              <a:solidFill>
                <a:schemeClr val="bg1"/>
              </a:solidFill>
            </a:endParaRPr>
          </a:p>
        </p:txBody>
      </p:sp>
      <p:sp>
        <p:nvSpPr>
          <p:cNvPr id="5" name="Text Box 4"/>
          <p:cNvSpPr txBox="1"/>
          <p:nvPr/>
        </p:nvSpPr>
        <p:spPr>
          <a:xfrm>
            <a:off x="125730" y="548005"/>
            <a:ext cx="11498580" cy="368300"/>
          </a:xfrm>
          <a:prstGeom prst="rect">
            <a:avLst/>
          </a:prstGeom>
          <a:noFill/>
        </p:spPr>
        <p:txBody>
          <a:bodyPr wrap="square" rtlCol="0">
            <a:spAutoFit/>
          </a:bodyPr>
          <a:p>
            <a:r>
              <a:rPr lang="en-US" altLang="en-GB">
                <a:solidFill>
                  <a:schemeClr val="bg1"/>
                </a:solidFill>
              </a:rPr>
              <a:t>Best for: Complex decimals (like: 0.6) or numbers that don’t easily map to fractions</a:t>
            </a:r>
            <a:endParaRPr lang="en-US" altLang="en-GB">
              <a:solidFill>
                <a:schemeClr val="bg1"/>
              </a:solidFill>
            </a:endParaRPr>
          </a:p>
        </p:txBody>
      </p:sp>
      <p:sp>
        <p:nvSpPr>
          <p:cNvPr id="6" name="Text Box 5"/>
          <p:cNvSpPr txBox="1"/>
          <p:nvPr/>
        </p:nvSpPr>
        <p:spPr>
          <a:xfrm>
            <a:off x="126365" y="1168400"/>
            <a:ext cx="11837035" cy="368300"/>
          </a:xfrm>
          <a:prstGeom prst="rect">
            <a:avLst/>
          </a:prstGeom>
          <a:noFill/>
        </p:spPr>
        <p:txBody>
          <a:bodyPr wrap="square" rtlCol="0">
            <a:spAutoFit/>
          </a:bodyPr>
          <a:p>
            <a:r>
              <a:rPr lang="en-US" altLang="en-GB">
                <a:solidFill>
                  <a:schemeClr val="bg1"/>
                </a:solidFill>
              </a:rPr>
              <a:t>Instead of dividing by 2 like we do for whole number </a:t>
            </a:r>
            <a:r>
              <a:rPr lang="en-US" altLang="en-GB">
                <a:solidFill>
                  <a:srgbClr val="FFFF00"/>
                </a:solidFill>
              </a:rPr>
              <a:t>WE MULTIPLY THE DECIMAL PART BY 2 </a:t>
            </a:r>
            <a:r>
              <a:rPr lang="en-US" altLang="en-GB">
                <a:solidFill>
                  <a:schemeClr val="bg1"/>
                </a:solidFill>
              </a:rPr>
              <a:t>Repeatedly</a:t>
            </a:r>
            <a:endParaRPr lang="en-US" altLang="en-GB">
              <a:solidFill>
                <a:schemeClr val="bg1"/>
              </a:solidFill>
            </a:endParaRPr>
          </a:p>
        </p:txBody>
      </p:sp>
      <p:sp>
        <p:nvSpPr>
          <p:cNvPr id="7" name="Text Box 6"/>
          <p:cNvSpPr txBox="1"/>
          <p:nvPr/>
        </p:nvSpPr>
        <p:spPr>
          <a:xfrm>
            <a:off x="125730" y="1625600"/>
            <a:ext cx="11837670" cy="2584450"/>
          </a:xfrm>
          <a:prstGeom prst="rect">
            <a:avLst/>
          </a:prstGeom>
          <a:noFill/>
        </p:spPr>
        <p:txBody>
          <a:bodyPr wrap="square" rtlCol="0">
            <a:spAutoFit/>
          </a:bodyPr>
          <a:p>
            <a:r>
              <a:rPr lang="en-US" altLang="en-GB" b="1">
                <a:solidFill>
                  <a:srgbClr val="FFFF00"/>
                </a:solidFill>
              </a:rPr>
              <a:t>RULE: </a:t>
            </a:r>
            <a:endParaRPr lang="en-US" altLang="en-GB" b="1">
              <a:solidFill>
                <a:srgbClr val="FFFF00"/>
              </a:solidFill>
            </a:endParaRPr>
          </a:p>
          <a:p>
            <a:endParaRPr lang="en-US" altLang="en-GB">
              <a:solidFill>
                <a:schemeClr val="bg1"/>
              </a:solidFill>
            </a:endParaRPr>
          </a:p>
          <a:p>
            <a:pPr marL="285750" indent="-285750">
              <a:buFont typeface="Wingdings" panose="05000000000000000000" charset="0"/>
              <a:buChar char="q"/>
            </a:pPr>
            <a:r>
              <a:rPr lang="en-US" altLang="en-GB">
                <a:solidFill>
                  <a:schemeClr val="bg1"/>
                </a:solidFill>
              </a:rPr>
              <a:t>If the </a:t>
            </a:r>
            <a:r>
              <a:rPr lang="en-US" altLang="en-GB">
                <a:solidFill>
                  <a:srgbClr val="FFFF00"/>
                </a:solidFill>
              </a:rPr>
              <a:t>result is greater than or equal to 1, your binary digit is 1</a:t>
            </a:r>
            <a:r>
              <a:rPr lang="en-US" altLang="en-GB">
                <a:solidFill>
                  <a:schemeClr val="bg1"/>
                </a:solidFill>
              </a:rPr>
              <a:t>. You drop the 1 from the front and keep multiplying the remaining decimal.</a:t>
            </a:r>
            <a:endParaRPr lang="en-US" altLang="en-GB">
              <a:solidFill>
                <a:schemeClr val="bg1"/>
              </a:solidFill>
            </a:endParaRPr>
          </a:p>
          <a:p>
            <a:pPr marL="285750" indent="-285750">
              <a:buFont typeface="Wingdings" panose="05000000000000000000" charset="0"/>
              <a:buChar char="q"/>
            </a:pPr>
            <a:r>
              <a:rPr lang="en-US" altLang="en-GB">
                <a:solidFill>
                  <a:schemeClr val="bg1"/>
                </a:solidFill>
              </a:rPr>
              <a:t>If the </a:t>
            </a:r>
            <a:r>
              <a:rPr lang="en-US" altLang="en-GB">
                <a:solidFill>
                  <a:srgbClr val="FFFF00"/>
                </a:solidFill>
              </a:rPr>
              <a:t>result is less than 1, your binary digit is 0</a:t>
            </a:r>
            <a:r>
              <a:rPr lang="en-US" altLang="en-GB">
                <a:solidFill>
                  <a:schemeClr val="bg1"/>
                </a:solidFill>
              </a:rPr>
              <a:t>. You keep multiplying.</a:t>
            </a:r>
            <a:endParaRPr lang="en-US" altLang="en-GB">
              <a:solidFill>
                <a:schemeClr val="bg1"/>
              </a:solidFill>
            </a:endParaRPr>
          </a:p>
          <a:p>
            <a:pPr marL="285750" indent="-285750">
              <a:buFont typeface="Wingdings" panose="05000000000000000000" charset="0"/>
              <a:buChar char="q"/>
            </a:pPr>
            <a:r>
              <a:rPr lang="en-US" altLang="en-GB">
                <a:solidFill>
                  <a:schemeClr val="bg1"/>
                </a:solidFill>
              </a:rPr>
              <a:t> Read the answer from </a:t>
            </a:r>
            <a:r>
              <a:rPr lang="en-US" altLang="en-GB" b="1">
                <a:solidFill>
                  <a:srgbClr val="FFFF00"/>
                </a:solidFill>
              </a:rPr>
              <a:t>TOP TO BOTTOM </a:t>
            </a:r>
            <a:r>
              <a:rPr lang="en-US" altLang="en-GB">
                <a:solidFill>
                  <a:schemeClr val="bg1"/>
                </a:solidFill>
              </a:rPr>
              <a:t>(the opposite of the division rule).</a:t>
            </a:r>
            <a:endParaRPr lang="en-US" altLang="en-GB">
              <a:solidFill>
                <a:schemeClr val="bg1"/>
              </a:solidFill>
            </a:endParaRPr>
          </a:p>
          <a:p>
            <a:endParaRPr lang="en-US" altLang="en-GB">
              <a:solidFill>
                <a:schemeClr val="bg1"/>
              </a:solidFill>
            </a:endParaRPr>
          </a:p>
          <a:p>
            <a:endParaRPr lang="en-US" altLang="en-GB">
              <a:solidFill>
                <a:schemeClr val="bg1"/>
              </a:solidFill>
            </a:endParaRPr>
          </a:p>
          <a:p>
            <a:r>
              <a:rPr lang="en-US" altLang="en-GB" b="1">
                <a:solidFill>
                  <a:srgbClr val="FFFF00"/>
                </a:solidFill>
              </a:rPr>
              <a:t>Example: Convert 0.625 to Binary</a:t>
            </a:r>
            <a:endParaRPr lang="en-US" altLang="en-GB" b="1">
              <a:solidFill>
                <a:srgbClr val="FFFF00"/>
              </a:solidFill>
            </a:endParaRPr>
          </a:p>
        </p:txBody>
      </p:sp>
      <p:sp>
        <p:nvSpPr>
          <p:cNvPr id="8" name="Text Box 7"/>
          <p:cNvSpPr txBox="1"/>
          <p:nvPr/>
        </p:nvSpPr>
        <p:spPr>
          <a:xfrm>
            <a:off x="2341880" y="4409440"/>
            <a:ext cx="4064000" cy="1476375"/>
          </a:xfrm>
          <a:prstGeom prst="rect">
            <a:avLst/>
          </a:prstGeom>
          <a:noFill/>
        </p:spPr>
        <p:txBody>
          <a:bodyPr wrap="square" rtlCol="0">
            <a:spAutoFit/>
          </a:bodyPr>
          <a:p>
            <a:r>
              <a:rPr lang="en-US" altLang="en-GB">
                <a:solidFill>
                  <a:schemeClr val="bg1"/>
                </a:solidFill>
              </a:rPr>
              <a:t>0.625 X 2 = 1.25  KEEP 1</a:t>
            </a:r>
            <a:endParaRPr lang="en-US" altLang="en-GB">
              <a:solidFill>
                <a:schemeClr val="bg1"/>
              </a:solidFill>
            </a:endParaRPr>
          </a:p>
          <a:p>
            <a:r>
              <a:rPr lang="en-US" altLang="en-GB">
                <a:solidFill>
                  <a:schemeClr val="bg1"/>
                </a:solidFill>
              </a:rPr>
              <a:t>0.25 X 2 =  0.5  KEEP 0</a:t>
            </a:r>
            <a:endParaRPr lang="en-US" altLang="en-GB">
              <a:solidFill>
                <a:schemeClr val="bg1"/>
              </a:solidFill>
            </a:endParaRPr>
          </a:p>
          <a:p>
            <a:r>
              <a:rPr lang="en-US" altLang="en-GB">
                <a:solidFill>
                  <a:schemeClr val="bg1"/>
                </a:solidFill>
              </a:rPr>
              <a:t>0.5 X 2 =1  KEEP 1 STOP</a:t>
            </a:r>
            <a:endParaRPr lang="en-US" altLang="en-GB">
              <a:solidFill>
                <a:schemeClr val="bg1"/>
              </a:solidFill>
            </a:endParaRPr>
          </a:p>
          <a:p>
            <a:r>
              <a:rPr lang="en-US" altLang="en-GB">
                <a:solidFill>
                  <a:schemeClr val="bg1"/>
                </a:solidFill>
              </a:rPr>
              <a:t>0.00</a:t>
            </a:r>
            <a:endParaRPr lang="en-US" altLang="en-GB">
              <a:solidFill>
                <a:schemeClr val="bg1"/>
              </a:solidFill>
            </a:endParaRPr>
          </a:p>
          <a:p>
            <a:r>
              <a:rPr lang="en-US" altLang="en-GB">
                <a:solidFill>
                  <a:schemeClr val="bg1"/>
                </a:solidFill>
              </a:rPr>
              <a:t>                                                . 101</a:t>
            </a:r>
            <a:endParaRPr lang="en-US" altLang="en-GB">
              <a:solidFill>
                <a:schemeClr val="bg1"/>
              </a:solidFill>
            </a:endParaRPr>
          </a:p>
        </p:txBody>
      </p:sp>
      <p:cxnSp>
        <p:nvCxnSpPr>
          <p:cNvPr id="10" name="Straight Arrow Connector 9"/>
          <p:cNvCxnSpPr/>
          <p:nvPr/>
        </p:nvCxnSpPr>
        <p:spPr>
          <a:xfrm>
            <a:off x="5176520" y="4409440"/>
            <a:ext cx="0" cy="1148080"/>
          </a:xfrm>
          <a:prstGeom prst="straightConnector1">
            <a:avLst/>
          </a:prstGeom>
          <a:ln>
            <a:solidFill>
              <a:srgbClr val="A42F43"/>
            </a:solidFill>
            <a:tailEnd type="arrow"/>
          </a:ln>
        </p:spPr>
        <p:style>
          <a:lnRef idx="2">
            <a:schemeClr val="accent1"/>
          </a:lnRef>
          <a:fillRef idx="0">
            <a:srgbClr val="FFFFFF"/>
          </a:fillRef>
          <a:effectRef idx="0">
            <a:srgbClr val="FFFFFF"/>
          </a:effectRef>
          <a:fontRef idx="minor">
            <a:schemeClr val="tx1"/>
          </a:fontRef>
        </p:style>
      </p:cxnSp>
      <p:sp>
        <p:nvSpPr>
          <p:cNvPr id="11" name="Text Box 10"/>
          <p:cNvSpPr txBox="1"/>
          <p:nvPr/>
        </p:nvSpPr>
        <p:spPr>
          <a:xfrm>
            <a:off x="5044440" y="6055360"/>
            <a:ext cx="4064000" cy="368300"/>
          </a:xfrm>
          <a:prstGeom prst="rect">
            <a:avLst/>
          </a:prstGeom>
          <a:noFill/>
        </p:spPr>
        <p:txBody>
          <a:bodyPr wrap="square" rtlCol="0">
            <a:spAutoFit/>
          </a:bodyPr>
          <a:p>
            <a:r>
              <a:rPr lang="en-US" altLang="en-GB">
                <a:highlight>
                  <a:srgbClr val="FF00FF"/>
                </a:highlight>
              </a:rPr>
              <a:t>16.625 = 10000.101</a:t>
            </a:r>
            <a:endParaRPr lang="en-US" altLang="en-GB">
              <a:highlight>
                <a:srgbClr val="FF00FF"/>
              </a:highligh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p:sp>
        <p:nvSpPr>
          <p:cNvPr id="5" name="Text Box 4"/>
          <p:cNvSpPr txBox="1"/>
          <p:nvPr/>
        </p:nvSpPr>
        <p:spPr>
          <a:xfrm>
            <a:off x="71120" y="60960"/>
            <a:ext cx="11535410" cy="922020"/>
          </a:xfrm>
          <a:prstGeom prst="rect">
            <a:avLst/>
          </a:prstGeom>
          <a:noFill/>
        </p:spPr>
        <p:txBody>
          <a:bodyPr wrap="square" rtlCol="0">
            <a:spAutoFit/>
          </a:bodyPr>
          <a:p>
            <a:r>
              <a:rPr lang="en-US" altLang="en-GB" b="1">
                <a:solidFill>
                  <a:srgbClr val="FFFF00"/>
                </a:solidFill>
              </a:rPr>
              <a:t>CRITICAL INSIGHT</a:t>
            </a:r>
            <a:endParaRPr lang="en-US" altLang="en-GB" b="1">
              <a:solidFill>
                <a:srgbClr val="FFFF00"/>
              </a:solidFill>
            </a:endParaRPr>
          </a:p>
          <a:p>
            <a:endParaRPr lang="en-US" altLang="en-GB">
              <a:solidFill>
                <a:schemeClr val="bg1"/>
              </a:solidFill>
            </a:endParaRPr>
          </a:p>
          <a:p>
            <a:r>
              <a:rPr lang="en-US" altLang="en-GB">
                <a:solidFill>
                  <a:schemeClr val="bg1"/>
                </a:solidFill>
              </a:rPr>
              <a:t>Some clean decimal numbers can never be perfectly stored in binary.</a:t>
            </a:r>
            <a:endParaRPr lang="en-US" altLang="en-GB">
              <a:solidFill>
                <a:schemeClr val="bg1"/>
              </a:solidFill>
            </a:endParaRPr>
          </a:p>
        </p:txBody>
      </p:sp>
      <p:sp>
        <p:nvSpPr>
          <p:cNvPr id="6" name="Text Box 5"/>
          <p:cNvSpPr txBox="1"/>
          <p:nvPr/>
        </p:nvSpPr>
        <p:spPr>
          <a:xfrm>
            <a:off x="69850" y="982980"/>
            <a:ext cx="6026785" cy="645160"/>
          </a:xfrm>
          <a:prstGeom prst="rect">
            <a:avLst/>
          </a:prstGeom>
          <a:noFill/>
        </p:spPr>
        <p:txBody>
          <a:bodyPr wrap="square" rtlCol="0">
            <a:spAutoFit/>
          </a:bodyPr>
          <a:p>
            <a:r>
              <a:rPr lang="en-US" altLang="en-GB">
                <a:solidFill>
                  <a:schemeClr val="bg1"/>
                </a:solidFill>
              </a:rPr>
              <a:t>Take the</a:t>
            </a:r>
            <a:r>
              <a:rPr lang="en-US" altLang="en-GB">
                <a:solidFill>
                  <a:srgbClr val="FFFF00"/>
                </a:solidFill>
              </a:rPr>
              <a:t> number 0.1 </a:t>
            </a:r>
            <a:r>
              <a:rPr lang="en-US" altLang="en-GB">
                <a:solidFill>
                  <a:schemeClr val="bg1"/>
                </a:solidFill>
              </a:rPr>
              <a:t>in decimal if you try to convert it using the multiplication method</a:t>
            </a:r>
            <a:endParaRPr lang="en-US" altLang="en-GB">
              <a:solidFill>
                <a:schemeClr val="bg1"/>
              </a:solidFill>
            </a:endParaRPr>
          </a:p>
        </p:txBody>
      </p:sp>
      <p:sp>
        <p:nvSpPr>
          <p:cNvPr id="7" name="Text Box 6"/>
          <p:cNvSpPr txBox="1"/>
          <p:nvPr/>
        </p:nvSpPr>
        <p:spPr>
          <a:xfrm>
            <a:off x="70485" y="2301240"/>
            <a:ext cx="10987405" cy="404495"/>
          </a:xfrm>
          <a:prstGeom prst="rect">
            <a:avLst/>
          </a:prstGeom>
          <a:noFill/>
        </p:spPr>
        <p:txBody>
          <a:bodyPr wrap="square" rtlCol="0">
            <a:noAutofit/>
          </a:bodyPr>
          <a:p>
            <a:r>
              <a:rPr lang="en-US" altLang="en-GB">
                <a:solidFill>
                  <a:schemeClr val="bg1"/>
                </a:solidFill>
              </a:rPr>
              <a:t>Once it gets to </a:t>
            </a:r>
            <a:r>
              <a:rPr lang="en-US" altLang="en-GB">
                <a:solidFill>
                  <a:srgbClr val="FFFF00"/>
                </a:solidFill>
              </a:rPr>
              <a:t>1.2 </a:t>
            </a:r>
            <a:r>
              <a:rPr lang="en-US" altLang="en-GB">
                <a:solidFill>
                  <a:schemeClr val="bg1"/>
                </a:solidFill>
              </a:rPr>
              <a:t>the loop repeats infinitely</a:t>
            </a:r>
            <a:r>
              <a:rPr lang="en-US" altLang="en-GB"/>
              <a:t> </a:t>
            </a:r>
            <a:endParaRPr lang="en-US" altLang="en-GB"/>
          </a:p>
        </p:txBody>
      </p:sp>
      <p:sp>
        <p:nvSpPr>
          <p:cNvPr id="8" name="Text Box 7"/>
          <p:cNvSpPr txBox="1"/>
          <p:nvPr/>
        </p:nvSpPr>
        <p:spPr>
          <a:xfrm>
            <a:off x="71120" y="2794000"/>
            <a:ext cx="11536045" cy="1753235"/>
          </a:xfrm>
          <a:prstGeom prst="rect">
            <a:avLst/>
          </a:prstGeom>
          <a:noFill/>
        </p:spPr>
        <p:txBody>
          <a:bodyPr wrap="square" rtlCol="0">
            <a:spAutoFit/>
          </a:bodyPr>
          <a:p>
            <a:r>
              <a:rPr lang="en-US" altLang="en-GB">
                <a:solidFill>
                  <a:schemeClr val="bg1"/>
                </a:solidFill>
              </a:rPr>
              <a:t>In binary 0.1 becomes a repeating decimal: 0.0001100110011.....</a:t>
            </a:r>
            <a:endParaRPr lang="en-US" altLang="en-GB">
              <a:solidFill>
                <a:schemeClr val="bg1"/>
              </a:solidFill>
            </a:endParaRPr>
          </a:p>
          <a:p>
            <a:endParaRPr lang="en-US" altLang="en-GB">
              <a:solidFill>
                <a:schemeClr val="bg1"/>
              </a:solidFill>
            </a:endParaRPr>
          </a:p>
          <a:p>
            <a:r>
              <a:rPr lang="en-US" altLang="en-GB">
                <a:solidFill>
                  <a:schemeClr val="bg1"/>
                </a:solidFill>
              </a:rPr>
              <a:t>Because computers </a:t>
            </a:r>
            <a:r>
              <a:rPr lang="en-US" altLang="en-GB">
                <a:solidFill>
                  <a:srgbClr val="FFFF00"/>
                </a:solidFill>
              </a:rPr>
              <a:t>don't have infinite storage bits</a:t>
            </a:r>
            <a:r>
              <a:rPr lang="en-US" altLang="en-GB">
                <a:solidFill>
                  <a:schemeClr val="bg1"/>
                </a:solidFill>
              </a:rPr>
              <a:t>, </a:t>
            </a:r>
            <a:r>
              <a:rPr lang="en-US" altLang="en-GB">
                <a:solidFill>
                  <a:srgbClr val="FFFF00"/>
                </a:solidFill>
              </a:rPr>
              <a:t>they have to round it off.</a:t>
            </a:r>
            <a:r>
              <a:rPr lang="en-US" altLang="en-GB">
                <a:solidFill>
                  <a:schemeClr val="bg1"/>
                </a:solidFill>
              </a:rPr>
              <a:t> This is called a </a:t>
            </a:r>
            <a:r>
              <a:rPr lang="en-US" altLang="en-GB">
                <a:solidFill>
                  <a:srgbClr val="FFFF00"/>
                </a:solidFill>
              </a:rPr>
              <a:t>floating-point rounding error</a:t>
            </a:r>
            <a:r>
              <a:rPr lang="en-US" altLang="en-GB">
                <a:solidFill>
                  <a:schemeClr val="bg1"/>
                </a:solidFill>
              </a:rPr>
              <a:t>, and in forensic systems auditing, it is exactly how tiny fractions of financial data or timestamp metrics can mysteriously drift over time!. This is exactly why database engineers prefer storing financial currency as whole integers (e.g., storing $10.50 as ⁠1050⁠ cents) to avoid mysterious data drift during audits.</a:t>
            </a:r>
            <a:endParaRPr lang="en-US" altLang="en-GB">
              <a:solidFill>
                <a:schemeClr val="bg1"/>
              </a:solidFill>
            </a:endParaRPr>
          </a:p>
        </p:txBody>
      </p:sp>
      <p:sp>
        <p:nvSpPr>
          <p:cNvPr id="9" name="Text Box 8"/>
          <p:cNvSpPr txBox="1"/>
          <p:nvPr/>
        </p:nvSpPr>
        <p:spPr>
          <a:xfrm>
            <a:off x="71120" y="4740275"/>
            <a:ext cx="11734800" cy="2030095"/>
          </a:xfrm>
          <a:prstGeom prst="rect">
            <a:avLst/>
          </a:prstGeom>
          <a:noFill/>
        </p:spPr>
        <p:txBody>
          <a:bodyPr wrap="square" rtlCol="0">
            <a:spAutoFit/>
          </a:bodyPr>
          <a:p>
            <a:r>
              <a:rPr lang="en-US" altLang="en-GB">
                <a:solidFill>
                  <a:srgbClr val="FFFF00"/>
                </a:solidFill>
              </a:rPr>
              <a:t>RULE:</a:t>
            </a:r>
            <a:r>
              <a:rPr lang="en-US" altLang="en-GB">
                <a:solidFill>
                  <a:schemeClr val="bg1"/>
                </a:solidFill>
              </a:rPr>
              <a:t> If a decimal doesn’t hit a clean </a:t>
            </a:r>
            <a:r>
              <a:rPr lang="en-US" altLang="en-GB">
                <a:solidFill>
                  <a:srgbClr val="FFFF00"/>
                </a:solidFill>
              </a:rPr>
              <a:t>.000 after 4 to 8 </a:t>
            </a:r>
            <a:r>
              <a:rPr lang="en-US" altLang="en-GB">
                <a:solidFill>
                  <a:schemeClr val="bg1"/>
                </a:solidFill>
              </a:rPr>
              <a:t>multiplications. </a:t>
            </a:r>
            <a:r>
              <a:rPr lang="en-US" altLang="en-GB">
                <a:solidFill>
                  <a:srgbClr val="FFFF00"/>
                </a:solidFill>
              </a:rPr>
              <a:t>STOP</a:t>
            </a:r>
            <a:r>
              <a:rPr lang="en-US" altLang="en-GB">
                <a:solidFill>
                  <a:schemeClr val="bg1"/>
                </a:solidFill>
              </a:rPr>
              <a:t> and write an ellipsis(...) or round it base on the bit deptg requirement .</a:t>
            </a:r>
            <a:endParaRPr lang="en-US" altLang="en-GB">
              <a:solidFill>
                <a:schemeClr val="bg1"/>
              </a:solidFill>
            </a:endParaRPr>
          </a:p>
          <a:p>
            <a:endParaRPr lang="en-US" altLang="en-GB">
              <a:solidFill>
                <a:schemeClr val="bg1"/>
              </a:solidFill>
            </a:endParaRPr>
          </a:p>
          <a:p>
            <a:r>
              <a:rPr lang="en-US" altLang="en-GB">
                <a:solidFill>
                  <a:srgbClr val="FFFF00"/>
                </a:solidFill>
              </a:rPr>
              <a:t>Whole numbers:</a:t>
            </a:r>
            <a:r>
              <a:rPr lang="en-US" altLang="en-GB">
                <a:solidFill>
                  <a:schemeClr val="bg1"/>
                </a:solidFill>
              </a:rPr>
              <a:t> If a whole number is </a:t>
            </a:r>
            <a:r>
              <a:rPr lang="en-US" altLang="en-GB">
                <a:solidFill>
                  <a:srgbClr val="FFFF00"/>
                </a:solidFill>
              </a:rPr>
              <a:t>ODD</a:t>
            </a:r>
            <a:r>
              <a:rPr lang="en-US" altLang="en-GB">
                <a:solidFill>
                  <a:schemeClr val="bg1"/>
                </a:solidFill>
              </a:rPr>
              <a:t>. its 8-bIt representation must end in a </a:t>
            </a:r>
            <a:r>
              <a:rPr lang="en-US" altLang="en-GB">
                <a:solidFill>
                  <a:srgbClr val="FFFF00"/>
                </a:solidFill>
              </a:rPr>
              <a:t>1.</a:t>
            </a:r>
            <a:r>
              <a:rPr lang="en-US" altLang="en-GB">
                <a:solidFill>
                  <a:schemeClr val="bg1"/>
                </a:solidFill>
              </a:rPr>
              <a:t> If it is </a:t>
            </a:r>
            <a:r>
              <a:rPr lang="en-US" altLang="en-GB">
                <a:solidFill>
                  <a:srgbClr val="FFFF00"/>
                </a:solidFill>
              </a:rPr>
              <a:t>EVEN</a:t>
            </a:r>
            <a:r>
              <a:rPr lang="en-US" altLang="en-GB">
                <a:solidFill>
                  <a:schemeClr val="bg1"/>
                </a:solidFill>
              </a:rPr>
              <a:t>, it must end in a</a:t>
            </a:r>
            <a:r>
              <a:rPr lang="en-US" altLang="en-GB">
                <a:solidFill>
                  <a:srgbClr val="FFFF00"/>
                </a:solidFill>
              </a:rPr>
              <a:t> 0</a:t>
            </a:r>
            <a:endParaRPr lang="en-US" altLang="en-GB">
              <a:solidFill>
                <a:schemeClr val="bg1"/>
              </a:solidFill>
            </a:endParaRPr>
          </a:p>
          <a:p>
            <a:r>
              <a:rPr lang="en-US" altLang="en-GB">
                <a:solidFill>
                  <a:schemeClr val="bg1"/>
                </a:solidFill>
              </a:rPr>
              <a:t>Decimal: If a decimal ends precisely in 0.5 (with no other remaining numbers), its binary fraction must end right after the slot (e.g ....1) If it ends in something like  0.25 or 0.75, it expands further.</a:t>
            </a:r>
            <a:endParaRPr lang="en-US" altLang="en-GB">
              <a:solidFill>
                <a:schemeClr val="bg1"/>
              </a:solidFill>
            </a:endParaRPr>
          </a:p>
          <a:p>
            <a:endParaRPr lang="en-US" altLang="en-GB">
              <a:solidFill>
                <a:schemeClr val="bg1"/>
              </a:solidFill>
            </a:endParaRPr>
          </a:p>
        </p:txBody>
      </p:sp>
      <p:sp>
        <p:nvSpPr>
          <p:cNvPr id="13" name="Text Box 12"/>
          <p:cNvSpPr txBox="1"/>
          <p:nvPr/>
        </p:nvSpPr>
        <p:spPr>
          <a:xfrm>
            <a:off x="7645400" y="477520"/>
            <a:ext cx="4064000" cy="2306955"/>
          </a:xfrm>
          <a:prstGeom prst="rect">
            <a:avLst/>
          </a:prstGeom>
          <a:noFill/>
        </p:spPr>
        <p:txBody>
          <a:bodyPr wrap="square" rtlCol="0">
            <a:spAutoFit/>
          </a:bodyPr>
          <a:p>
            <a:r>
              <a:rPr lang="en-US" altLang="en-GB">
                <a:solidFill>
                  <a:schemeClr val="bg1"/>
                </a:solidFill>
              </a:rPr>
              <a:t>0.1 X 2 = 0.2 KEEP 0</a:t>
            </a:r>
            <a:endParaRPr lang="en-US" altLang="en-GB">
              <a:solidFill>
                <a:schemeClr val="bg1"/>
              </a:solidFill>
            </a:endParaRPr>
          </a:p>
          <a:p>
            <a:r>
              <a:rPr lang="en-US" altLang="en-GB">
                <a:solidFill>
                  <a:schemeClr val="bg1"/>
                </a:solidFill>
              </a:rPr>
              <a:t>0.2 X 2 = 0.4 KEEP 0</a:t>
            </a:r>
            <a:endParaRPr lang="en-US" altLang="en-GB">
              <a:solidFill>
                <a:schemeClr val="bg1"/>
              </a:solidFill>
            </a:endParaRPr>
          </a:p>
          <a:p>
            <a:r>
              <a:rPr lang="en-US" altLang="en-GB">
                <a:solidFill>
                  <a:schemeClr val="bg1"/>
                </a:solidFill>
              </a:rPr>
              <a:t>0.4 X 2 = 0.8 KEEP 0</a:t>
            </a:r>
            <a:endParaRPr lang="en-US" altLang="en-GB">
              <a:solidFill>
                <a:schemeClr val="bg1"/>
              </a:solidFill>
            </a:endParaRPr>
          </a:p>
          <a:p>
            <a:r>
              <a:rPr lang="en-US" altLang="en-GB">
                <a:solidFill>
                  <a:schemeClr val="bg1"/>
                </a:solidFill>
              </a:rPr>
              <a:t>0.8 X 2 = 1.6 KEEP 1</a:t>
            </a:r>
            <a:endParaRPr lang="en-US" altLang="en-GB">
              <a:solidFill>
                <a:schemeClr val="bg1"/>
              </a:solidFill>
            </a:endParaRPr>
          </a:p>
          <a:p>
            <a:r>
              <a:rPr lang="en-US" altLang="en-GB">
                <a:solidFill>
                  <a:schemeClr val="bg1"/>
                </a:solidFill>
              </a:rPr>
              <a:t>0.6 X 2 = 1.2 KEEP 1</a:t>
            </a:r>
            <a:endParaRPr lang="en-US" altLang="en-GB">
              <a:solidFill>
                <a:schemeClr val="bg1"/>
              </a:solidFill>
            </a:endParaRPr>
          </a:p>
          <a:p>
            <a:r>
              <a:rPr lang="en-US" altLang="en-GB">
                <a:solidFill>
                  <a:schemeClr val="bg1"/>
                </a:solidFill>
              </a:rPr>
              <a:t>0.2 X 2= 0.4 KEEP 0</a:t>
            </a:r>
            <a:endParaRPr lang="en-US" altLang="en-GB">
              <a:solidFill>
                <a:schemeClr val="bg1"/>
              </a:solidFill>
            </a:endParaRPr>
          </a:p>
          <a:p>
            <a:endParaRPr lang="en-US" altLang="en-GB">
              <a:solidFill>
                <a:schemeClr val="bg1"/>
              </a:solidFill>
            </a:endParaRPr>
          </a:p>
          <a:p>
            <a:r>
              <a:rPr lang="en-US" altLang="en-GB">
                <a:solidFill>
                  <a:schemeClr val="bg1"/>
                </a:solidFill>
              </a:rPr>
              <a:t>It’s going to keep looping.</a:t>
            </a:r>
            <a:endParaRPr lang="en-US" altLang="en-GB">
              <a:solidFill>
                <a:schemeClr val="bg1"/>
              </a:solidFill>
            </a:endParaRPr>
          </a:p>
        </p:txBody>
      </p:sp>
      <p:sp>
        <p:nvSpPr>
          <p:cNvPr id="14" name="Text Box 13"/>
          <p:cNvSpPr txBox="1"/>
          <p:nvPr/>
        </p:nvSpPr>
        <p:spPr>
          <a:xfrm>
            <a:off x="909320" y="1828800"/>
            <a:ext cx="4064000" cy="368300"/>
          </a:xfrm>
          <a:prstGeom prst="rect">
            <a:avLst/>
          </a:prstGeom>
          <a:noFill/>
        </p:spPr>
        <p:txBody>
          <a:bodyPr wrap="square" rtlCol="0">
            <a:spAutoFit/>
          </a:bodyPr>
          <a:p>
            <a:r>
              <a:rPr lang="en-US" altLang="en-GB">
                <a:highlight>
                  <a:srgbClr val="FF00FF"/>
                </a:highlight>
              </a:rPr>
              <a:t>.0001100011......</a:t>
            </a:r>
            <a:endParaRPr lang="en-US" altLang="en-GB">
              <a:highlight>
                <a:srgbClr val="FF00FF"/>
              </a:highlight>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a:xfrm>
          <a:off x="0" y="0"/>
          <a:ext cx="0" cy="0"/>
          <a:chOff x="0" y="0"/>
          <a:chExt cx="0" cy="0"/>
        </a:xfrm>
      </p:grpSpPr>
      <p:pic>
        <p:nvPicPr>
          <p:cNvPr id="20" name="Picture 19" descr="WhatsApp Image 2026-05-26 at 9.15.32 AM"/>
          <p:cNvPicPr>
            <a:picLocks noChangeAspect="1"/>
          </p:cNvPicPr>
          <p:nvPr/>
        </p:nvPicPr>
        <p:blipFill>
          <a:blip r:embed="rId1"/>
          <a:srcRect l="11601" t="7675" r="19054" b="14253"/>
          <a:stretch>
            <a:fillRect/>
          </a:stretch>
        </p:blipFill>
        <p:spPr>
          <a:xfrm>
            <a:off x="0" y="0"/>
            <a:ext cx="807085" cy="859155"/>
          </a:xfrm>
          <a:prstGeom prst="rect">
            <a:avLst/>
          </a:prstGeom>
        </p:spPr>
      </p:pic>
      <p:pic>
        <p:nvPicPr>
          <p:cNvPr id="14" name="Picture 13" descr="WhatsApp Image 2026-05-26 at 9.15.32 AM"/>
          <p:cNvPicPr>
            <a:picLocks noChangeAspect="1"/>
          </p:cNvPicPr>
          <p:nvPr/>
        </p:nvPicPr>
        <p:blipFill>
          <a:blip r:embed="rId1"/>
          <a:srcRect l="11601" t="7675" r="19054" b="14253"/>
          <a:stretch>
            <a:fillRect/>
          </a:stretch>
        </p:blipFill>
        <p:spPr>
          <a:xfrm>
            <a:off x="11384915" y="5998845"/>
            <a:ext cx="807085" cy="859155"/>
          </a:xfrm>
          <a:prstGeom prst="rect">
            <a:avLst/>
          </a:prstGeom>
        </p:spPr>
      </p:pic>
      <p:sp>
        <p:nvSpPr>
          <p:cNvPr id="7" name="Text Box 6"/>
          <p:cNvSpPr txBox="1"/>
          <p:nvPr/>
        </p:nvSpPr>
        <p:spPr>
          <a:xfrm>
            <a:off x="2131695" y="5481955"/>
            <a:ext cx="4064000" cy="368300"/>
          </a:xfrm>
          <a:prstGeom prst="rect">
            <a:avLst/>
          </a:prstGeom>
          <a:noFill/>
        </p:spPr>
        <p:txBody>
          <a:bodyPr wrap="square" rtlCol="0">
            <a:spAutoFit/>
          </a:bodyPr>
          <a:p>
            <a:endParaRPr lang="en-GB" altLang="en-US"/>
          </a:p>
        </p:txBody>
      </p:sp>
      <p:sp>
        <p:nvSpPr>
          <p:cNvPr id="4" name="Text Box 3"/>
          <p:cNvSpPr txBox="1"/>
          <p:nvPr/>
        </p:nvSpPr>
        <p:spPr>
          <a:xfrm>
            <a:off x="807085" y="174308"/>
            <a:ext cx="5080000" cy="429895"/>
          </a:xfrm>
          <a:prstGeom prst="rect">
            <a:avLst/>
          </a:prstGeom>
        </p:spPr>
        <p:txBody>
          <a:bodyPr>
            <a:spAutoFit/>
          </a:bodyPr>
          <a:p>
            <a:pPr>
              <a:spcAft>
                <a:spcPct val="60000"/>
              </a:spcAft>
            </a:pPr>
            <a:r>
              <a:rPr lang="en-US" altLang="zh-CN" sz="2200" b="1">
                <a:solidFill>
                  <a:schemeClr val="bg1"/>
                </a:solidFill>
              </a:rPr>
              <a:t>Quick Conversion Examples</a:t>
            </a:r>
            <a:endParaRPr lang="en-US" altLang="zh-CN" sz="2200" b="1">
              <a:solidFill>
                <a:schemeClr val="bg1"/>
              </a:solidFill>
            </a:endParaRPr>
          </a:p>
        </p:txBody>
      </p:sp>
      <p:graphicFrame>
        <p:nvGraphicFramePr>
          <p:cNvPr id="5" name="Table 4"/>
          <p:cNvGraphicFramePr/>
          <p:nvPr>
            <p:custDataLst>
              <p:tags r:id="rId2"/>
            </p:custDataLst>
          </p:nvPr>
        </p:nvGraphicFramePr>
        <p:xfrm>
          <a:off x="940435" y="720090"/>
          <a:ext cx="5255260" cy="1844040"/>
        </p:xfrm>
        <a:graphic>
          <a:graphicData uri="http://schemas.openxmlformats.org/drawingml/2006/table">
            <a:tbl>
              <a:tblPr/>
              <a:tblGrid>
                <a:gridCol w="2627630"/>
                <a:gridCol w="2627630"/>
              </a:tblGrid>
              <a:tr h="167640">
                <a:tc>
                  <a:txBody>
                    <a:bodyPr/>
                    <a:p>
                      <a:r>
                        <a:rPr lang="en-US" altLang="zh-CN" sz="1800">
                          <a:solidFill>
                            <a:srgbClr val="FFFF00"/>
                          </a:solidFill>
                        </a:rPr>
                        <a:t>Decimal</a:t>
                      </a:r>
                      <a:endParaRPr lang="en-US" altLang="zh-CN" sz="1800">
                        <a:solidFill>
                          <a:srgbClr val="FFFF00"/>
                        </a:solidFill>
                      </a:endParaRPr>
                    </a:p>
                  </a:txBody>
                  <a:tcPr marL="0" marR="0" marT="0" marB="0" anchor="ctr" anchorCtr="0">
                    <a:lnL>
                      <a:noFill/>
                    </a:lnL>
                    <a:lnR>
                      <a:noFill/>
                    </a:lnR>
                    <a:lnT>
                      <a:noFill/>
                    </a:lnT>
                    <a:lnB>
                      <a:noFill/>
                    </a:lnB>
                    <a:noFill/>
                  </a:tcPr>
                </a:tc>
                <a:tc>
                  <a:txBody>
                    <a:bodyPr/>
                    <a:p>
                      <a:r>
                        <a:rPr lang="en-US" altLang="zh-CN" sz="1800">
                          <a:solidFill>
                            <a:srgbClr val="FFFF00"/>
                          </a:solidFill>
                        </a:rPr>
                        <a:t>Binary</a:t>
                      </a:r>
                      <a:endParaRPr lang="en-US" altLang="zh-CN" sz="1800">
                        <a:solidFill>
                          <a:srgbClr val="FFFF00"/>
                        </a:solidFill>
                      </a:endParaRPr>
                    </a:p>
                  </a:txBody>
                  <a:tcPr marL="0" marR="0" marT="0" marB="0" anchor="ctr" anchorCtr="0">
                    <a:lnL>
                      <a:noFill/>
                    </a:lnL>
                    <a:lnR>
                      <a:noFill/>
                    </a:lnR>
                    <a:lnT>
                      <a:noFill/>
                    </a:lnT>
                    <a:lnB>
                      <a:noFill/>
                    </a:lnB>
                    <a:noFill/>
                  </a:tcPr>
                </a:tc>
              </a:tr>
              <a:tr h="167640">
                <a:tc>
                  <a:txBody>
                    <a:bodyPr/>
                    <a:p>
                      <a:r>
                        <a:rPr lang="en-US" altLang="zh-CN" sz="1800">
                          <a:solidFill>
                            <a:srgbClr val="FFFF00"/>
                          </a:solidFill>
                        </a:rPr>
                        <a:t>1</a:t>
                      </a:r>
                      <a:endParaRPr lang="en-US" altLang="zh-CN" sz="1800">
                        <a:solidFill>
                          <a:srgbClr val="FFFF00"/>
                        </a:solidFill>
                      </a:endParaRPr>
                    </a:p>
                  </a:txBody>
                  <a:tcPr marL="0" marR="0" marT="0" marB="0" anchor="ctr" anchorCtr="0">
                    <a:lnL>
                      <a:noFill/>
                    </a:lnL>
                    <a:lnR>
                      <a:noFill/>
                    </a:lnR>
                    <a:lnT>
                      <a:noFill/>
                    </a:lnT>
                    <a:lnB>
                      <a:noFill/>
                    </a:lnB>
                    <a:noFill/>
                  </a:tcPr>
                </a:tc>
                <a:tc>
                  <a:txBody>
                    <a:bodyPr/>
                    <a:p>
                      <a:r>
                        <a:rPr lang="en-US" altLang="zh-CN" sz="1800">
                          <a:solidFill>
                            <a:srgbClr val="FFFF00"/>
                          </a:solidFill>
                        </a:rPr>
                        <a:t>1</a:t>
                      </a:r>
                      <a:endParaRPr lang="en-US" altLang="zh-CN" sz="1800">
                        <a:solidFill>
                          <a:srgbClr val="FFFF00"/>
                        </a:solidFill>
                      </a:endParaRPr>
                    </a:p>
                  </a:txBody>
                  <a:tcPr marL="0" marR="0" marT="0" marB="0" anchor="ctr" anchorCtr="0">
                    <a:lnL>
                      <a:noFill/>
                    </a:lnL>
                    <a:lnR>
                      <a:noFill/>
                    </a:lnR>
                    <a:lnT>
                      <a:noFill/>
                    </a:lnT>
                    <a:lnB>
                      <a:noFill/>
                    </a:lnB>
                    <a:noFill/>
                  </a:tcPr>
                </a:tc>
              </a:tr>
              <a:tr h="167640">
                <a:tc>
                  <a:txBody>
                    <a:bodyPr/>
                    <a:p>
                      <a:r>
                        <a:rPr lang="en-US" altLang="zh-CN" sz="1800">
                          <a:solidFill>
                            <a:srgbClr val="FFFF00"/>
                          </a:solidFill>
                        </a:rPr>
                        <a:t>2</a:t>
                      </a:r>
                      <a:endParaRPr lang="en-US" altLang="zh-CN" sz="1800">
                        <a:solidFill>
                          <a:srgbClr val="FFFF00"/>
                        </a:solidFill>
                      </a:endParaRPr>
                    </a:p>
                  </a:txBody>
                  <a:tcPr marL="0" marR="0" marT="0" marB="0" anchor="ctr" anchorCtr="0">
                    <a:lnL>
                      <a:noFill/>
                    </a:lnL>
                    <a:lnR>
                      <a:noFill/>
                    </a:lnR>
                    <a:lnT>
                      <a:noFill/>
                    </a:lnT>
                    <a:lnB>
                      <a:noFill/>
                    </a:lnB>
                    <a:noFill/>
                  </a:tcPr>
                </a:tc>
                <a:tc>
                  <a:txBody>
                    <a:bodyPr/>
                    <a:p>
                      <a:r>
                        <a:rPr lang="en-US" altLang="zh-CN" sz="1800">
                          <a:solidFill>
                            <a:srgbClr val="FFFF00"/>
                          </a:solidFill>
                        </a:rPr>
                        <a:t>10</a:t>
                      </a:r>
                      <a:endParaRPr lang="en-US" altLang="zh-CN" sz="1800">
                        <a:solidFill>
                          <a:srgbClr val="FFFF00"/>
                        </a:solidFill>
                      </a:endParaRPr>
                    </a:p>
                  </a:txBody>
                  <a:tcPr marL="0" marR="0" marT="0" marB="0" anchor="ctr" anchorCtr="0">
                    <a:lnL>
                      <a:noFill/>
                    </a:lnL>
                    <a:lnR>
                      <a:noFill/>
                    </a:lnR>
                    <a:lnT>
                      <a:noFill/>
                    </a:lnT>
                    <a:lnB>
                      <a:noFill/>
                    </a:lnB>
                    <a:noFill/>
                  </a:tcPr>
                </a:tc>
              </a:tr>
              <a:tr h="167640">
                <a:tc>
                  <a:txBody>
                    <a:bodyPr/>
                    <a:p>
                      <a:r>
                        <a:rPr lang="en-US" altLang="zh-CN" sz="1800">
                          <a:solidFill>
                            <a:srgbClr val="FFFF00"/>
                          </a:solidFill>
                        </a:rPr>
                        <a:t>3</a:t>
                      </a:r>
                      <a:endParaRPr lang="en-US" altLang="zh-CN" sz="1800">
                        <a:solidFill>
                          <a:srgbClr val="FFFF00"/>
                        </a:solidFill>
                      </a:endParaRPr>
                    </a:p>
                  </a:txBody>
                  <a:tcPr marL="0" marR="0" marT="0" marB="0" anchor="ctr" anchorCtr="0">
                    <a:lnL>
                      <a:noFill/>
                    </a:lnL>
                    <a:lnR>
                      <a:noFill/>
                    </a:lnR>
                    <a:lnT>
                      <a:noFill/>
                    </a:lnT>
                    <a:lnB>
                      <a:noFill/>
                    </a:lnB>
                    <a:noFill/>
                  </a:tcPr>
                </a:tc>
                <a:tc>
                  <a:txBody>
                    <a:bodyPr/>
                    <a:p>
                      <a:r>
                        <a:rPr lang="en-US" altLang="zh-CN" sz="1800">
                          <a:solidFill>
                            <a:srgbClr val="FFFF00"/>
                          </a:solidFill>
                        </a:rPr>
                        <a:t>11</a:t>
                      </a:r>
                      <a:endParaRPr lang="en-US" altLang="zh-CN" sz="1800">
                        <a:solidFill>
                          <a:srgbClr val="FFFF00"/>
                        </a:solidFill>
                      </a:endParaRPr>
                    </a:p>
                  </a:txBody>
                  <a:tcPr marL="0" marR="0" marT="0" marB="0" anchor="ctr" anchorCtr="0">
                    <a:lnL>
                      <a:noFill/>
                    </a:lnL>
                    <a:lnR>
                      <a:noFill/>
                    </a:lnR>
                    <a:lnT>
                      <a:noFill/>
                    </a:lnT>
                    <a:lnB>
                      <a:noFill/>
                    </a:lnB>
                    <a:noFill/>
                  </a:tcPr>
                </a:tc>
              </a:tr>
              <a:tr h="167640">
                <a:tc>
                  <a:txBody>
                    <a:bodyPr/>
                    <a:p>
                      <a:r>
                        <a:rPr lang="en-US" altLang="zh-CN" sz="1800">
                          <a:solidFill>
                            <a:srgbClr val="FFFF00"/>
                          </a:solidFill>
                        </a:rPr>
                        <a:t>4</a:t>
                      </a:r>
                      <a:endParaRPr lang="en-US" altLang="zh-CN" sz="1800">
                        <a:solidFill>
                          <a:srgbClr val="FFFF00"/>
                        </a:solidFill>
                      </a:endParaRPr>
                    </a:p>
                  </a:txBody>
                  <a:tcPr marL="0" marR="0" marT="0" marB="0" anchor="ctr" anchorCtr="0">
                    <a:lnL>
                      <a:noFill/>
                    </a:lnL>
                    <a:lnR>
                      <a:noFill/>
                    </a:lnR>
                    <a:lnT>
                      <a:noFill/>
                    </a:lnT>
                    <a:lnB>
                      <a:noFill/>
                    </a:lnB>
                    <a:noFill/>
                  </a:tcPr>
                </a:tc>
                <a:tc>
                  <a:txBody>
                    <a:bodyPr/>
                    <a:p>
                      <a:r>
                        <a:rPr lang="en-US" altLang="zh-CN" sz="1800">
                          <a:solidFill>
                            <a:srgbClr val="FFFF00"/>
                          </a:solidFill>
                        </a:rPr>
                        <a:t>100</a:t>
                      </a:r>
                      <a:endParaRPr lang="en-US" altLang="zh-CN" sz="1800">
                        <a:solidFill>
                          <a:srgbClr val="FFFF00"/>
                        </a:solidFill>
                      </a:endParaRPr>
                    </a:p>
                  </a:txBody>
                  <a:tcPr marL="0" marR="0" marT="0" marB="0" anchor="ctr" anchorCtr="0">
                    <a:lnL>
                      <a:noFill/>
                    </a:lnL>
                    <a:lnR>
                      <a:noFill/>
                    </a:lnR>
                    <a:lnT>
                      <a:noFill/>
                    </a:lnT>
                    <a:lnB>
                      <a:noFill/>
                    </a:lnB>
                    <a:noFill/>
                  </a:tcPr>
                </a:tc>
              </a:tr>
              <a:tr h="167640">
                <a:tc>
                  <a:txBody>
                    <a:bodyPr/>
                    <a:p>
                      <a:r>
                        <a:rPr lang="en-US" altLang="zh-CN" sz="1800">
                          <a:solidFill>
                            <a:srgbClr val="FFFF00"/>
                          </a:solidFill>
                        </a:rPr>
                        <a:t>5</a:t>
                      </a:r>
                      <a:endParaRPr lang="en-US" altLang="zh-CN" sz="1800">
                        <a:solidFill>
                          <a:srgbClr val="FFFF00"/>
                        </a:solidFill>
                      </a:endParaRPr>
                    </a:p>
                  </a:txBody>
                  <a:tcPr marL="0" marR="0" marT="0" marB="0" anchor="ctr" anchorCtr="0">
                    <a:lnL>
                      <a:noFill/>
                    </a:lnL>
                    <a:lnR>
                      <a:noFill/>
                    </a:lnR>
                    <a:lnT>
                      <a:noFill/>
                    </a:lnT>
                    <a:lnB>
                      <a:noFill/>
                    </a:lnB>
                    <a:noFill/>
                  </a:tcPr>
                </a:tc>
                <a:tc>
                  <a:txBody>
                    <a:bodyPr/>
                    <a:p>
                      <a:r>
                        <a:rPr lang="en-US" altLang="zh-CN" sz="1800">
                          <a:solidFill>
                            <a:srgbClr val="FFFF00"/>
                          </a:solidFill>
                        </a:rPr>
                        <a:t>101</a:t>
                      </a:r>
                      <a:endParaRPr lang="en-US" altLang="zh-CN" sz="1800">
                        <a:solidFill>
                          <a:srgbClr val="FFFF00"/>
                        </a:solidFill>
                      </a:endParaRPr>
                    </a:p>
                  </a:txBody>
                  <a:tcPr marL="0" marR="0" marT="0" marB="0" anchor="ctr" anchorCtr="0">
                    <a:lnL>
                      <a:noFill/>
                    </a:lnL>
                    <a:lnR>
                      <a:noFill/>
                    </a:lnR>
                    <a:lnT>
                      <a:noFill/>
                    </a:lnT>
                    <a:lnB>
                      <a:noFill/>
                    </a:lnB>
                    <a:noFill/>
                  </a:tcPr>
                </a:tc>
              </a:tr>
              <a:tr h="167640">
                <a:tc>
                  <a:txBody>
                    <a:bodyPr/>
                    <a:p>
                      <a:r>
                        <a:rPr lang="en-US" altLang="zh-CN" sz="1800">
                          <a:solidFill>
                            <a:srgbClr val="FFFF00"/>
                          </a:solidFill>
                        </a:rPr>
                        <a:t>6</a:t>
                      </a:r>
                      <a:endParaRPr lang="en-US" altLang="zh-CN" sz="1800">
                        <a:solidFill>
                          <a:srgbClr val="FFFF00"/>
                        </a:solidFill>
                      </a:endParaRPr>
                    </a:p>
                  </a:txBody>
                  <a:tcPr marL="0" marR="0" marT="0" marB="0" anchor="ctr" anchorCtr="0">
                    <a:lnL>
                      <a:noFill/>
                    </a:lnL>
                    <a:lnR>
                      <a:noFill/>
                    </a:lnR>
                    <a:lnT>
                      <a:noFill/>
                    </a:lnT>
                    <a:lnB>
                      <a:noFill/>
                    </a:lnB>
                    <a:noFill/>
                  </a:tcPr>
                </a:tc>
                <a:tc>
                  <a:txBody>
                    <a:bodyPr/>
                    <a:p>
                      <a:r>
                        <a:rPr lang="en-US" altLang="zh-CN" sz="1800">
                          <a:solidFill>
                            <a:srgbClr val="FFFF00"/>
                          </a:solidFill>
                        </a:rPr>
                        <a:t>110</a:t>
                      </a:r>
                      <a:endParaRPr lang="en-US" altLang="zh-CN" sz="1800">
                        <a:solidFill>
                          <a:srgbClr val="FFFF00"/>
                        </a:solidFill>
                      </a:endParaRPr>
                    </a:p>
                  </a:txBody>
                  <a:tcPr marL="0" marR="0" marT="0" marB="0" anchor="ctr" anchorCtr="0">
                    <a:lnL>
                      <a:noFill/>
                    </a:lnL>
                    <a:lnR>
                      <a:noFill/>
                    </a:lnR>
                    <a:lnT>
                      <a:noFill/>
                    </a:lnT>
                    <a:lnB>
                      <a:noFill/>
                    </a:lnB>
                    <a:noFill/>
                  </a:tcPr>
                </a:tc>
              </a:tr>
              <a:tr h="167640">
                <a:tc>
                  <a:txBody>
                    <a:bodyPr/>
                    <a:p>
                      <a:r>
                        <a:rPr lang="en-US" altLang="zh-CN" sz="1800">
                          <a:solidFill>
                            <a:srgbClr val="FFFF00"/>
                          </a:solidFill>
                        </a:rPr>
                        <a:t>7</a:t>
                      </a:r>
                      <a:endParaRPr lang="en-US" altLang="zh-CN" sz="1800">
                        <a:solidFill>
                          <a:srgbClr val="FFFF00"/>
                        </a:solidFill>
                      </a:endParaRPr>
                    </a:p>
                  </a:txBody>
                  <a:tcPr marL="0" marR="0" marT="0" marB="0" anchor="ctr" anchorCtr="0">
                    <a:lnL>
                      <a:noFill/>
                    </a:lnL>
                    <a:lnR>
                      <a:noFill/>
                    </a:lnR>
                    <a:lnT>
                      <a:noFill/>
                    </a:lnT>
                    <a:lnB>
                      <a:noFill/>
                    </a:lnB>
                    <a:noFill/>
                  </a:tcPr>
                </a:tc>
                <a:tc>
                  <a:txBody>
                    <a:bodyPr/>
                    <a:p>
                      <a:r>
                        <a:rPr lang="en-US" altLang="zh-CN" sz="1800">
                          <a:solidFill>
                            <a:srgbClr val="FFFF00"/>
                          </a:solidFill>
                        </a:rPr>
                        <a:t>111</a:t>
                      </a:r>
                      <a:endParaRPr lang="en-US" altLang="zh-CN" sz="1800">
                        <a:solidFill>
                          <a:srgbClr val="FFFF00"/>
                        </a:solidFill>
                      </a:endParaRPr>
                    </a:p>
                  </a:txBody>
                  <a:tcPr marL="0" marR="0" marT="0" marB="0" anchor="ctr" anchorCtr="0">
                    <a:lnL>
                      <a:noFill/>
                    </a:lnL>
                    <a:lnR>
                      <a:noFill/>
                    </a:lnR>
                    <a:lnT>
                      <a:noFill/>
                    </a:lnT>
                    <a:lnB>
                      <a:noFill/>
                    </a:lnB>
                    <a:noFill/>
                  </a:tcPr>
                </a:tc>
              </a:tr>
              <a:tr h="167640">
                <a:tc>
                  <a:txBody>
                    <a:bodyPr/>
                    <a:p>
                      <a:r>
                        <a:rPr lang="en-US" altLang="zh-CN" sz="1800">
                          <a:solidFill>
                            <a:srgbClr val="FFFF00"/>
                          </a:solidFill>
                        </a:rPr>
                        <a:t>8</a:t>
                      </a:r>
                      <a:endParaRPr lang="en-US" altLang="zh-CN" sz="1800">
                        <a:solidFill>
                          <a:srgbClr val="FFFF00"/>
                        </a:solidFill>
                      </a:endParaRPr>
                    </a:p>
                  </a:txBody>
                  <a:tcPr marL="0" marR="0" marT="0" marB="0" anchor="ctr" anchorCtr="0">
                    <a:lnL>
                      <a:noFill/>
                    </a:lnL>
                    <a:lnR>
                      <a:noFill/>
                    </a:lnR>
                    <a:lnT>
                      <a:noFill/>
                    </a:lnT>
                    <a:lnB>
                      <a:noFill/>
                    </a:lnB>
                    <a:noFill/>
                  </a:tcPr>
                </a:tc>
                <a:tc>
                  <a:txBody>
                    <a:bodyPr/>
                    <a:p>
                      <a:r>
                        <a:rPr lang="en-US" altLang="zh-CN" sz="1800">
                          <a:solidFill>
                            <a:srgbClr val="FFFF00"/>
                          </a:solidFill>
                        </a:rPr>
                        <a:t>1000</a:t>
                      </a:r>
                      <a:endParaRPr lang="en-US" altLang="zh-CN" sz="1800">
                        <a:solidFill>
                          <a:srgbClr val="FFFF00"/>
                        </a:solidFill>
                      </a:endParaRPr>
                    </a:p>
                  </a:txBody>
                  <a:tcPr marL="0" marR="0" marT="0" marB="0" anchor="ctr" anchorCtr="0">
                    <a:lnL>
                      <a:noFill/>
                    </a:lnL>
                    <a:lnR>
                      <a:noFill/>
                    </a:lnR>
                    <a:lnT>
                      <a:noFill/>
                    </a:lnT>
                    <a:lnB>
                      <a:noFill/>
                    </a:lnB>
                    <a:noFill/>
                  </a:tcPr>
                </a:tc>
              </a:tr>
              <a:tr h="167640">
                <a:tc>
                  <a:txBody>
                    <a:bodyPr/>
                    <a:p>
                      <a:r>
                        <a:rPr lang="en-US" altLang="zh-CN" sz="1800">
                          <a:solidFill>
                            <a:srgbClr val="FFFF00"/>
                          </a:solidFill>
                        </a:rPr>
                        <a:t>9</a:t>
                      </a:r>
                      <a:endParaRPr lang="en-US" altLang="zh-CN" sz="1800">
                        <a:solidFill>
                          <a:srgbClr val="FFFF00"/>
                        </a:solidFill>
                      </a:endParaRPr>
                    </a:p>
                  </a:txBody>
                  <a:tcPr marL="0" marR="0" marT="0" marB="0" anchor="ctr" anchorCtr="0">
                    <a:lnL>
                      <a:noFill/>
                    </a:lnL>
                    <a:lnR>
                      <a:noFill/>
                    </a:lnR>
                    <a:lnT>
                      <a:noFill/>
                    </a:lnT>
                    <a:lnB>
                      <a:noFill/>
                    </a:lnB>
                    <a:noFill/>
                  </a:tcPr>
                </a:tc>
                <a:tc>
                  <a:txBody>
                    <a:bodyPr/>
                    <a:p>
                      <a:r>
                        <a:rPr lang="en-US" altLang="zh-CN" sz="1800">
                          <a:solidFill>
                            <a:srgbClr val="FFFF00"/>
                          </a:solidFill>
                        </a:rPr>
                        <a:t>1001</a:t>
                      </a:r>
                      <a:endParaRPr lang="en-US" altLang="zh-CN" sz="1800">
                        <a:solidFill>
                          <a:srgbClr val="FFFF00"/>
                        </a:solidFill>
                      </a:endParaRPr>
                    </a:p>
                  </a:txBody>
                  <a:tcPr marL="0" marR="0" marT="0" marB="0" anchor="ctr" anchorCtr="0">
                    <a:lnL>
                      <a:noFill/>
                    </a:lnL>
                    <a:lnR>
                      <a:noFill/>
                    </a:lnR>
                    <a:lnT>
                      <a:noFill/>
                    </a:lnT>
                    <a:lnB>
                      <a:noFill/>
                    </a:lnB>
                    <a:noFill/>
                  </a:tcPr>
                </a:tc>
              </a:tr>
              <a:tr h="167640">
                <a:tc>
                  <a:txBody>
                    <a:bodyPr/>
                    <a:p>
                      <a:r>
                        <a:rPr lang="en-US" altLang="zh-CN" sz="1800">
                          <a:solidFill>
                            <a:srgbClr val="FFFF00"/>
                          </a:solidFill>
                        </a:rPr>
                        <a:t>10</a:t>
                      </a:r>
                      <a:endParaRPr lang="en-US" altLang="zh-CN" sz="1800">
                        <a:solidFill>
                          <a:srgbClr val="FFFF00"/>
                        </a:solidFill>
                      </a:endParaRPr>
                    </a:p>
                  </a:txBody>
                  <a:tcPr marL="0" marR="0" marT="0" marB="0" anchor="ctr" anchorCtr="0">
                    <a:lnL>
                      <a:noFill/>
                    </a:lnL>
                    <a:lnR>
                      <a:noFill/>
                    </a:lnR>
                    <a:lnT>
                      <a:noFill/>
                    </a:lnT>
                    <a:lnB>
                      <a:noFill/>
                    </a:lnB>
                    <a:noFill/>
                  </a:tcPr>
                </a:tc>
                <a:tc>
                  <a:txBody>
                    <a:bodyPr/>
                    <a:p>
                      <a:r>
                        <a:rPr lang="en-US" altLang="zh-CN" sz="1800">
                          <a:solidFill>
                            <a:srgbClr val="FFFF00"/>
                          </a:solidFill>
                        </a:rPr>
                        <a:t>1010</a:t>
                      </a:r>
                      <a:endParaRPr lang="en-US" altLang="zh-CN" sz="1800">
                        <a:solidFill>
                          <a:srgbClr val="FFFF00"/>
                        </a:solidFill>
                      </a:endParaRPr>
                    </a:p>
                  </a:txBody>
                  <a:tcPr marL="0" marR="0" marT="0" marB="0" anchor="ctr" anchorCtr="0">
                    <a:lnL>
                      <a:noFill/>
                    </a:lnL>
                    <a:lnR>
                      <a:noFill/>
                    </a:lnR>
                    <a:lnT>
                      <a:noFill/>
                    </a:lnT>
                    <a:lnB>
                      <a:noFill/>
                    </a:lnB>
                    <a:noFill/>
                  </a:tcPr>
                </a:tc>
              </a:tr>
            </a:tbl>
          </a:graphicData>
        </a:graphic>
      </p:graphicFrame>
      <p:sp>
        <p:nvSpPr>
          <p:cNvPr id="9" name="Text Box 8"/>
          <p:cNvSpPr txBox="1"/>
          <p:nvPr/>
        </p:nvSpPr>
        <p:spPr>
          <a:xfrm>
            <a:off x="4530090" y="441960"/>
            <a:ext cx="2205990" cy="2675255"/>
          </a:xfrm>
          <a:prstGeom prst="rect">
            <a:avLst/>
          </a:prstGeom>
          <a:noFill/>
        </p:spPr>
        <p:txBody>
          <a:bodyPr wrap="square" rtlCol="0">
            <a:noAutofit/>
          </a:bodyPr>
          <a:p>
            <a:r>
              <a:rPr lang="en-US" altLang="en-GB" b="1">
                <a:solidFill>
                  <a:srgbClr val="FFFF00"/>
                </a:solidFill>
              </a:rPr>
              <a:t>Bit</a:t>
            </a:r>
            <a:endParaRPr lang="en-US" altLang="en-GB" b="1">
              <a:solidFill>
                <a:srgbClr val="FFFF00"/>
              </a:solidFill>
            </a:endParaRPr>
          </a:p>
          <a:p>
            <a:endParaRPr lang="en-US" altLang="en-GB"/>
          </a:p>
          <a:p>
            <a:r>
              <a:rPr lang="en-US" altLang="en-GB">
                <a:solidFill>
                  <a:schemeClr val="bg1"/>
                </a:solidFill>
              </a:rPr>
              <a:t>A single binary digit.</a:t>
            </a:r>
            <a:endParaRPr lang="en-US" altLang="en-GB">
              <a:solidFill>
                <a:schemeClr val="bg1"/>
              </a:solidFill>
            </a:endParaRPr>
          </a:p>
          <a:p>
            <a:endParaRPr lang="en-US" altLang="en-GB">
              <a:solidFill>
                <a:schemeClr val="bg1"/>
              </a:solidFill>
            </a:endParaRPr>
          </a:p>
          <a:p>
            <a:r>
              <a:rPr lang="en-US" altLang="en-GB">
                <a:solidFill>
                  <a:schemeClr val="bg1"/>
                </a:solidFill>
              </a:rPr>
              <a:t>Examples:</a:t>
            </a:r>
            <a:endParaRPr lang="en-US" altLang="en-GB">
              <a:solidFill>
                <a:schemeClr val="bg1"/>
              </a:solidFill>
            </a:endParaRPr>
          </a:p>
          <a:p>
            <a:endParaRPr lang="en-US" altLang="en-GB">
              <a:solidFill>
                <a:schemeClr val="bg1"/>
              </a:solidFill>
            </a:endParaRPr>
          </a:p>
          <a:p>
            <a:r>
              <a:rPr lang="en-US" altLang="en-GB">
                <a:solidFill>
                  <a:schemeClr val="bg1"/>
                </a:solidFill>
              </a:rPr>
              <a:t>0</a:t>
            </a:r>
            <a:endParaRPr lang="en-US" altLang="en-GB">
              <a:solidFill>
                <a:schemeClr val="bg1"/>
              </a:solidFill>
            </a:endParaRPr>
          </a:p>
          <a:p>
            <a:r>
              <a:rPr lang="en-US" altLang="en-GB">
                <a:solidFill>
                  <a:schemeClr val="bg1"/>
                </a:solidFill>
              </a:rPr>
              <a:t>1</a:t>
            </a:r>
            <a:endParaRPr lang="en-US" altLang="en-GB">
              <a:solidFill>
                <a:schemeClr val="bg1"/>
              </a:solidFill>
            </a:endParaRPr>
          </a:p>
          <a:p>
            <a:endParaRPr lang="en-US" altLang="en-GB"/>
          </a:p>
          <a:p>
            <a:endParaRPr lang="en-US" altLang="en-GB">
              <a:solidFill>
                <a:schemeClr val="bg1"/>
              </a:solidFill>
            </a:endParaRPr>
          </a:p>
        </p:txBody>
      </p:sp>
      <p:sp>
        <p:nvSpPr>
          <p:cNvPr id="10" name="Text Box 9"/>
          <p:cNvSpPr txBox="1"/>
          <p:nvPr/>
        </p:nvSpPr>
        <p:spPr>
          <a:xfrm>
            <a:off x="6816725" y="255905"/>
            <a:ext cx="2306955" cy="2861310"/>
          </a:xfrm>
          <a:prstGeom prst="rect">
            <a:avLst/>
          </a:prstGeom>
          <a:noFill/>
        </p:spPr>
        <p:txBody>
          <a:bodyPr wrap="square" rtlCol="0">
            <a:spAutoFit/>
          </a:bodyPr>
          <a:p>
            <a:r>
              <a:rPr lang="en-US" altLang="en-GB" b="1">
                <a:solidFill>
                  <a:srgbClr val="FFFF00"/>
                </a:solidFill>
                <a:sym typeface="+mn-ea"/>
              </a:rPr>
              <a:t>Byte</a:t>
            </a:r>
            <a:endParaRPr lang="en-US" altLang="en-GB" b="1">
              <a:solidFill>
                <a:srgbClr val="FFFF00"/>
              </a:solidFill>
            </a:endParaRPr>
          </a:p>
          <a:p>
            <a:endParaRPr lang="en-US" altLang="en-GB"/>
          </a:p>
          <a:p>
            <a:r>
              <a:rPr lang="en-US" altLang="en-GB">
                <a:solidFill>
                  <a:schemeClr val="bg1"/>
                </a:solidFill>
                <a:sym typeface="+mn-ea"/>
              </a:rPr>
              <a:t>8 bits together.</a:t>
            </a:r>
            <a:endParaRPr lang="en-US" altLang="en-GB">
              <a:solidFill>
                <a:schemeClr val="bg1"/>
              </a:solidFill>
            </a:endParaRPr>
          </a:p>
          <a:p>
            <a:endParaRPr lang="en-US" altLang="en-GB">
              <a:solidFill>
                <a:schemeClr val="bg1"/>
              </a:solidFill>
            </a:endParaRPr>
          </a:p>
          <a:p>
            <a:r>
              <a:rPr lang="en-US" altLang="en-GB">
                <a:solidFill>
                  <a:schemeClr val="bg1"/>
                </a:solidFill>
                <a:sym typeface="+mn-ea"/>
              </a:rPr>
              <a:t>Example:</a:t>
            </a:r>
            <a:endParaRPr lang="en-US" altLang="en-GB">
              <a:solidFill>
                <a:schemeClr val="bg1"/>
              </a:solidFill>
            </a:endParaRPr>
          </a:p>
          <a:p>
            <a:endParaRPr lang="en-US" altLang="en-GB">
              <a:solidFill>
                <a:schemeClr val="bg1"/>
              </a:solidFill>
            </a:endParaRPr>
          </a:p>
          <a:p>
            <a:r>
              <a:rPr lang="en-US" altLang="en-GB">
                <a:solidFill>
                  <a:schemeClr val="bg1"/>
                </a:solidFill>
                <a:sym typeface="+mn-ea"/>
              </a:rPr>
              <a:t>11001010</a:t>
            </a:r>
            <a:endParaRPr lang="en-US" altLang="en-GB">
              <a:solidFill>
                <a:schemeClr val="bg1"/>
              </a:solidFill>
            </a:endParaRPr>
          </a:p>
          <a:p>
            <a:endParaRPr lang="en-US" altLang="en-GB">
              <a:solidFill>
                <a:schemeClr val="bg1"/>
              </a:solidFill>
            </a:endParaRPr>
          </a:p>
          <a:p>
            <a:r>
              <a:rPr lang="en-US" altLang="en-GB">
                <a:solidFill>
                  <a:schemeClr val="bg1"/>
                </a:solidFill>
                <a:sym typeface="+mn-ea"/>
              </a:rPr>
              <a:t>1 Byte = 8 Bits</a:t>
            </a:r>
            <a:endParaRPr lang="en-US" altLang="en-GB">
              <a:solidFill>
                <a:schemeClr val="bg1"/>
              </a:solidFill>
            </a:endParaRPr>
          </a:p>
          <a:p>
            <a:endParaRPr lang="en-US" altLang="en-GB">
              <a:solidFill>
                <a:schemeClr val="bg1"/>
              </a:solidFill>
            </a:endParaRPr>
          </a:p>
        </p:txBody>
      </p:sp>
      <p:sp>
        <p:nvSpPr>
          <p:cNvPr id="17" name="Text Box 16"/>
          <p:cNvSpPr txBox="1"/>
          <p:nvPr/>
        </p:nvSpPr>
        <p:spPr>
          <a:xfrm>
            <a:off x="224155" y="4694555"/>
            <a:ext cx="6434455" cy="1943100"/>
          </a:xfrm>
          <a:prstGeom prst="rect">
            <a:avLst/>
          </a:prstGeom>
          <a:noFill/>
        </p:spPr>
        <p:txBody>
          <a:bodyPr wrap="square" rtlCol="0">
            <a:noAutofit/>
          </a:bodyPr>
          <a:p>
            <a:r>
              <a:rPr lang="en-US" altLang="en-GB" b="1">
                <a:solidFill>
                  <a:srgbClr val="FFFF00"/>
                </a:solidFill>
              </a:rPr>
              <a:t>Why Are Bytes Important? </a:t>
            </a:r>
            <a:endParaRPr lang="en-US" altLang="en-GB" b="1">
              <a:solidFill>
                <a:srgbClr val="FFFF00"/>
              </a:solidFill>
            </a:endParaRPr>
          </a:p>
          <a:p>
            <a:r>
              <a:rPr lang="en-US" altLang="en-GB" b="1">
                <a:solidFill>
                  <a:srgbClr val="FFFF00"/>
                </a:solidFill>
              </a:rPr>
              <a:t>Computers measure storage using bytes.</a:t>
            </a:r>
            <a:endParaRPr lang="en-US" altLang="en-GB" b="1">
              <a:solidFill>
                <a:srgbClr val="FFFF00"/>
              </a:solidFill>
            </a:endParaRPr>
          </a:p>
          <a:p>
            <a:r>
              <a:rPr lang="en-US" altLang="en-GB" b="1">
                <a:solidFill>
                  <a:srgbClr val="FFFF00"/>
                </a:solidFill>
              </a:rPr>
              <a:t>Examples:</a:t>
            </a:r>
            <a:endParaRPr lang="en-US" altLang="en-GB" b="1">
              <a:solidFill>
                <a:srgbClr val="FFFF00"/>
              </a:solidFill>
            </a:endParaRPr>
          </a:p>
          <a:p>
            <a:r>
              <a:rPr lang="en-US" altLang="en-GB">
                <a:solidFill>
                  <a:schemeClr val="bg1"/>
                </a:solidFill>
              </a:rPr>
              <a:t>1 Byte = 8 bits</a:t>
            </a:r>
            <a:endParaRPr lang="en-US" altLang="en-GB">
              <a:solidFill>
                <a:schemeClr val="bg1"/>
              </a:solidFill>
            </a:endParaRPr>
          </a:p>
          <a:p>
            <a:r>
              <a:rPr lang="en-US" altLang="en-GB">
                <a:solidFill>
                  <a:schemeClr val="bg1"/>
                </a:solidFill>
              </a:rPr>
              <a:t>1 Kilobyte (KB) ≈ 1,024 bytes</a:t>
            </a:r>
            <a:endParaRPr lang="en-US" altLang="en-GB">
              <a:solidFill>
                <a:schemeClr val="bg1"/>
              </a:solidFill>
            </a:endParaRPr>
          </a:p>
          <a:p>
            <a:r>
              <a:rPr lang="en-US" altLang="en-GB">
                <a:solidFill>
                  <a:schemeClr val="bg1"/>
                </a:solidFill>
              </a:rPr>
              <a:t>1 Megabyte (MB) ≈ 1,024 KB</a:t>
            </a:r>
            <a:endParaRPr lang="en-US" altLang="en-GB">
              <a:solidFill>
                <a:schemeClr val="bg1"/>
              </a:solidFill>
            </a:endParaRPr>
          </a:p>
          <a:p>
            <a:r>
              <a:rPr lang="en-US" altLang="en-GB">
                <a:solidFill>
                  <a:schemeClr val="bg1"/>
                </a:solidFill>
              </a:rPr>
              <a:t>1 Gigabyte (GB) ≈ 1,024 MB</a:t>
            </a:r>
            <a:endParaRPr lang="en-US" altLang="en-GB">
              <a:solidFill>
                <a:schemeClr val="bg1"/>
              </a:solidFill>
            </a:endParaRPr>
          </a:p>
        </p:txBody>
      </p:sp>
      <p:sp>
        <p:nvSpPr>
          <p:cNvPr id="13" name="Text Box 12"/>
          <p:cNvSpPr txBox="1"/>
          <p:nvPr/>
        </p:nvSpPr>
        <p:spPr>
          <a:xfrm>
            <a:off x="9123680" y="604520"/>
            <a:ext cx="1259840" cy="2306955"/>
          </a:xfrm>
          <a:prstGeom prst="rect">
            <a:avLst/>
          </a:prstGeom>
          <a:noFill/>
        </p:spPr>
        <p:txBody>
          <a:bodyPr wrap="square" rtlCol="0">
            <a:spAutoFit/>
          </a:bodyPr>
          <a:p>
            <a:r>
              <a:rPr lang="en-US" altLang="en-GB" b="1">
                <a:solidFill>
                  <a:srgbClr val="FFFF00"/>
                </a:solidFill>
                <a:sym typeface="+mn-ea"/>
              </a:rPr>
              <a:t>Nibble</a:t>
            </a:r>
            <a:endParaRPr lang="en-US" altLang="en-GB" b="1">
              <a:solidFill>
                <a:srgbClr val="FFFF00"/>
              </a:solidFill>
            </a:endParaRPr>
          </a:p>
          <a:p>
            <a:endParaRPr lang="en-US" altLang="en-GB"/>
          </a:p>
          <a:p>
            <a:r>
              <a:rPr lang="en-US" altLang="en-GB">
                <a:solidFill>
                  <a:schemeClr val="bg1"/>
                </a:solidFill>
                <a:sym typeface="+mn-ea"/>
              </a:rPr>
              <a:t>4 bits.</a:t>
            </a:r>
            <a:endParaRPr lang="en-US" altLang="en-GB">
              <a:solidFill>
                <a:schemeClr val="bg1"/>
              </a:solidFill>
            </a:endParaRPr>
          </a:p>
          <a:p>
            <a:endParaRPr lang="en-US" altLang="en-GB">
              <a:solidFill>
                <a:schemeClr val="bg1"/>
              </a:solidFill>
            </a:endParaRPr>
          </a:p>
          <a:p>
            <a:r>
              <a:rPr lang="en-US" altLang="en-GB">
                <a:solidFill>
                  <a:schemeClr val="bg1"/>
                </a:solidFill>
                <a:sym typeface="+mn-ea"/>
              </a:rPr>
              <a:t>Example:</a:t>
            </a:r>
            <a:endParaRPr lang="en-US" altLang="en-GB">
              <a:solidFill>
                <a:schemeClr val="bg1"/>
              </a:solidFill>
            </a:endParaRPr>
          </a:p>
          <a:p>
            <a:endParaRPr lang="en-US" altLang="en-GB">
              <a:solidFill>
                <a:schemeClr val="bg1"/>
              </a:solidFill>
            </a:endParaRPr>
          </a:p>
          <a:p>
            <a:r>
              <a:rPr lang="en-US" altLang="en-GB">
                <a:solidFill>
                  <a:schemeClr val="bg1"/>
                </a:solidFill>
                <a:sym typeface="+mn-ea"/>
              </a:rPr>
              <a:t>1010</a:t>
            </a:r>
            <a:endParaRPr lang="en-US" altLang="en-GB">
              <a:solidFill>
                <a:schemeClr val="bg1"/>
              </a:solidFill>
            </a:endParaRPr>
          </a:p>
          <a:p>
            <a:endParaRPr lang="en-GB" altLang="en-US"/>
          </a:p>
        </p:txBody>
      </p:sp>
      <p:sp>
        <p:nvSpPr>
          <p:cNvPr id="16" name="Text Box 15"/>
          <p:cNvSpPr txBox="1"/>
          <p:nvPr/>
        </p:nvSpPr>
        <p:spPr>
          <a:xfrm>
            <a:off x="4632325" y="3853180"/>
            <a:ext cx="3291205" cy="2873375"/>
          </a:xfrm>
          <a:prstGeom prst="rect">
            <a:avLst/>
          </a:prstGeom>
          <a:noFill/>
        </p:spPr>
        <p:txBody>
          <a:bodyPr wrap="square" rtlCol="0">
            <a:noAutofit/>
          </a:bodyPr>
          <a:p>
            <a:r>
              <a:rPr lang="en-US" altLang="en-GB">
                <a:solidFill>
                  <a:srgbClr val="FFFF00"/>
                </a:solidFill>
              </a:rPr>
              <a:t>5. What Can One Byte Store?</a:t>
            </a:r>
            <a:endParaRPr lang="en-US" altLang="en-GB">
              <a:solidFill>
                <a:srgbClr val="FFFF00"/>
              </a:solidFill>
            </a:endParaRPr>
          </a:p>
          <a:p>
            <a:endParaRPr lang="en-US" altLang="en-GB">
              <a:solidFill>
                <a:schemeClr val="bg1"/>
              </a:solidFill>
            </a:endParaRPr>
          </a:p>
          <a:p>
            <a:r>
              <a:rPr lang="en-US" altLang="en-GB">
                <a:solidFill>
                  <a:schemeClr val="bg1"/>
                </a:solidFill>
              </a:rPr>
              <a:t>One byte can represent:</a:t>
            </a:r>
            <a:endParaRPr lang="en-US" altLang="en-GB">
              <a:solidFill>
                <a:schemeClr val="bg1"/>
              </a:solidFill>
            </a:endParaRPr>
          </a:p>
          <a:p>
            <a:endParaRPr lang="en-US" altLang="en-GB">
              <a:solidFill>
                <a:schemeClr val="bg1"/>
              </a:solidFill>
            </a:endParaRPr>
          </a:p>
          <a:p>
            <a:r>
              <a:rPr lang="en-US" altLang="en-GB">
                <a:solidFill>
                  <a:schemeClr val="bg1"/>
                </a:solidFill>
              </a:rPr>
              <a:t>A letter</a:t>
            </a:r>
            <a:endParaRPr lang="en-US" altLang="en-GB">
              <a:solidFill>
                <a:schemeClr val="bg1"/>
              </a:solidFill>
            </a:endParaRPr>
          </a:p>
          <a:p>
            <a:r>
              <a:rPr lang="en-US" altLang="en-GB">
                <a:solidFill>
                  <a:schemeClr val="bg1"/>
                </a:solidFill>
              </a:rPr>
              <a:t>A number</a:t>
            </a:r>
            <a:endParaRPr lang="en-US" altLang="en-GB">
              <a:solidFill>
                <a:schemeClr val="bg1"/>
              </a:solidFill>
            </a:endParaRPr>
          </a:p>
          <a:p>
            <a:r>
              <a:rPr lang="en-US" altLang="en-GB">
                <a:solidFill>
                  <a:schemeClr val="bg1"/>
                </a:solidFill>
              </a:rPr>
              <a:t>A symbol</a:t>
            </a:r>
            <a:endParaRPr lang="en-US" altLang="en-GB">
              <a:solidFill>
                <a:schemeClr val="bg1"/>
              </a:solidFill>
            </a:endParaRPr>
          </a:p>
          <a:p>
            <a:endParaRPr lang="en-US" altLang="en-GB"/>
          </a:p>
          <a:p>
            <a:endParaRPr lang="en-US" altLang="en-GB"/>
          </a:p>
        </p:txBody>
      </p:sp>
      <p:sp>
        <p:nvSpPr>
          <p:cNvPr id="18" name="Text Box 17"/>
          <p:cNvSpPr txBox="1"/>
          <p:nvPr/>
        </p:nvSpPr>
        <p:spPr>
          <a:xfrm>
            <a:off x="8249920" y="3853180"/>
            <a:ext cx="3322320" cy="2628265"/>
          </a:xfrm>
          <a:prstGeom prst="rect">
            <a:avLst/>
          </a:prstGeom>
          <a:noFill/>
        </p:spPr>
        <p:txBody>
          <a:bodyPr wrap="square" rtlCol="0">
            <a:noAutofit/>
          </a:bodyPr>
          <a:p>
            <a:r>
              <a:rPr lang="en-US" altLang="en-GB">
                <a:solidFill>
                  <a:srgbClr val="FFFF00"/>
                </a:solidFill>
                <a:sym typeface="+mn-ea"/>
              </a:rPr>
              <a:t>For example:</a:t>
            </a:r>
            <a:endParaRPr lang="en-US" altLang="en-GB">
              <a:solidFill>
                <a:srgbClr val="FFFF00"/>
              </a:solidFill>
            </a:endParaRPr>
          </a:p>
          <a:p>
            <a:endParaRPr lang="en-US" altLang="en-GB">
              <a:solidFill>
                <a:schemeClr val="bg1"/>
              </a:solidFill>
            </a:endParaRPr>
          </a:p>
          <a:p>
            <a:r>
              <a:rPr lang="en-US" altLang="en-GB">
                <a:solidFill>
                  <a:schemeClr val="bg1"/>
                </a:solidFill>
                <a:sym typeface="+mn-ea"/>
              </a:rPr>
              <a:t>Character	Binary</a:t>
            </a:r>
            <a:endParaRPr lang="en-US" altLang="en-GB">
              <a:solidFill>
                <a:schemeClr val="bg1"/>
              </a:solidFill>
            </a:endParaRPr>
          </a:p>
          <a:p>
            <a:r>
              <a:rPr lang="en-US" altLang="en-GB">
                <a:solidFill>
                  <a:schemeClr val="bg1"/>
                </a:solidFill>
                <a:sym typeface="+mn-ea"/>
              </a:rPr>
              <a:t>A	01000001</a:t>
            </a:r>
            <a:endParaRPr lang="en-US" altLang="en-GB">
              <a:solidFill>
                <a:schemeClr val="bg1"/>
              </a:solidFill>
            </a:endParaRPr>
          </a:p>
          <a:p>
            <a:r>
              <a:rPr lang="en-US" altLang="en-GB">
                <a:solidFill>
                  <a:schemeClr val="bg1"/>
                </a:solidFill>
                <a:sym typeface="+mn-ea"/>
              </a:rPr>
              <a:t>B	01000010</a:t>
            </a:r>
            <a:endParaRPr lang="en-US" altLang="en-GB">
              <a:solidFill>
                <a:schemeClr val="bg1"/>
              </a:solidFill>
            </a:endParaRPr>
          </a:p>
          <a:p>
            <a:r>
              <a:rPr lang="en-US" altLang="en-GB">
                <a:solidFill>
                  <a:schemeClr val="bg1"/>
                </a:solidFill>
                <a:sym typeface="+mn-ea"/>
              </a:rPr>
              <a:t>C	01000011</a:t>
            </a:r>
            <a:endParaRPr lang="en-US" altLang="en-GB">
              <a:solidFill>
                <a:schemeClr val="bg1"/>
              </a:solidFill>
            </a:endParaRPr>
          </a:p>
          <a:p>
            <a:endParaRPr lang="en-US" altLang="en-GB">
              <a:solidFill>
                <a:schemeClr val="bg1"/>
              </a:solidFill>
            </a:endParaRPr>
          </a:p>
          <a:p>
            <a:r>
              <a:rPr lang="en-US" altLang="en-GB">
                <a:solidFill>
                  <a:schemeClr val="bg1"/>
                </a:solidFill>
                <a:sym typeface="+mn-ea"/>
              </a:rPr>
              <a:t>The computer stores letters as binary numbers.</a:t>
            </a:r>
            <a:endParaRPr lang="en-US" altLang="en-GB">
              <a:solidFill>
                <a:schemeClr val="bg1"/>
              </a:solidFill>
            </a:endParaRPr>
          </a:p>
          <a:p>
            <a:endParaRPr lang="en-US" altLang="en-GB">
              <a:solidFill>
                <a:schemeClr val="bg1"/>
              </a:solidFill>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p:sp>
        <p:nvSpPr>
          <p:cNvPr id="4" name="Text Box 3"/>
          <p:cNvSpPr txBox="1"/>
          <p:nvPr/>
        </p:nvSpPr>
        <p:spPr>
          <a:xfrm>
            <a:off x="202565" y="182880"/>
            <a:ext cx="11597640" cy="6537960"/>
          </a:xfrm>
          <a:prstGeom prst="rect">
            <a:avLst/>
          </a:prstGeom>
          <a:noFill/>
        </p:spPr>
        <p:txBody>
          <a:bodyPr wrap="square" rtlCol="0">
            <a:noAutofit/>
          </a:bodyPr>
          <a:p>
            <a:r>
              <a:rPr lang="en-US" altLang="en-GB" b="1">
                <a:solidFill>
                  <a:srgbClr val="FFFF00"/>
                </a:solidFill>
              </a:rPr>
              <a:t>REVERSE THE ENGINE: BINARY DECIMALS TO BASE-10</a:t>
            </a:r>
            <a:endParaRPr lang="en-US" altLang="en-GB" b="1">
              <a:solidFill>
                <a:srgbClr val="FFFF00"/>
              </a:solidFill>
            </a:endParaRPr>
          </a:p>
          <a:p>
            <a:endParaRPr lang="en-US" altLang="en-GB"/>
          </a:p>
          <a:p>
            <a:r>
              <a:rPr lang="en-US" altLang="en-GB">
                <a:solidFill>
                  <a:srgbClr val="FFFF00"/>
                </a:solidFill>
              </a:rPr>
              <a:t>The Golden Rule: </a:t>
            </a:r>
            <a:r>
              <a:rPr lang="en-US" altLang="en-GB">
                <a:solidFill>
                  <a:schemeClr val="bg1"/>
                </a:solidFill>
              </a:rPr>
              <a:t>"Just Add the ON Switches"</a:t>
            </a:r>
            <a:endParaRPr lang="en-US" altLang="en-GB">
              <a:solidFill>
                <a:schemeClr val="bg1"/>
              </a:solidFill>
            </a:endParaRPr>
          </a:p>
          <a:p>
            <a:r>
              <a:rPr lang="en-US" altLang="en-GB">
                <a:solidFill>
                  <a:schemeClr val="bg1"/>
                </a:solidFill>
              </a:rPr>
              <a:t>Every digit in a binary number sits in a specific "slot," and each slot has a fixed numerical value. </a:t>
            </a:r>
            <a:endParaRPr lang="en-US" altLang="en-GB">
              <a:solidFill>
                <a:schemeClr val="bg1"/>
              </a:solidFill>
            </a:endParaRPr>
          </a:p>
          <a:p>
            <a:r>
              <a:rPr lang="en-US" altLang="en-GB">
                <a:solidFill>
                  <a:schemeClr val="bg1"/>
                </a:solidFill>
              </a:rPr>
              <a:t> </a:t>
            </a:r>
            <a:endParaRPr lang="en-US" altLang="en-GB">
              <a:solidFill>
                <a:schemeClr val="bg1"/>
              </a:solidFill>
            </a:endParaRPr>
          </a:p>
          <a:p>
            <a:endParaRPr lang="en-US" altLang="en-GB">
              <a:solidFill>
                <a:schemeClr val="bg1"/>
              </a:solidFill>
            </a:endParaRPr>
          </a:p>
          <a:p>
            <a:r>
              <a:rPr lang="en-US" altLang="en-GB">
                <a:solidFill>
                  <a:schemeClr val="bg1"/>
                </a:solidFill>
              </a:rPr>
              <a:t>If a slot has a 1 (ON), that value is active. You drop it down to add it.</a:t>
            </a:r>
            <a:endParaRPr lang="en-US" altLang="en-GB">
              <a:solidFill>
                <a:schemeClr val="bg1"/>
              </a:solidFill>
            </a:endParaRPr>
          </a:p>
          <a:p>
            <a:r>
              <a:rPr lang="en-US" altLang="en-GB">
                <a:solidFill>
                  <a:schemeClr val="bg1"/>
                </a:solidFill>
              </a:rPr>
              <a:t>If a slot has a 0 (OFF), that value is dead. You completely ignore it.</a:t>
            </a:r>
            <a:endParaRPr lang="en-US" altLang="en-GB">
              <a:solidFill>
                <a:schemeClr val="bg1"/>
              </a:solidFill>
            </a:endParaRPr>
          </a:p>
          <a:p>
            <a:endParaRPr lang="en-US" altLang="en-GB">
              <a:solidFill>
                <a:schemeClr val="bg1"/>
              </a:solidFill>
            </a:endParaRPr>
          </a:p>
          <a:p>
            <a:r>
              <a:rPr lang="en-US" altLang="en-GB">
                <a:solidFill>
                  <a:srgbClr val="FFFF00"/>
                </a:solidFill>
              </a:rPr>
              <a:t>Let's convert the binary byte 00001101</a:t>
            </a:r>
            <a:r>
              <a:rPr lang="en-US" altLang="en-GB">
                <a:solidFill>
                  <a:schemeClr val="bg1"/>
                </a:solidFill>
              </a:rPr>
              <a:t> back to a normal whole number.</a:t>
            </a:r>
            <a:endParaRPr lang="en-US" altLang="en-GB">
              <a:solidFill>
                <a:schemeClr val="bg1"/>
              </a:solidFill>
            </a:endParaRPr>
          </a:p>
          <a:p>
            <a:endParaRPr lang="en-US" altLang="en-GB">
              <a:solidFill>
                <a:schemeClr val="bg1"/>
              </a:solidFill>
            </a:endParaRPr>
          </a:p>
          <a:p>
            <a:r>
              <a:rPr lang="en-US" altLang="en-GB">
                <a:solidFill>
                  <a:schemeClr val="bg1"/>
                </a:solidFill>
              </a:rPr>
              <a:t>Step 1: Draw Your 8-Bit Grid</a:t>
            </a:r>
            <a:endParaRPr lang="en-US" altLang="en-GB">
              <a:solidFill>
                <a:schemeClr val="bg1"/>
              </a:solidFill>
            </a:endParaRPr>
          </a:p>
          <a:p>
            <a:r>
              <a:rPr lang="en-US" altLang="en-GB">
                <a:solidFill>
                  <a:schemeClr val="bg1"/>
                </a:solidFill>
              </a:rPr>
              <a:t>Write out the standard 8 positional values from left to right, starting from 128 all the way down to 1.</a:t>
            </a:r>
            <a:endParaRPr lang="en-US" altLang="en-GB">
              <a:solidFill>
                <a:schemeClr val="bg1"/>
              </a:solidFill>
            </a:endParaRPr>
          </a:p>
          <a:p>
            <a:endParaRPr lang="en-US" altLang="en-GB"/>
          </a:p>
          <a:p>
            <a:endParaRPr lang="en-US" altLang="en-GB"/>
          </a:p>
          <a:p>
            <a:endParaRPr lang="en-US" altLang="en-GB"/>
          </a:p>
          <a:p>
            <a:r>
              <a:rPr lang="en-US" altLang="en-GB"/>
              <a:t> </a:t>
            </a:r>
            <a:endParaRPr lang="en-US" altLang="en-GB"/>
          </a:p>
        </p:txBody>
      </p:sp>
      <p:graphicFrame>
        <p:nvGraphicFramePr>
          <p:cNvPr id="5" name="Table 4"/>
          <p:cNvGraphicFramePr/>
          <p:nvPr>
            <p:custDataLst>
              <p:tags r:id="rId1"/>
            </p:custDataLst>
          </p:nvPr>
        </p:nvGraphicFramePr>
        <p:xfrm>
          <a:off x="6987540" y="1547495"/>
          <a:ext cx="2887980" cy="1189990"/>
        </p:xfrm>
        <a:graphic>
          <a:graphicData uri="http://schemas.openxmlformats.org/drawingml/2006/table">
            <a:tbl>
              <a:tblPr firstRow="1" bandRow="1">
                <a:tableStyleId>{5C22544A-7EE6-4342-B048-85BDC9FD1C3A}</a:tableStyleId>
              </a:tblPr>
              <a:tblGrid>
                <a:gridCol w="1443990"/>
                <a:gridCol w="1443990"/>
              </a:tblGrid>
              <a:tr h="388620">
                <a:tc>
                  <a:txBody>
                    <a:bodyPr/>
                    <a:p>
                      <a:r>
                        <a:rPr lang="en-US" altLang="zh-CN" sz="2800">
                          <a:solidFill>
                            <a:schemeClr val="bg1"/>
                          </a:solidFill>
                        </a:rPr>
                        <a:t>Switch</a:t>
                      </a:r>
                      <a:endParaRPr lang="en-US" altLang="zh-CN" sz="2800">
                        <a:solidFill>
                          <a:schemeClr val="bg1"/>
                        </a:solidFill>
                      </a:endParaRPr>
                    </a:p>
                  </a:txBody>
                  <a:tcPr marL="0" marR="0" marT="0" marB="0" anchor="ctr" anchorCtr="0">
                    <a:solidFill>
                      <a:srgbClr val="90293D"/>
                    </a:solidFill>
                  </a:tcPr>
                </a:tc>
                <a:tc>
                  <a:txBody>
                    <a:bodyPr/>
                    <a:p>
                      <a:r>
                        <a:rPr lang="en-US" sz="2800">
                          <a:solidFill>
                            <a:schemeClr val="bg1"/>
                          </a:solidFill>
                        </a:rPr>
                        <a:t>Binary</a:t>
                      </a:r>
                      <a:endParaRPr lang="en-US" sz="2800">
                        <a:solidFill>
                          <a:schemeClr val="bg1"/>
                        </a:solidFill>
                      </a:endParaRPr>
                    </a:p>
                  </a:txBody>
                  <a:tcPr marL="0" marR="0" marT="0" marB="0" anchor="ctr" anchorCtr="0">
                    <a:solidFill>
                      <a:srgbClr val="90293D"/>
                    </a:solidFill>
                  </a:tcPr>
                </a:tc>
              </a:tr>
              <a:tr h="381635">
                <a:tc>
                  <a:txBody>
                    <a:bodyPr/>
                    <a:p>
                      <a:pPr>
                        <a:buNone/>
                      </a:pPr>
                      <a:r>
                        <a:rPr lang="en-US" altLang="en-GB">
                          <a:solidFill>
                            <a:schemeClr val="bg1"/>
                          </a:solidFill>
                        </a:rPr>
                        <a:t>ON</a:t>
                      </a:r>
                      <a:endParaRPr lang="en-US" altLang="en-GB">
                        <a:solidFill>
                          <a:schemeClr val="bg1"/>
                        </a:solidFill>
                      </a:endParaRPr>
                    </a:p>
                  </a:txBody>
                  <a:tcPr anchor="ctr" anchorCtr="0">
                    <a:solidFill>
                      <a:srgbClr val="90293D"/>
                    </a:solidFill>
                  </a:tcPr>
                </a:tc>
                <a:tc>
                  <a:txBody>
                    <a:bodyPr/>
                    <a:p>
                      <a:pPr>
                        <a:buNone/>
                      </a:pPr>
                      <a:r>
                        <a:rPr lang="en-US" altLang="en-GB">
                          <a:solidFill>
                            <a:schemeClr val="bg1"/>
                          </a:solidFill>
                        </a:rPr>
                        <a:t>1</a:t>
                      </a:r>
                      <a:endParaRPr lang="en-US" altLang="en-GB">
                        <a:solidFill>
                          <a:schemeClr val="bg1"/>
                        </a:solidFill>
                      </a:endParaRPr>
                    </a:p>
                  </a:txBody>
                  <a:tcPr anchor="ctr" anchorCtr="0">
                    <a:solidFill>
                      <a:srgbClr val="90293D"/>
                    </a:solidFill>
                  </a:tcPr>
                </a:tc>
              </a:tr>
              <a:tr h="381635">
                <a:tc>
                  <a:txBody>
                    <a:bodyPr/>
                    <a:p>
                      <a:pPr>
                        <a:buNone/>
                      </a:pPr>
                      <a:r>
                        <a:rPr lang="en-US" altLang="en-GB">
                          <a:solidFill>
                            <a:schemeClr val="bg1"/>
                          </a:solidFill>
                        </a:rPr>
                        <a:t>OFF</a:t>
                      </a:r>
                      <a:endParaRPr lang="en-US" altLang="en-GB">
                        <a:solidFill>
                          <a:schemeClr val="bg1"/>
                        </a:solidFill>
                      </a:endParaRPr>
                    </a:p>
                  </a:txBody>
                  <a:tcPr anchor="ctr" anchorCtr="0">
                    <a:solidFill>
                      <a:srgbClr val="90293D"/>
                    </a:solidFill>
                  </a:tcPr>
                </a:tc>
                <a:tc>
                  <a:txBody>
                    <a:bodyPr/>
                    <a:p>
                      <a:pPr>
                        <a:buNone/>
                      </a:pPr>
                      <a:r>
                        <a:rPr lang="en-US" altLang="en-GB">
                          <a:solidFill>
                            <a:schemeClr val="bg1"/>
                          </a:solidFill>
                        </a:rPr>
                        <a:t>0</a:t>
                      </a:r>
                      <a:endParaRPr lang="en-US" altLang="en-GB">
                        <a:solidFill>
                          <a:schemeClr val="bg1"/>
                        </a:solidFill>
                      </a:endParaRPr>
                    </a:p>
                  </a:txBody>
                  <a:tcPr anchor="ctr" anchorCtr="0">
                    <a:solidFill>
                      <a:srgbClr val="90293D"/>
                    </a:solidFill>
                  </a:tcPr>
                </a:tc>
              </a:tr>
            </a:tbl>
          </a:graphicData>
        </a:graphic>
      </p:graphicFrame>
      <p:graphicFrame>
        <p:nvGraphicFramePr>
          <p:cNvPr id="9" name="Table 8"/>
          <p:cNvGraphicFramePr/>
          <p:nvPr/>
        </p:nvGraphicFramePr>
        <p:xfrm>
          <a:off x="1595120" y="4043680"/>
          <a:ext cx="8533765" cy="762000"/>
        </p:xfrm>
        <a:graphic>
          <a:graphicData uri="http://schemas.openxmlformats.org/drawingml/2006/table">
            <a:tbl>
              <a:tblPr firstRow="1" bandRow="1">
                <a:tableStyleId>{5C22544A-7EE6-4342-B048-85BDC9FD1C3A}</a:tableStyleId>
              </a:tblPr>
              <a:tblGrid>
                <a:gridCol w="852805"/>
                <a:gridCol w="852805"/>
                <a:gridCol w="852805"/>
                <a:gridCol w="852805"/>
                <a:gridCol w="852805"/>
                <a:gridCol w="852805"/>
                <a:gridCol w="852805"/>
                <a:gridCol w="852805"/>
              </a:tblGrid>
              <a:tr h="381000">
                <a:tc>
                  <a:txBody>
                    <a:bodyPr/>
                    <a:p>
                      <a:pPr>
                        <a:buNone/>
                      </a:pPr>
                      <a:r>
                        <a:rPr lang="en-US" altLang="en-GB"/>
                        <a:t>128</a:t>
                      </a:r>
                      <a:endParaRPr lang="en-US" altLang="en-GB"/>
                    </a:p>
                  </a:txBody>
                  <a:tcPr/>
                </a:tc>
                <a:tc>
                  <a:txBody>
                    <a:bodyPr/>
                    <a:p>
                      <a:pPr>
                        <a:buNone/>
                      </a:pPr>
                      <a:r>
                        <a:rPr lang="en-US" altLang="en-GB"/>
                        <a:t>64</a:t>
                      </a:r>
                      <a:endParaRPr lang="en-US" altLang="en-GB"/>
                    </a:p>
                  </a:txBody>
                  <a:tcPr/>
                </a:tc>
                <a:tc>
                  <a:txBody>
                    <a:bodyPr/>
                    <a:p>
                      <a:pPr>
                        <a:buNone/>
                      </a:pPr>
                      <a:r>
                        <a:rPr lang="en-US" altLang="en-GB"/>
                        <a:t>32</a:t>
                      </a:r>
                      <a:endParaRPr lang="en-US" altLang="en-GB"/>
                    </a:p>
                  </a:txBody>
                  <a:tcPr/>
                </a:tc>
                <a:tc>
                  <a:txBody>
                    <a:bodyPr/>
                    <a:p>
                      <a:pPr>
                        <a:buNone/>
                      </a:pPr>
                      <a:r>
                        <a:rPr lang="en-US" altLang="en-GB"/>
                        <a:t>16</a:t>
                      </a:r>
                      <a:endParaRPr lang="en-US" altLang="en-GB"/>
                    </a:p>
                  </a:txBody>
                  <a:tcPr/>
                </a:tc>
                <a:tc>
                  <a:txBody>
                    <a:bodyPr/>
                    <a:p>
                      <a:pPr>
                        <a:buNone/>
                      </a:pPr>
                      <a:r>
                        <a:rPr lang="en-US" altLang="en-GB"/>
                        <a:t>8</a:t>
                      </a:r>
                      <a:endParaRPr lang="en-US" altLang="en-GB"/>
                    </a:p>
                  </a:txBody>
                  <a:tcPr/>
                </a:tc>
                <a:tc>
                  <a:txBody>
                    <a:bodyPr/>
                    <a:p>
                      <a:pPr>
                        <a:buNone/>
                      </a:pPr>
                      <a:r>
                        <a:rPr lang="en-US" altLang="en-GB"/>
                        <a:t>4</a:t>
                      </a:r>
                      <a:endParaRPr lang="en-US" altLang="en-GB"/>
                    </a:p>
                  </a:txBody>
                  <a:tcPr/>
                </a:tc>
                <a:tc>
                  <a:txBody>
                    <a:bodyPr/>
                    <a:p>
                      <a:pPr>
                        <a:buNone/>
                      </a:pPr>
                      <a:r>
                        <a:rPr lang="en-US" altLang="en-GB"/>
                        <a:t>2</a:t>
                      </a:r>
                      <a:endParaRPr lang="en-US" altLang="en-GB"/>
                    </a:p>
                  </a:txBody>
                  <a:tcPr/>
                </a:tc>
                <a:tc>
                  <a:txBody>
                    <a:bodyPr/>
                    <a:p>
                      <a:pPr>
                        <a:buNone/>
                      </a:pPr>
                      <a:r>
                        <a:rPr lang="en-US" altLang="en-GB"/>
                        <a:t>1</a:t>
                      </a:r>
                      <a:endParaRPr lang="en-US" altLang="en-GB"/>
                    </a:p>
                  </a:txBody>
                  <a:tcPr/>
                </a:tc>
              </a:tr>
              <a:tr h="381000">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c>
                  <a:txBody>
                    <a:bodyPr/>
                    <a:p>
                      <a:pPr>
                        <a:buNone/>
                      </a:pPr>
                      <a:endParaRPr lang="en-GB" altLang="en-US"/>
                    </a:p>
                  </a:txBody>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p:sp>
        <p:nvSpPr>
          <p:cNvPr id="6" name="Text Box 5"/>
          <p:cNvSpPr txBox="1"/>
          <p:nvPr/>
        </p:nvSpPr>
        <p:spPr>
          <a:xfrm>
            <a:off x="396875" y="782320"/>
            <a:ext cx="10647045" cy="5911215"/>
          </a:xfrm>
          <a:prstGeom prst="rect">
            <a:avLst/>
          </a:prstGeom>
          <a:noFill/>
        </p:spPr>
        <p:txBody>
          <a:bodyPr wrap="square" rtlCol="0" anchor="t">
            <a:noAutofit/>
          </a:bodyPr>
          <a:p>
            <a:endParaRPr lang="en-US" altLang="en-GB">
              <a:sym typeface="+mn-ea"/>
            </a:endParaRPr>
          </a:p>
        </p:txBody>
      </p:sp>
      <p:sp>
        <p:nvSpPr>
          <p:cNvPr id="7" name="Text Box 6"/>
          <p:cNvSpPr txBox="1"/>
          <p:nvPr/>
        </p:nvSpPr>
        <p:spPr>
          <a:xfrm>
            <a:off x="153035" y="191135"/>
            <a:ext cx="11886565" cy="6475095"/>
          </a:xfrm>
          <a:prstGeom prst="rect">
            <a:avLst/>
          </a:prstGeom>
          <a:noFill/>
        </p:spPr>
        <p:txBody>
          <a:bodyPr wrap="square" rtlCol="0" anchor="t">
            <a:noAutofit/>
          </a:bodyPr>
          <a:p>
            <a:r>
              <a:rPr lang="en-US" altLang="en-GB" b="1">
                <a:solidFill>
                  <a:srgbClr val="FFFF00"/>
                </a:solidFill>
                <a:sym typeface="+mn-ea"/>
              </a:rPr>
              <a:t>Step 2: Slot the Binary Number In</a:t>
            </a:r>
            <a:endParaRPr lang="en-US" altLang="en-GB" b="1">
              <a:solidFill>
                <a:srgbClr val="FFFF00"/>
              </a:solidFill>
            </a:endParaRPr>
          </a:p>
          <a:p>
            <a:r>
              <a:rPr lang="en-US" altLang="en-GB">
                <a:solidFill>
                  <a:schemeClr val="bg1"/>
                </a:solidFill>
                <a:sym typeface="+mn-ea"/>
              </a:rPr>
              <a:t>Place your binary digits directly underneath those values, making sure the right side aligns perfectly.</a:t>
            </a:r>
            <a:endParaRPr lang="en-US" altLang="en-GB">
              <a:solidFill>
                <a:schemeClr val="bg1"/>
              </a:solidFill>
            </a:endParaRPr>
          </a:p>
          <a:p>
            <a:r>
              <a:rPr lang="en-US" altLang="en-GB">
                <a:solidFill>
                  <a:srgbClr val="FFFF00"/>
                </a:solidFill>
                <a:sym typeface="+mn-ea"/>
              </a:rPr>
              <a:t>00001101</a:t>
            </a:r>
            <a:r>
              <a:rPr lang="en-US" altLang="en-GB">
                <a:solidFill>
                  <a:schemeClr val="bg1"/>
                </a:solidFill>
                <a:sym typeface="+mn-ea"/>
              </a:rPr>
              <a:t> </a:t>
            </a:r>
            <a:endParaRPr lang="en-US" altLang="en-GB">
              <a:solidFill>
                <a:schemeClr val="bg1"/>
              </a:solidFill>
            </a:endParaRPr>
          </a:p>
          <a:p>
            <a:endParaRPr lang="en-US" altLang="en-GB">
              <a:solidFill>
                <a:schemeClr val="bg1"/>
              </a:solidFill>
              <a:sym typeface="+mn-ea"/>
            </a:endParaRPr>
          </a:p>
          <a:p>
            <a:endParaRPr lang="en-US" altLang="en-GB">
              <a:solidFill>
                <a:schemeClr val="bg1"/>
              </a:solidFill>
              <a:sym typeface="+mn-ea"/>
            </a:endParaRPr>
          </a:p>
          <a:p>
            <a:endParaRPr lang="en-US" altLang="en-GB">
              <a:solidFill>
                <a:schemeClr val="bg1"/>
              </a:solidFill>
              <a:sym typeface="+mn-ea"/>
            </a:endParaRPr>
          </a:p>
          <a:p>
            <a:endParaRPr lang="en-US" altLang="en-GB">
              <a:solidFill>
                <a:schemeClr val="bg1"/>
              </a:solidFill>
              <a:sym typeface="+mn-ea"/>
            </a:endParaRPr>
          </a:p>
          <a:p>
            <a:endParaRPr lang="en-US" altLang="en-GB">
              <a:solidFill>
                <a:schemeClr val="bg1"/>
              </a:solidFill>
              <a:sym typeface="+mn-ea"/>
            </a:endParaRPr>
          </a:p>
          <a:p>
            <a:r>
              <a:rPr lang="en-US" altLang="en-GB" b="1">
                <a:solidFill>
                  <a:srgbClr val="FFFF00"/>
                </a:solidFill>
                <a:sym typeface="+mn-ea"/>
              </a:rPr>
              <a:t>Step 3: Collect the "ON" Values</a:t>
            </a:r>
            <a:endParaRPr lang="en-US" altLang="en-GB" b="1">
              <a:solidFill>
                <a:srgbClr val="FFFF00"/>
              </a:solidFill>
            </a:endParaRPr>
          </a:p>
          <a:p>
            <a:r>
              <a:rPr lang="en-US" altLang="en-GB">
                <a:solidFill>
                  <a:schemeClr val="bg1"/>
                </a:solidFill>
                <a:sym typeface="+mn-ea"/>
              </a:rPr>
              <a:t>Look across the table. Which columns have a 1 under them?</a:t>
            </a:r>
            <a:endParaRPr lang="en-US" altLang="en-GB">
              <a:solidFill>
                <a:schemeClr val="bg1"/>
              </a:solidFill>
              <a:sym typeface="+mn-ea"/>
            </a:endParaRPr>
          </a:p>
          <a:p>
            <a:r>
              <a:rPr lang="en-US" altLang="en-GB">
                <a:solidFill>
                  <a:srgbClr val="FFFF00"/>
                </a:solidFill>
                <a:sym typeface="+mn-ea"/>
              </a:rPr>
              <a:t> Step 4: Add Them Together</a:t>
            </a:r>
            <a:endParaRPr lang="en-US" altLang="en-GB">
              <a:solidFill>
                <a:srgbClr val="FFFF00"/>
              </a:solidFill>
            </a:endParaRPr>
          </a:p>
          <a:p>
            <a:r>
              <a:rPr lang="en-US" altLang="en-GB">
                <a:solidFill>
                  <a:schemeClr val="bg1"/>
                </a:solidFill>
                <a:sym typeface="+mn-ea"/>
              </a:rPr>
              <a:t>Take those active numbers and add them up like standard math: </a:t>
            </a:r>
            <a:r>
              <a:rPr lang="en-US" altLang="en-GB">
                <a:solidFill>
                  <a:schemeClr val="bg1"/>
                </a:solidFill>
                <a:highlight>
                  <a:srgbClr val="FF00FF"/>
                </a:highlight>
                <a:sym typeface="+mn-ea"/>
              </a:rPr>
              <a:t>1 </a:t>
            </a:r>
            <a:r>
              <a:rPr lang="en-US" altLang="en-GB">
                <a:solidFill>
                  <a:srgbClr val="852736"/>
                </a:solidFill>
                <a:highlight>
                  <a:srgbClr val="FF00FF"/>
                </a:highlight>
                <a:sym typeface="+mn-ea"/>
              </a:rPr>
              <a:t>+</a:t>
            </a:r>
            <a:r>
              <a:rPr lang="en-US" altLang="en-GB">
                <a:solidFill>
                  <a:schemeClr val="bg1"/>
                </a:solidFill>
                <a:highlight>
                  <a:srgbClr val="FF00FF"/>
                </a:highlight>
                <a:sym typeface="+mn-ea"/>
              </a:rPr>
              <a:t> 4 </a:t>
            </a:r>
            <a:r>
              <a:rPr lang="en-US" altLang="en-GB">
                <a:solidFill>
                  <a:srgbClr val="852736"/>
                </a:solidFill>
                <a:highlight>
                  <a:srgbClr val="FF00FF"/>
                </a:highlight>
                <a:sym typeface="+mn-ea"/>
              </a:rPr>
              <a:t>+</a:t>
            </a:r>
            <a:r>
              <a:rPr lang="en-US" altLang="en-GB">
                <a:solidFill>
                  <a:schemeClr val="bg1"/>
                </a:solidFill>
                <a:highlight>
                  <a:srgbClr val="FF00FF"/>
                </a:highlight>
                <a:sym typeface="+mn-ea"/>
              </a:rPr>
              <a:t> 8 =  13</a:t>
            </a:r>
            <a:endParaRPr lang="en-US" altLang="en-GB">
              <a:solidFill>
                <a:schemeClr val="bg1"/>
              </a:solidFill>
              <a:highlight>
                <a:srgbClr val="FF00FF"/>
              </a:highlight>
              <a:sym typeface="+mn-ea"/>
            </a:endParaRPr>
          </a:p>
          <a:p>
            <a:endParaRPr lang="en-US" altLang="en-GB">
              <a:solidFill>
                <a:schemeClr val="bg1"/>
              </a:solidFill>
              <a:highlight>
                <a:srgbClr val="FF00FF"/>
              </a:highlight>
              <a:sym typeface="+mn-ea"/>
            </a:endParaRPr>
          </a:p>
          <a:p>
            <a:endParaRPr lang="en-US" altLang="en-GB">
              <a:solidFill>
                <a:schemeClr val="bg1"/>
              </a:solidFill>
              <a:highlight>
                <a:srgbClr val="FF00FF"/>
              </a:highlight>
              <a:sym typeface="+mn-ea"/>
            </a:endParaRPr>
          </a:p>
          <a:p>
            <a:endParaRPr lang="en-US" altLang="en-GB">
              <a:solidFill>
                <a:schemeClr val="bg1"/>
              </a:solidFill>
              <a:highlight>
                <a:srgbClr val="FF00FF"/>
              </a:highlight>
              <a:sym typeface="+mn-ea"/>
            </a:endParaRPr>
          </a:p>
        </p:txBody>
      </p:sp>
      <p:graphicFrame>
        <p:nvGraphicFramePr>
          <p:cNvPr id="9" name="Table 8"/>
          <p:cNvGraphicFramePr/>
          <p:nvPr/>
        </p:nvGraphicFramePr>
        <p:xfrm>
          <a:off x="325120" y="1219200"/>
          <a:ext cx="8533765" cy="762000"/>
        </p:xfrm>
        <a:graphic>
          <a:graphicData uri="http://schemas.openxmlformats.org/drawingml/2006/table">
            <a:tbl>
              <a:tblPr firstRow="1" bandRow="1">
                <a:tableStyleId>{5C22544A-7EE6-4342-B048-85BDC9FD1C3A}</a:tableStyleId>
              </a:tblPr>
              <a:tblGrid>
                <a:gridCol w="852805"/>
                <a:gridCol w="852805"/>
                <a:gridCol w="852805"/>
                <a:gridCol w="852805"/>
                <a:gridCol w="852805"/>
                <a:gridCol w="852805"/>
                <a:gridCol w="852805"/>
                <a:gridCol w="852805"/>
              </a:tblGrid>
              <a:tr h="381000">
                <a:tc>
                  <a:txBody>
                    <a:bodyPr/>
                    <a:p>
                      <a:pPr>
                        <a:buNone/>
                      </a:pPr>
                      <a:r>
                        <a:rPr lang="en-US" altLang="en-GB"/>
                        <a:t>128</a:t>
                      </a:r>
                      <a:endParaRPr lang="en-US" altLang="en-GB"/>
                    </a:p>
                  </a:txBody>
                  <a:tcPr/>
                </a:tc>
                <a:tc>
                  <a:txBody>
                    <a:bodyPr/>
                    <a:p>
                      <a:pPr>
                        <a:buNone/>
                      </a:pPr>
                      <a:r>
                        <a:rPr lang="en-US" altLang="en-GB"/>
                        <a:t>64</a:t>
                      </a:r>
                      <a:endParaRPr lang="en-US" altLang="en-GB"/>
                    </a:p>
                  </a:txBody>
                  <a:tcPr/>
                </a:tc>
                <a:tc>
                  <a:txBody>
                    <a:bodyPr/>
                    <a:p>
                      <a:pPr>
                        <a:buNone/>
                      </a:pPr>
                      <a:r>
                        <a:rPr lang="en-US" altLang="en-GB"/>
                        <a:t>32</a:t>
                      </a:r>
                      <a:endParaRPr lang="en-US" altLang="en-GB"/>
                    </a:p>
                  </a:txBody>
                  <a:tcPr/>
                </a:tc>
                <a:tc>
                  <a:txBody>
                    <a:bodyPr/>
                    <a:p>
                      <a:pPr>
                        <a:buNone/>
                      </a:pPr>
                      <a:r>
                        <a:rPr lang="en-US" altLang="en-GB"/>
                        <a:t>16</a:t>
                      </a:r>
                      <a:endParaRPr lang="en-US" altLang="en-GB"/>
                    </a:p>
                  </a:txBody>
                  <a:tcPr/>
                </a:tc>
                <a:tc>
                  <a:txBody>
                    <a:bodyPr/>
                    <a:p>
                      <a:pPr>
                        <a:buNone/>
                      </a:pPr>
                      <a:r>
                        <a:rPr lang="en-US" altLang="en-GB"/>
                        <a:t>8</a:t>
                      </a:r>
                      <a:endParaRPr lang="en-US" altLang="en-GB"/>
                    </a:p>
                  </a:txBody>
                  <a:tcPr/>
                </a:tc>
                <a:tc>
                  <a:txBody>
                    <a:bodyPr/>
                    <a:p>
                      <a:pPr>
                        <a:buNone/>
                      </a:pPr>
                      <a:r>
                        <a:rPr lang="en-US" altLang="en-GB"/>
                        <a:t>4</a:t>
                      </a:r>
                      <a:endParaRPr lang="en-US" altLang="en-GB"/>
                    </a:p>
                  </a:txBody>
                  <a:tcPr/>
                </a:tc>
                <a:tc>
                  <a:txBody>
                    <a:bodyPr/>
                    <a:p>
                      <a:pPr>
                        <a:buNone/>
                      </a:pPr>
                      <a:r>
                        <a:rPr lang="en-US" altLang="en-GB"/>
                        <a:t>2</a:t>
                      </a:r>
                      <a:endParaRPr lang="en-US" altLang="en-GB"/>
                    </a:p>
                  </a:txBody>
                  <a:tcPr/>
                </a:tc>
                <a:tc>
                  <a:txBody>
                    <a:bodyPr/>
                    <a:p>
                      <a:pPr>
                        <a:buNone/>
                      </a:pPr>
                      <a:r>
                        <a:rPr lang="en-US" altLang="en-GB"/>
                        <a:t>1</a:t>
                      </a:r>
                      <a:endParaRPr lang="en-US" altLang="en-GB"/>
                    </a:p>
                  </a:txBody>
                  <a:tcPr/>
                </a:tc>
              </a:tr>
              <a:tr h="381000">
                <a:tc>
                  <a:txBody>
                    <a:bodyPr/>
                    <a:p>
                      <a:pPr>
                        <a:buNone/>
                      </a:pPr>
                      <a:r>
                        <a:rPr lang="en-US" altLang="en-GB"/>
                        <a:t>0</a:t>
                      </a:r>
                      <a:endParaRPr lang="en-US" altLang="en-GB"/>
                    </a:p>
                  </a:txBody>
                  <a:tcPr/>
                </a:tc>
                <a:tc>
                  <a:txBody>
                    <a:bodyPr/>
                    <a:p>
                      <a:pPr>
                        <a:buNone/>
                      </a:pPr>
                      <a:r>
                        <a:rPr lang="en-US" altLang="en-GB"/>
                        <a:t>0</a:t>
                      </a:r>
                      <a:endParaRPr lang="en-US" altLang="en-GB"/>
                    </a:p>
                  </a:txBody>
                  <a:tcPr/>
                </a:tc>
                <a:tc>
                  <a:txBody>
                    <a:bodyPr/>
                    <a:p>
                      <a:pPr>
                        <a:buNone/>
                      </a:pPr>
                      <a:r>
                        <a:rPr lang="en-US" altLang="en-GB"/>
                        <a:t>0</a:t>
                      </a:r>
                      <a:endParaRPr lang="en-US" altLang="en-GB"/>
                    </a:p>
                  </a:txBody>
                  <a:tcPr/>
                </a:tc>
                <a:tc>
                  <a:txBody>
                    <a:bodyPr/>
                    <a:p>
                      <a:pPr>
                        <a:buNone/>
                      </a:pPr>
                      <a:r>
                        <a:rPr lang="en-US" altLang="en-GB"/>
                        <a:t>0</a:t>
                      </a:r>
                      <a:endParaRPr lang="en-US" altLang="en-GB"/>
                    </a:p>
                  </a:txBody>
                  <a:tcPr/>
                </a:tc>
                <a:tc>
                  <a:txBody>
                    <a:bodyPr/>
                    <a:p>
                      <a:pPr>
                        <a:buNone/>
                      </a:pPr>
                      <a:r>
                        <a:rPr lang="en-US" altLang="en-GB"/>
                        <a:t>1</a:t>
                      </a:r>
                      <a:endParaRPr lang="en-US" altLang="en-GB"/>
                    </a:p>
                  </a:txBody>
                  <a:tcPr/>
                </a:tc>
                <a:tc>
                  <a:txBody>
                    <a:bodyPr/>
                    <a:p>
                      <a:pPr>
                        <a:buNone/>
                      </a:pPr>
                      <a:r>
                        <a:rPr lang="en-US" altLang="en-GB"/>
                        <a:t>1</a:t>
                      </a:r>
                      <a:endParaRPr lang="en-US" altLang="en-GB"/>
                    </a:p>
                  </a:txBody>
                  <a:tcPr/>
                </a:tc>
                <a:tc>
                  <a:txBody>
                    <a:bodyPr/>
                    <a:p>
                      <a:pPr>
                        <a:buNone/>
                      </a:pPr>
                      <a:r>
                        <a:rPr lang="en-US" altLang="en-GB"/>
                        <a:t>0</a:t>
                      </a:r>
                      <a:endParaRPr lang="en-US" altLang="en-GB"/>
                    </a:p>
                  </a:txBody>
                  <a:tcPr/>
                </a:tc>
                <a:tc>
                  <a:txBody>
                    <a:bodyPr/>
                    <a:p>
                      <a:pPr>
                        <a:buNone/>
                      </a:pPr>
                      <a:r>
                        <a:rPr lang="en-US" altLang="en-GB"/>
                        <a:t>1</a:t>
                      </a:r>
                      <a:endParaRPr lang="en-US" altLang="en-GB"/>
                    </a:p>
                  </a:txBody>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D6249"/>
        </a:solidFill>
        <a:effectLst/>
      </p:bgPr>
    </p:bg>
    <p:spTree>
      <p:nvGrpSpPr>
        <p:cNvPr id="1" name=""/>
        <p:cNvGrpSpPr/>
        <p:nvPr/>
      </p:nvGrpSpPr>
      <p:grpSpPr/>
      <p:sp>
        <p:nvSpPr>
          <p:cNvPr id="4" name="Text Box 3"/>
          <p:cNvSpPr txBox="1"/>
          <p:nvPr/>
        </p:nvSpPr>
        <p:spPr>
          <a:xfrm>
            <a:off x="111760" y="114300"/>
            <a:ext cx="11682730" cy="6649720"/>
          </a:xfrm>
          <a:prstGeom prst="rect">
            <a:avLst/>
          </a:prstGeom>
          <a:noFill/>
        </p:spPr>
        <p:txBody>
          <a:bodyPr wrap="square" rtlCol="0" anchor="t">
            <a:noAutofit/>
          </a:bodyPr>
          <a:p>
            <a:r>
              <a:rPr lang="en-US" altLang="en-GB" b="1">
                <a:solidFill>
                  <a:srgbClr val="FFFF00"/>
                </a:solidFill>
                <a:sym typeface="+mn-ea"/>
              </a:rPr>
              <a:t>FRACTIONS</a:t>
            </a:r>
            <a:endParaRPr lang="en-US" altLang="en-GB" b="1">
              <a:solidFill>
                <a:srgbClr val="FFFF00"/>
              </a:solidFill>
              <a:sym typeface="+mn-ea"/>
            </a:endParaRPr>
          </a:p>
          <a:p>
            <a:endParaRPr lang="en-US" altLang="en-GB">
              <a:solidFill>
                <a:schemeClr val="bg1"/>
              </a:solidFill>
              <a:sym typeface="+mn-ea"/>
            </a:endParaRPr>
          </a:p>
          <a:p>
            <a:r>
              <a:rPr lang="en-US" altLang="en-GB">
                <a:solidFill>
                  <a:schemeClr val="bg1"/>
                </a:solidFill>
                <a:sym typeface="+mn-ea"/>
              </a:rPr>
              <a:t>Now, Let's Do a Fractional Decimal (Slowly)</a:t>
            </a:r>
            <a:endParaRPr lang="en-US" altLang="en-GB">
              <a:solidFill>
                <a:schemeClr val="bg1"/>
              </a:solidFill>
            </a:endParaRPr>
          </a:p>
          <a:p>
            <a:r>
              <a:rPr lang="en-US" altLang="en-GB">
                <a:solidFill>
                  <a:schemeClr val="bg1"/>
                </a:solidFill>
                <a:sym typeface="+mn-ea"/>
              </a:rPr>
              <a:t>What if the number has a point in it? Like </a:t>
            </a:r>
            <a:r>
              <a:rPr lang="en-US" altLang="en-GB">
                <a:solidFill>
                  <a:schemeClr val="bg1"/>
                </a:solidFill>
                <a:highlight>
                  <a:srgbClr val="FF00FF"/>
                </a:highlight>
                <a:sym typeface="+mn-ea"/>
              </a:rPr>
              <a:t>1101.11?</a:t>
            </a:r>
            <a:endParaRPr lang="en-US" altLang="en-GB">
              <a:solidFill>
                <a:schemeClr val="bg1"/>
              </a:solidFill>
            </a:endParaRPr>
          </a:p>
          <a:p>
            <a:r>
              <a:rPr lang="en-US" altLang="en-GB">
                <a:solidFill>
                  <a:schemeClr val="bg1"/>
                </a:solidFill>
                <a:sym typeface="+mn-ea"/>
              </a:rPr>
              <a:t>The rule stays exactly the same, but we use the "mirror" columns to the right of the decimal point where values cut in half (0.5, 0.25, etc.).</a:t>
            </a:r>
            <a:endParaRPr lang="en-US" altLang="en-GB">
              <a:solidFill>
                <a:schemeClr val="bg1"/>
              </a:solidFill>
            </a:endParaRPr>
          </a:p>
          <a:p>
            <a:r>
              <a:rPr lang="en-US" altLang="en-GB">
                <a:solidFill>
                  <a:schemeClr val="bg1"/>
                </a:solidFill>
                <a:sym typeface="+mn-ea"/>
              </a:rPr>
              <a:t>Step 1: Draw the Extended Grid Around the Point</a:t>
            </a:r>
            <a:endParaRPr lang="en-US" altLang="en-GB">
              <a:solidFill>
                <a:schemeClr val="bg1"/>
              </a:solidFill>
            </a:endParaRPr>
          </a:p>
          <a:p>
            <a:r>
              <a:rPr lang="en-US" altLang="en-GB">
                <a:solidFill>
                  <a:schemeClr val="bg1"/>
                </a:solidFill>
                <a:sym typeface="+mn-ea"/>
              </a:rPr>
              <a:t>Step 2: Slot the Number In</a:t>
            </a:r>
            <a:endParaRPr lang="en-US" altLang="en-GB">
              <a:solidFill>
                <a:schemeClr val="bg1"/>
              </a:solidFill>
            </a:endParaRPr>
          </a:p>
          <a:p>
            <a:endParaRPr lang="en-US" altLang="en-GB">
              <a:solidFill>
                <a:schemeClr val="bg1"/>
              </a:solidFill>
              <a:sym typeface="+mn-ea"/>
            </a:endParaRPr>
          </a:p>
          <a:p>
            <a:endParaRPr lang="en-US" altLang="en-GB">
              <a:solidFill>
                <a:schemeClr val="bg1"/>
              </a:solidFill>
              <a:sym typeface="+mn-ea"/>
            </a:endParaRPr>
          </a:p>
          <a:p>
            <a:endParaRPr lang="en-US" altLang="en-GB">
              <a:solidFill>
                <a:schemeClr val="bg1"/>
              </a:solidFill>
              <a:sym typeface="+mn-ea"/>
            </a:endParaRPr>
          </a:p>
          <a:p>
            <a:endParaRPr lang="en-US" altLang="en-GB">
              <a:solidFill>
                <a:schemeClr val="bg1"/>
              </a:solidFill>
              <a:sym typeface="+mn-ea"/>
            </a:endParaRPr>
          </a:p>
          <a:p>
            <a:r>
              <a:rPr lang="en-US" altLang="en-GB">
                <a:solidFill>
                  <a:schemeClr val="bg1"/>
                </a:solidFill>
                <a:sym typeface="+mn-ea"/>
              </a:rPr>
              <a:t>8 + 4 + 0 + 1  | 0.5 + 0.25</a:t>
            </a:r>
            <a:endParaRPr lang="en-US" altLang="en-GB">
              <a:solidFill>
                <a:schemeClr val="bg1"/>
              </a:solidFill>
              <a:sym typeface="+mn-ea"/>
            </a:endParaRPr>
          </a:p>
          <a:p>
            <a:r>
              <a:rPr lang="en-US" altLang="en-GB">
                <a:solidFill>
                  <a:schemeClr val="bg1"/>
                </a:solidFill>
                <a:highlight>
                  <a:srgbClr val="FF00FF"/>
                </a:highlight>
                <a:sym typeface="+mn-ea"/>
              </a:rPr>
              <a:t>13.75</a:t>
            </a:r>
            <a:endParaRPr lang="en-US" altLang="en-GB">
              <a:solidFill>
                <a:schemeClr val="bg1"/>
              </a:solidFill>
              <a:highlight>
                <a:srgbClr val="FF00FF"/>
              </a:highlight>
              <a:sym typeface="+mn-ea"/>
            </a:endParaRPr>
          </a:p>
          <a:p>
            <a:endParaRPr lang="en-US" altLang="en-GB">
              <a:solidFill>
                <a:schemeClr val="bg1"/>
              </a:solidFill>
              <a:sym typeface="+mn-ea"/>
            </a:endParaRPr>
          </a:p>
          <a:p>
            <a:endParaRPr lang="en-US" altLang="en-GB">
              <a:solidFill>
                <a:schemeClr val="bg1"/>
              </a:solidFill>
              <a:sym typeface="+mn-ea"/>
            </a:endParaRPr>
          </a:p>
          <a:p>
            <a:endParaRPr lang="en-US" altLang="en-GB">
              <a:solidFill>
                <a:schemeClr val="bg1"/>
              </a:solidFill>
              <a:sym typeface="+mn-ea"/>
            </a:endParaRPr>
          </a:p>
          <a:p>
            <a:r>
              <a:rPr lang="en-US" altLang="en-GB">
                <a:solidFill>
                  <a:srgbClr val="FFFF00"/>
                </a:solidFill>
                <a:sym typeface="+mn-ea"/>
              </a:rPr>
              <a:t>Step 3: Collect and Add Separately</a:t>
            </a:r>
            <a:endParaRPr lang="en-US" altLang="en-GB">
              <a:solidFill>
                <a:srgbClr val="FFFF00"/>
              </a:solidFill>
            </a:endParaRPr>
          </a:p>
          <a:p>
            <a:r>
              <a:rPr lang="en-US" altLang="en-GB">
                <a:solidFill>
                  <a:schemeClr val="bg1"/>
                </a:solidFill>
                <a:sym typeface="+mn-ea"/>
              </a:rPr>
              <a:t> </a:t>
            </a:r>
            <a:endParaRPr lang="en-US" altLang="en-GB">
              <a:solidFill>
                <a:schemeClr val="bg1"/>
              </a:solidFill>
              <a:sym typeface="+mn-ea"/>
            </a:endParaRPr>
          </a:p>
          <a:p>
            <a:r>
              <a:rPr lang="en-US" altLang="en-GB">
                <a:solidFill>
                  <a:schemeClr val="bg1"/>
                </a:solidFill>
                <a:sym typeface="+mn-ea"/>
              </a:rPr>
              <a:t>1. Left Side (Whole Numbers): The columns with a 1    </a:t>
            </a:r>
            <a:endParaRPr lang="en-US" altLang="en-GB">
              <a:solidFill>
                <a:schemeClr val="bg1"/>
              </a:solidFill>
            </a:endParaRPr>
          </a:p>
          <a:p>
            <a:r>
              <a:rPr lang="en-US" altLang="en-GB">
                <a:solidFill>
                  <a:schemeClr val="bg1"/>
                </a:solidFill>
                <a:sym typeface="+mn-ea"/>
              </a:rPr>
              <a:t>2.Right Side (Decimal Fractions):The columns with a 1 </a:t>
            </a:r>
            <a:endParaRPr lang="en-US" altLang="en-GB">
              <a:solidFill>
                <a:schemeClr val="bg1"/>
              </a:solidFill>
              <a:sym typeface="+mn-ea"/>
            </a:endParaRPr>
          </a:p>
          <a:p>
            <a:r>
              <a:rPr lang="en-US" altLang="en-GB">
                <a:solidFill>
                  <a:schemeClr val="bg1"/>
                </a:solidFill>
                <a:sym typeface="+mn-ea"/>
              </a:rPr>
              <a:t>   </a:t>
            </a:r>
            <a:endParaRPr lang="en-US" altLang="en-GB">
              <a:solidFill>
                <a:schemeClr val="bg1"/>
              </a:solidFill>
            </a:endParaRPr>
          </a:p>
          <a:p>
            <a:r>
              <a:rPr lang="en-US" altLang="en-GB">
                <a:solidFill>
                  <a:schemeClr val="bg1"/>
                </a:solidFill>
                <a:sym typeface="+mn-ea"/>
              </a:rPr>
              <a:t>S</a:t>
            </a:r>
            <a:r>
              <a:rPr lang="en-US" altLang="en-GB">
                <a:solidFill>
                  <a:srgbClr val="FFFF00"/>
                </a:solidFill>
                <a:sym typeface="+mn-ea"/>
              </a:rPr>
              <a:t>tep 4: Glue Them Back Together</a:t>
            </a:r>
            <a:endParaRPr lang="en-US" altLang="en-GB">
              <a:solidFill>
                <a:srgbClr val="FFFF00"/>
              </a:solidFill>
            </a:endParaRPr>
          </a:p>
          <a:p>
            <a:r>
              <a:rPr lang="en-US" altLang="en-GB">
                <a:solidFill>
                  <a:schemeClr val="bg1"/>
                </a:solidFill>
                <a:sym typeface="+mn-ea"/>
              </a:rPr>
              <a:t>Combine your whole number and your fraction around the decimal point: </a:t>
            </a:r>
            <a:r>
              <a:rPr lang="en-US" altLang="en-GB">
                <a:solidFill>
                  <a:schemeClr val="bg1"/>
                </a:solidFill>
                <a:highlight>
                  <a:srgbClr val="FF00FF"/>
                </a:highlight>
                <a:sym typeface="+mn-ea"/>
              </a:rPr>
              <a:t>13.75</a:t>
            </a:r>
            <a:endParaRPr lang="en-US" altLang="en-GB">
              <a:solidFill>
                <a:schemeClr val="bg1"/>
              </a:solidFill>
              <a:highlight>
                <a:srgbClr val="FF00FF"/>
              </a:highlight>
              <a:sym typeface="+mn-ea"/>
            </a:endParaRPr>
          </a:p>
          <a:p>
            <a:endParaRPr lang="en-US" altLang="en-GB">
              <a:solidFill>
                <a:schemeClr val="bg1"/>
              </a:solidFill>
            </a:endParaRPr>
          </a:p>
          <a:p>
            <a:endParaRPr lang="en-US" altLang="en-GB">
              <a:solidFill>
                <a:schemeClr val="bg1"/>
              </a:solidFill>
              <a:sym typeface="+mn-ea"/>
            </a:endParaRPr>
          </a:p>
        </p:txBody>
      </p:sp>
      <p:graphicFrame>
        <p:nvGraphicFramePr>
          <p:cNvPr id="5" name="Table 4"/>
          <p:cNvGraphicFramePr/>
          <p:nvPr/>
        </p:nvGraphicFramePr>
        <p:xfrm>
          <a:off x="812800" y="2667000"/>
          <a:ext cx="8533765" cy="762000"/>
        </p:xfrm>
        <a:graphic>
          <a:graphicData uri="http://schemas.openxmlformats.org/drawingml/2006/table">
            <a:tbl>
              <a:tblPr firstRow="1" bandRow="1">
                <a:tableStyleId>{5C22544A-7EE6-4342-B048-85BDC9FD1C3A}</a:tableStyleId>
              </a:tblPr>
              <a:tblGrid>
                <a:gridCol w="1218565"/>
                <a:gridCol w="1218565"/>
                <a:gridCol w="1218565"/>
                <a:gridCol w="1218565"/>
                <a:gridCol w="1218565"/>
                <a:gridCol w="1218565"/>
                <a:gridCol w="1218565"/>
              </a:tblGrid>
              <a:tr h="381000">
                <a:tc>
                  <a:txBody>
                    <a:bodyPr/>
                    <a:p>
                      <a:pPr>
                        <a:buNone/>
                      </a:pPr>
                      <a:r>
                        <a:rPr lang="en-US" altLang="en-GB"/>
                        <a:t>8</a:t>
                      </a:r>
                      <a:endParaRPr lang="en-US" altLang="en-GB"/>
                    </a:p>
                  </a:txBody>
                  <a:tcPr/>
                </a:tc>
                <a:tc>
                  <a:txBody>
                    <a:bodyPr/>
                    <a:p>
                      <a:pPr>
                        <a:buNone/>
                      </a:pPr>
                      <a:r>
                        <a:rPr lang="en-US" altLang="en-GB"/>
                        <a:t>4</a:t>
                      </a:r>
                      <a:endParaRPr lang="en-US" altLang="en-GB"/>
                    </a:p>
                  </a:txBody>
                  <a:tcPr/>
                </a:tc>
                <a:tc>
                  <a:txBody>
                    <a:bodyPr/>
                    <a:p>
                      <a:pPr>
                        <a:buNone/>
                      </a:pPr>
                      <a:r>
                        <a:rPr lang="en-US" altLang="en-GB"/>
                        <a:t>2</a:t>
                      </a:r>
                      <a:endParaRPr lang="en-US" altLang="en-GB"/>
                    </a:p>
                  </a:txBody>
                  <a:tcPr/>
                </a:tc>
                <a:tc>
                  <a:txBody>
                    <a:bodyPr/>
                    <a:p>
                      <a:pPr>
                        <a:buNone/>
                      </a:pPr>
                      <a:r>
                        <a:rPr lang="en-US" altLang="en-GB"/>
                        <a:t>1</a:t>
                      </a:r>
                      <a:endParaRPr lang="en-US" altLang="en-GB"/>
                    </a:p>
                  </a:txBody>
                  <a:tcPr/>
                </a:tc>
                <a:tc>
                  <a:txBody>
                    <a:bodyPr/>
                    <a:p>
                      <a:pPr>
                        <a:buNone/>
                      </a:pPr>
                      <a:endParaRPr lang="en-GB" altLang="en-US"/>
                    </a:p>
                  </a:txBody>
                  <a:tcPr>
                    <a:solidFill>
                      <a:srgbClr val="FF0000"/>
                    </a:solidFill>
                  </a:tcPr>
                </a:tc>
                <a:tc>
                  <a:txBody>
                    <a:bodyPr/>
                    <a:p>
                      <a:pPr>
                        <a:buNone/>
                      </a:pPr>
                      <a:r>
                        <a:rPr lang="en-US" altLang="en-GB"/>
                        <a:t>1/2</a:t>
                      </a:r>
                      <a:endParaRPr lang="en-US" altLang="en-GB"/>
                    </a:p>
                  </a:txBody>
                  <a:tcPr/>
                </a:tc>
                <a:tc>
                  <a:txBody>
                    <a:bodyPr/>
                    <a:p>
                      <a:pPr>
                        <a:buNone/>
                      </a:pPr>
                      <a:r>
                        <a:rPr lang="en-US" altLang="en-GB"/>
                        <a:t>1/4</a:t>
                      </a:r>
                      <a:endParaRPr lang="en-US" altLang="en-GB"/>
                    </a:p>
                  </a:txBody>
                  <a:tcPr/>
                </a:tc>
              </a:tr>
              <a:tr h="381000">
                <a:tc>
                  <a:txBody>
                    <a:bodyPr/>
                    <a:p>
                      <a:pPr>
                        <a:buNone/>
                      </a:pPr>
                      <a:r>
                        <a:rPr lang="en-US" altLang="en-GB"/>
                        <a:t>1</a:t>
                      </a:r>
                      <a:endParaRPr lang="en-US" altLang="en-GB"/>
                    </a:p>
                  </a:txBody>
                  <a:tcPr/>
                </a:tc>
                <a:tc>
                  <a:txBody>
                    <a:bodyPr/>
                    <a:p>
                      <a:pPr>
                        <a:buNone/>
                      </a:pPr>
                      <a:r>
                        <a:rPr lang="en-US" altLang="en-GB"/>
                        <a:t>1</a:t>
                      </a:r>
                      <a:endParaRPr lang="en-US" altLang="en-GB"/>
                    </a:p>
                  </a:txBody>
                  <a:tcPr/>
                </a:tc>
                <a:tc>
                  <a:txBody>
                    <a:bodyPr/>
                    <a:p>
                      <a:pPr>
                        <a:buNone/>
                      </a:pPr>
                      <a:r>
                        <a:rPr lang="en-US" altLang="en-GB"/>
                        <a:t>0</a:t>
                      </a:r>
                      <a:endParaRPr lang="en-US" altLang="en-GB"/>
                    </a:p>
                  </a:txBody>
                  <a:tcPr/>
                </a:tc>
                <a:tc>
                  <a:txBody>
                    <a:bodyPr/>
                    <a:p>
                      <a:pPr>
                        <a:buNone/>
                      </a:pPr>
                      <a:r>
                        <a:rPr lang="en-US" altLang="en-GB"/>
                        <a:t>1</a:t>
                      </a:r>
                      <a:endParaRPr lang="en-US" altLang="en-GB"/>
                    </a:p>
                  </a:txBody>
                  <a:tcPr/>
                </a:tc>
                <a:tc>
                  <a:txBody>
                    <a:bodyPr/>
                    <a:p>
                      <a:pPr>
                        <a:buNone/>
                      </a:pPr>
                      <a:endParaRPr lang="en-GB" altLang="en-US"/>
                    </a:p>
                  </a:txBody>
                  <a:tcPr>
                    <a:solidFill>
                      <a:srgbClr val="FF0000"/>
                    </a:solidFill>
                  </a:tcPr>
                </a:tc>
                <a:tc>
                  <a:txBody>
                    <a:bodyPr/>
                    <a:p>
                      <a:pPr>
                        <a:buNone/>
                      </a:pPr>
                      <a:r>
                        <a:rPr lang="en-US" altLang="en-GB"/>
                        <a:t>1</a:t>
                      </a:r>
                      <a:endParaRPr lang="en-US" altLang="en-GB"/>
                    </a:p>
                  </a:txBody>
                  <a:tcPr/>
                </a:tc>
                <a:tc>
                  <a:txBody>
                    <a:bodyPr/>
                    <a:p>
                      <a:pPr>
                        <a:buNone/>
                      </a:pPr>
                      <a:r>
                        <a:rPr lang="en-US" altLang="en-GB"/>
                        <a:t>1</a:t>
                      </a:r>
                      <a:endParaRPr lang="en-US" altLang="en-GB"/>
                    </a:p>
                  </a:txBody>
                  <a:tcPr/>
                </a:tc>
              </a:tr>
            </a:tbl>
          </a:graphicData>
        </a:graphic>
      </p:graphicFrame>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tags/tag1.xml><?xml version="1.0" encoding="utf-8"?>
<p:tagLst xmlns:p="http://schemas.openxmlformats.org/presentationml/2006/main">
  <p:tag name="KSO_WM_DIAGRAM_VIRTUALLY_FRAME" val="{&quot;height&quot;:263.409049190327,&quot;left&quot;:63.5508173542554,&quot;top&quot;:210.9822834645669,&quot;width&quot;:774.1265842205478}"/>
</p:tagLst>
</file>

<file path=ppt/tags/tag2.xml><?xml version="1.0" encoding="utf-8"?>
<p:tagLst xmlns:p="http://schemas.openxmlformats.org/presentationml/2006/main">
  <p:tag name="KSO_WM_DIAGRAM_VIRTUALLY_FRAME" val="{&quot;height&quot;:263.409049190327,&quot;left&quot;:63.5508173542554,&quot;top&quot;:210.9822834645669,&quot;width&quot;:774.1265842205478}"/>
</p:tagLst>
</file>

<file path=ppt/tags/tag3.xml><?xml version="1.0" encoding="utf-8"?>
<p:tagLst xmlns:p="http://schemas.openxmlformats.org/presentationml/2006/main">
  <p:tag name="KSO_WM_DIAGRAM_VIRTUALLY_FRAME" val="{&quot;height&quot;:263.409049190327,&quot;left&quot;:63.5508173542554,&quot;top&quot;:210.9822834645669,&quot;width&quot;:774.1265842205478}"/>
</p:tagLst>
</file>

<file path=ppt/tags/tag4.xml><?xml version="1.0" encoding="utf-8"?>
<p:tagLst xmlns:p="http://schemas.openxmlformats.org/presentationml/2006/main">
  <p:tag name="TABLE_ENDDRAG_ORIGIN_RECT" val="947*206"/>
  <p:tag name="TABLE_ENDDRAG_RECT" val="5*228*947*206"/>
</p:tagLst>
</file>

<file path=ppt/tags/tag5.xml><?xml version="1.0" encoding="utf-8"?>
<p:tagLst xmlns:p="http://schemas.openxmlformats.org/presentationml/2006/main">
  <p:tag name="TABLE_ENDDRAG_ORIGIN_RECT" val="227*92"/>
  <p:tag name="TABLE_ENDDRAG_RECT" val="294*222*227*92"/>
</p:tagLst>
</file>

<file path=ppt/tags/tag6.xml><?xml version="1.0" encoding="utf-8"?>
<p:tagLst xmlns:p="http://schemas.openxmlformats.org/presentationml/2006/main">
  <p:tag name="TABLE_ENDDRAG_ORIGIN_RECT" val="343*212"/>
  <p:tag name="TABLE_ENDDRAG_RECT" val="107*130*344*212"/>
</p:tagLst>
</file>

<file path=ppt/tags/tag7.xml><?xml version="1.0" encoding="utf-8"?>
<p:tagLst xmlns:p="http://schemas.openxmlformats.org/presentationml/2006/main">
  <p:tag name="TABLE_ENDDRAG_ORIGIN_RECT" val="363*264"/>
  <p:tag name="TABLE_ENDDRAG_RECT" val="374*156*363*264"/>
</p:tagLst>
</file>

<file path=ppt/tags/tag8.xml><?xml version="1.0" encoding="utf-8"?>
<p:tagLst xmlns:p="http://schemas.openxmlformats.org/presentationml/2006/main">
  <p:tag name="TABLE_ENDDRAG_ORIGIN_RECT" val="413*122"/>
  <p:tag name="TABLE_ENDDRAG_RECT" val="354*224*413*122"/>
</p:tagLst>
</file>

<file path=ppt/tags/tag9.xml><?xml version="1.0" encoding="utf-8"?>
<p:tagLst xmlns:p="http://schemas.openxmlformats.org/presentationml/2006/main">
  <p:tag name="TABLE_ENDDRAG_ORIGIN_RECT" val="227*97"/>
  <p:tag name="TABLE_ENDDRAG_RECT" val="550*118*227*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7473</Words>
  <Application>WPS Presentation</Application>
  <PresentationFormat>宽屏</PresentationFormat>
  <Paragraphs>699</Paragraphs>
  <Slides>14</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Arial</vt:lpstr>
      <vt:lpstr>SimSun</vt:lpstr>
      <vt:lpstr>Wingdings</vt:lpstr>
      <vt:lpstr>Wingdings</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PC</dc:creator>
  <cp:lastModifiedBy>unjuehevo</cp:lastModifiedBy>
  <cp:revision>124</cp:revision>
  <dcterms:created xsi:type="dcterms:W3CDTF">2015-12-25T06:51:00Z</dcterms:created>
  <dcterms:modified xsi:type="dcterms:W3CDTF">2026-06-03T16:32:45Z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2057-12.2.0.23202</vt:lpwstr>
  </property>
  <property fmtid="{D5CDD505-2E9C-101B-9397-08002B2CF9AE}" pid="3" name="ICV">
    <vt:lpwstr>EFD1D230258440C4A4AC45C3D6E03495_13</vt:lpwstr>
  </property>
</Properties>
</file>
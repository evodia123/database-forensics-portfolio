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88" r:id="rId3"/>
    <p:sldId id="274" r:id="rId5"/>
    <p:sldId id="262" r:id="rId6"/>
    <p:sldId id="287" r:id="rId7"/>
    <p:sldId id="27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60CCF"/>
    <a:srgbClr val="BA3649"/>
    <a:srgbClr val="B6B6B5"/>
    <a:srgbClr val="808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Organizations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9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515" y="2017395"/>
            <a:ext cx="5396865" cy="4728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What is 1’S COMPLEMENT  Representation?</a:t>
            </a:r>
            <a:endParaRPr lang="en-US" altLang="en-GB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Positive Numbers</a:t>
            </a:r>
            <a:endParaRPr lang="en-US" altLang="en-GB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Positive numbers are represented normally.</a:t>
            </a:r>
            <a:endParaRPr lang="en-US" altLang="en-GB" sz="16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6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Definition of 1's Complement</a:t>
            </a:r>
            <a:endParaRPr lang="en-US" altLang="en-GB" sz="16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5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1's complement is obtained by changing every bit of a binary number to its opposite.</a:t>
            </a:r>
            <a:endParaRPr lang="en-US" altLang="en-GB" sz="15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5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That is by flipping all bits</a:t>
            </a:r>
            <a:endParaRPr lang="en-US" altLang="en-GB" sz="15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5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Every 0 becomes 1</a:t>
            </a:r>
            <a:endParaRPr lang="en-US" altLang="en-GB" sz="15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5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Every 1 becomes 0</a:t>
            </a:r>
            <a:endParaRPr lang="en-US" altLang="en-GB" sz="15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Example  4-bit representation +5 = 0101 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1’s Complemet = 1010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GB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RULE: </a:t>
            </a:r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Change all zeros to ones and all ones to zero</a:t>
            </a:r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" name="矩形 6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68010" y="2039620"/>
            <a:ext cx="6465570" cy="2323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algn="l"/>
            <a:r>
              <a:rPr lang="en-US" altLang="en-GB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CONCEPT</a:t>
            </a:r>
            <a:endParaRPr lang="en-US" altLang="en-GB" sz="16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b="1" dirty="0">
                <a:solidFill>
                  <a:srgbClr val="FFC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Negative Numbers</a:t>
            </a:r>
            <a:endParaRPr lang="en-US" altLang="en-GB" sz="1600" b="1" dirty="0">
              <a:solidFill>
                <a:srgbClr val="FFC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Negative numbers are obtained by taking the </a:t>
            </a:r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's complement of the positive number.</a:t>
            </a:r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Rule:</a:t>
            </a:r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 get the negative of a number </a:t>
            </a:r>
            <a:r>
              <a:rPr lang="en-US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US" altLang="en-GB" sz="1600" b="1" dirty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flip all bits</a:t>
            </a:r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en-GB" sz="1600" b="1" dirty="0">
              <a:solidFill>
                <a:srgbClr val="00B05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58265" y="106680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</a:rPr>
              <a:t>1’S COMPLEMENT REPRESENTATION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160" y="796925"/>
            <a:ext cx="12058015" cy="1487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we need complements?</a:t>
            </a:r>
            <a:endParaRPr lang="en-US" altLang="en-GB" sz="160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Sign-magnitude representation has two major problems:</a:t>
            </a:r>
            <a:endParaRPr lang="en-US" alt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representations of zero (+0 and -0)</a:t>
            </a:r>
            <a:endParaRPr lang="en-US" alt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operations are complicated</a:t>
            </a:r>
            <a:endParaRPr lang="en-US" alt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3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3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5551805" y="2017395"/>
            <a:ext cx="17780" cy="475043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-116840" y="1911350"/>
            <a:ext cx="11809730" cy="209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577205" y="4445000"/>
            <a:ext cx="5709285" cy="2322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bg1"/>
                </a:solidFill>
              </a:rPr>
              <a:t>The computer is NOT thinking: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C000"/>
                </a:solidFill>
              </a:rPr>
              <a:t>“this is a sign bit”</a:t>
            </a:r>
            <a:endParaRPr lang="en-US" altLang="en-GB">
              <a:solidFill>
                <a:srgbClr val="FFC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It is thinking: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C000"/>
                </a:solidFill>
              </a:rPr>
              <a:t>“this is just a binary number, but negative numbers are represented by flipping bits”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2550" y="5327015"/>
            <a:ext cx="5370830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In 1’s complement, flipping is used only to </a:t>
            </a:r>
            <a:r>
              <a:rPr lang="en-US" altLang="en-GB">
                <a:solidFill>
                  <a:srgbClr val="00B050"/>
                </a:solidFill>
              </a:rPr>
              <a:t>create or interpret negative numbers.</a:t>
            </a:r>
            <a:r>
              <a:rPr lang="en-US" altLang="en-GB">
                <a:solidFill>
                  <a:schemeClr val="bg1"/>
                </a:solidFill>
              </a:rPr>
              <a:t> The MSB alone does not trigger flipping; it only indicates whether the number is positive or negative.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264160" y="859790"/>
          <a:ext cx="11734800" cy="3019425"/>
        </p:xfrm>
        <a:graphic>
          <a:graphicData uri="http://schemas.openxmlformats.org/drawingml/2006/table">
            <a:tbl>
              <a:tblPr/>
              <a:tblGrid>
                <a:gridCol w="2933700"/>
                <a:gridCol w="2933700"/>
                <a:gridCol w="2933700"/>
                <a:gridCol w="2933700"/>
              </a:tblGrid>
              <a:tr h="382905">
                <a:tc>
                  <a:txBody>
                    <a:bodyPr/>
                    <a:p>
                      <a:r>
                        <a:rPr lang="en-US" altLang="zh-CN" sz="1600" b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Decimal Value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MSB (Most Significant Bit)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1’S COMPLEMENT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Representation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 (4-bit)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-0000 = -0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binary we only have one 0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0110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4-bit it will cause an overflow error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 binary is = 15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162935" y="115570"/>
            <a:ext cx="6960870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1’S COMPLEMENT REPRESENTATION</a:t>
            </a:r>
            <a:endParaRPr lang="en-US" altLang="en-GB" sz="2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281795" y="3680460"/>
            <a:ext cx="2472690" cy="1296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endParaRPr lang="en-US" altLang="en-GB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4-bit -7 to +7 </a:t>
            </a:r>
            <a:endParaRPr lang="en-US" altLang="en-GB" sz="1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8-bit  -127 to + 127</a:t>
            </a:r>
            <a:endParaRPr lang="en-US" altLang="en-GB" sz="16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 b="1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 b="1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4160" y="3537585"/>
            <a:ext cx="3356610" cy="299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C000"/>
                </a:solidFill>
              </a:rPr>
              <a:t>General rule</a:t>
            </a:r>
            <a:endParaRPr lang="en-US" altLang="en-GB" b="1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Positive answer (MSB = 0)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rgbClr val="FF0000"/>
              </a:solidFill>
            </a:endParaRPr>
          </a:p>
          <a:p>
            <a:r>
              <a:rPr lang="en-US" altLang="en-GB" b="1">
                <a:solidFill>
                  <a:srgbClr val="FF0000"/>
                </a:solidFill>
              </a:rPr>
              <a:t>Just convert normally.</a:t>
            </a:r>
            <a:endParaRPr lang="en-US" altLang="en-GB" b="1">
              <a:solidFill>
                <a:srgbClr val="FF0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Negative answer (MSB = 1)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Take the 1's complement again.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Convert to decimal.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Attach the negative sign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70325" y="3842385"/>
            <a:ext cx="48634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1111 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0000"/>
                </a:solidFill>
              </a:rPr>
              <a:t> unsigned integer representation is = </a:t>
            </a:r>
            <a:r>
              <a:rPr lang="en-US" altLang="en-GB">
                <a:solidFill>
                  <a:schemeClr val="bg1"/>
                </a:solidFill>
              </a:rPr>
              <a:t>15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0000"/>
                </a:solidFill>
              </a:rPr>
              <a:t> sign- magnitude representation = </a:t>
            </a:r>
            <a:r>
              <a:rPr lang="en-US" altLang="en-GB">
                <a:solidFill>
                  <a:schemeClr val="bg1"/>
                </a:solidFill>
              </a:rPr>
              <a:t>-7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0000"/>
                </a:solidFill>
              </a:rPr>
              <a:t> 1’s complement representation = </a:t>
            </a:r>
            <a:r>
              <a:rPr lang="en-US" altLang="en-GB">
                <a:solidFill>
                  <a:schemeClr val="bg1"/>
                </a:solidFill>
              </a:rPr>
              <a:t>-0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rgbClr val="FF0000"/>
              </a:solidFill>
            </a:endParaRPr>
          </a:p>
          <a:p>
            <a:endParaRPr lang="en-US" altLang="en-GB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07085" y="-17145"/>
            <a:ext cx="1036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OPERATIONS,  End-around carry AND  </a:t>
            </a:r>
            <a:r>
              <a:rPr lang="en-US" altLang="en-GB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OVERFLOW</a:t>
            </a:r>
            <a:endParaRPr lang="en-US" altLang="en-GB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4460" y="1348105"/>
            <a:ext cx="681990" cy="3898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b="1">
                <a:solidFill>
                  <a:srgbClr val="00B050"/>
                </a:solidFill>
              </a:rPr>
              <a:t>4-bit 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5</a:t>
            </a:r>
            <a:r>
              <a:rPr lang="en-US" altLang="en-GB" sz="1600" b="1" baseline="-25000">
                <a:solidFill>
                  <a:srgbClr val="00B050"/>
                </a:solidFill>
              </a:rPr>
              <a:t> </a:t>
            </a:r>
            <a:r>
              <a:rPr lang="en-US" altLang="en-GB" sz="1600" b="1">
                <a:solidFill>
                  <a:srgbClr val="00B050"/>
                </a:solidFill>
              </a:rPr>
              <a:t> + 2</a:t>
            </a:r>
            <a:r>
              <a:rPr lang="en-US" altLang="en-GB" sz="1600" b="1">
                <a:solidFill>
                  <a:srgbClr val="FF0000"/>
                </a:solidFill>
              </a:rPr>
              <a:t> 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2 - 5</a:t>
            </a:r>
            <a:endParaRPr lang="en-US" altLang="en-GB" sz="1600" b="1">
              <a:solidFill>
                <a:srgbClr val="00B050"/>
              </a:solidFill>
            </a:endParaRPr>
          </a:p>
          <a:p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8-bit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9 -  4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4 - 9</a:t>
            </a:r>
            <a:endParaRPr lang="en-US" altLang="en-GB" sz="1600" b="1">
              <a:solidFill>
                <a:srgbClr val="00B050"/>
              </a:solidFill>
            </a:endParaRPr>
          </a:p>
          <a:p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4-bit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5 + 3</a:t>
            </a:r>
            <a:endParaRPr lang="en-US" altLang="en-GB" sz="1600" b="1">
              <a:solidFill>
                <a:srgbClr val="00B050"/>
              </a:solidFill>
            </a:endParaRPr>
          </a:p>
          <a:p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8-bit </a:t>
            </a:r>
            <a:endParaRPr lang="en-US" altLang="en-GB" sz="1600" b="1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</a:rPr>
              <a:t>-3 - 5</a:t>
            </a:r>
            <a:endParaRPr lang="en-US" altLang="en-GB" sz="1600" b="1">
              <a:solidFill>
                <a:srgbClr val="00B05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06450" y="165735"/>
            <a:ext cx="3230880" cy="5698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>
                <a:solidFill>
                  <a:schemeClr val="bg1"/>
                </a:solidFill>
              </a:rPr>
              <a:t>4-BIT RANGE -7 TO +7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RAGNGE FOR 8-BITS = -127 TO +127</a:t>
            </a:r>
            <a:endParaRPr lang="en-US" altLang="en-GB" sz="1600">
              <a:solidFill>
                <a:schemeClr val="bg1"/>
              </a:solidFill>
            </a:endParaRPr>
          </a:p>
          <a:p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+5 = 0101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+2= 0010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+5 + (+2)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0101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0010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       0111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MSB = 0 = POSITIVE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+7</a:t>
            </a:r>
            <a:endParaRPr lang="en-US" altLang="en-GB" sz="1600">
              <a:solidFill>
                <a:srgbClr val="FF0000"/>
              </a:solidFill>
            </a:endParaRPr>
          </a:p>
          <a:p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-5 FLIP THE BITS OF +5 = 1010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+2 + (-5)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0010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1010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       1100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MSB = 1 = NEGATIVE  and since it is negatives we note the sign as negative and flip the bits to get the actual value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chemeClr val="bg1"/>
                </a:solidFill>
              </a:rPr>
              <a:t>0011</a:t>
            </a:r>
            <a:endParaRPr lang="en-US" altLang="en-GB" sz="1600">
              <a:solidFill>
                <a:schemeClr val="bg1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-3</a:t>
            </a:r>
            <a:endParaRPr lang="en-US" altLang="en-GB" sz="1600">
              <a:solidFill>
                <a:srgbClr val="FF0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037330" y="478155"/>
            <a:ext cx="3154045" cy="4307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solidFill>
                  <a:srgbClr val="FF0000"/>
                </a:solidFill>
              </a:rPr>
              <a:t>+ 9 = 1001 = 00001001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+4 = 0100 = 00000100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-4 flip the bits of +4 = 11111011</a:t>
            </a:r>
            <a:endParaRPr lang="en-US" altLang="en-GB" sz="1600">
              <a:solidFill>
                <a:srgbClr val="FF0000"/>
              </a:solidFill>
            </a:endParaRPr>
          </a:p>
          <a:p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+9 +(-4)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00001001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11111011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                00000100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we have an extra 1 so we add to the LSB this is called 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END-AROUND CARRY </a:t>
            </a:r>
            <a:endParaRPr lang="en-US" altLang="en-GB" sz="1600">
              <a:solidFill>
                <a:srgbClr val="FFC000"/>
              </a:solidFill>
            </a:endParaRPr>
          </a:p>
          <a:p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00000100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                1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00000101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 sz="1600">
                <a:solidFill>
                  <a:srgbClr val="FF0000"/>
                </a:solidFill>
              </a:rPr>
              <a:t>MSB = 0 = POSITIVE </a:t>
            </a:r>
            <a:endParaRPr lang="en-US" altLang="en-GB" sz="1600">
              <a:solidFill>
                <a:srgbClr val="FF0000"/>
              </a:solidFill>
            </a:endParaRPr>
          </a:p>
          <a:p>
            <a:r>
              <a:rPr lang="en-US" altLang="en-GB">
                <a:solidFill>
                  <a:srgbClr val="FFC000"/>
                </a:solidFill>
              </a:rPr>
              <a:t>+5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191375" y="351155"/>
            <a:ext cx="198564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solidFill>
                  <a:srgbClr val="FFC000"/>
                </a:solidFill>
              </a:rPr>
              <a:t>+4 + (-9)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00000100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11110110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                 11111010    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MSB = 1 = NEGATIVE S0 FLIP THE BITS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 sz="1600">
                <a:solidFill>
                  <a:srgbClr val="FFC000"/>
                </a:solidFill>
              </a:rPr>
              <a:t>00000101</a:t>
            </a:r>
            <a:endParaRPr lang="en-US" altLang="en-GB" sz="1600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-5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177020" y="165735"/>
            <a:ext cx="295592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00B050"/>
                </a:solidFill>
              </a:rPr>
              <a:t>+5 + (+3)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0101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0011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        1000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MSB = 1 = -VE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0111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-7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 The values are in the range but +8 the answer exceeds the range and this cause  data corruption. FATAL ERROR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rgbClr val="00B05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953760" y="3440430"/>
            <a:ext cx="5162550" cy="3345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FFFF00"/>
                </a:solidFill>
              </a:rPr>
              <a:t>(-3) + (-5)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</a:rPr>
              <a:t>+3 = 00000011 flip to get -3 = 11111100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</a:rPr>
              <a:t>+5 = 00000101 flip to get -5 = 11111010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  <a:sym typeface="+mn-ea"/>
              </a:rPr>
              <a:t>11111100</a:t>
            </a:r>
            <a:endParaRPr lang="en-US" altLang="en-GB">
              <a:solidFill>
                <a:srgbClr val="FFFF00"/>
              </a:solidFill>
              <a:sym typeface="+mn-ea"/>
            </a:endParaRPr>
          </a:p>
          <a:p>
            <a:r>
              <a:rPr lang="en-US" altLang="en-GB">
                <a:solidFill>
                  <a:srgbClr val="FFFF00"/>
                </a:solidFill>
                <a:sym typeface="+mn-ea"/>
              </a:rPr>
              <a:t>11111010</a:t>
            </a:r>
            <a:endParaRPr lang="en-US" altLang="en-GB">
              <a:solidFill>
                <a:srgbClr val="FFFF00"/>
              </a:solidFill>
              <a:sym typeface="+mn-ea"/>
            </a:endParaRPr>
          </a:p>
          <a:p>
            <a:r>
              <a:rPr lang="en-US" altLang="en-GB">
                <a:solidFill>
                  <a:srgbClr val="FFFF00"/>
                </a:solidFill>
              </a:rPr>
              <a:t>                11110110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</a:rPr>
              <a:t>END-AROUND CARRY  1 so we add to the LSB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  <a:sym typeface="+mn-ea"/>
              </a:rPr>
              <a:t>  11110110</a:t>
            </a:r>
            <a:endParaRPr lang="en-US" altLang="en-GB">
              <a:solidFill>
                <a:srgbClr val="FFFF00"/>
              </a:solidFill>
              <a:sym typeface="+mn-ea"/>
            </a:endParaRPr>
          </a:p>
          <a:p>
            <a:r>
              <a:rPr lang="en-US" altLang="en-GB">
                <a:solidFill>
                  <a:srgbClr val="FFFF00"/>
                </a:solidFill>
              </a:rPr>
              <a:t>                   1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</a:rPr>
              <a:t>11110111 MSB = -VE FLIP THE BIT</a:t>
            </a:r>
            <a:endParaRPr lang="en-US" altLang="en-GB">
              <a:solidFill>
                <a:srgbClr val="FFFF00"/>
              </a:solidFill>
            </a:endParaRPr>
          </a:p>
          <a:p>
            <a:r>
              <a:rPr lang="en-US" altLang="en-GB">
                <a:solidFill>
                  <a:srgbClr val="FFFF00"/>
                </a:solidFill>
              </a:rPr>
              <a:t>00001000  = </a:t>
            </a:r>
            <a:r>
              <a:rPr lang="en-US" altLang="en-GB">
                <a:solidFill>
                  <a:schemeClr val="bg1"/>
                </a:solidFill>
              </a:rPr>
              <a:t> -8</a:t>
            </a:r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rgbClr val="FFFF00"/>
              </a:solidFill>
            </a:endParaRPr>
          </a:p>
          <a:p>
            <a:endParaRPr lang="en-US" altLang="en-GB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26920" y="152400"/>
            <a:ext cx="8488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solidFill>
                  <a:schemeClr val="bg1"/>
                </a:solidFill>
              </a:rPr>
              <a:t>TERMS CHEAT SHEET</a:t>
            </a:r>
            <a:endParaRPr lang="en-US" altLang="en-GB" sz="400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0" y="6308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EXPLORE THE FULL REPO ON GITHUB</a:t>
            </a:r>
            <a:r>
              <a:rPr lang="en-US" altLang="en-GB"/>
              <a:t>.</a:t>
            </a:r>
            <a:endParaRPr lang="en-US" altLang="en-GB"/>
          </a:p>
        </p:txBody>
      </p:sp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6" name="Picture 5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62025" y="768985"/>
            <a:ext cx="636714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DOUBLE ZERO PROBLEM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ADDER CIRCUIT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OVERFLOW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SOLUTIONS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Satus Register or Flags register (Overflow flag or v-flag)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Crash/Throw an Exception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Wrap around silently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Upgrade the datatype (Perform sign extension)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Saturation Arithmetics e.g audio processing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Upgrading to 2’S COMPLEMENT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TABLE_ENDDRAG_ORIGIN_RECT" val="923*237"/>
  <p:tag name="TABLE_ENDDRAG_RECT" val="20*67*923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3300</Words>
  <Application>WPS Presentation</Application>
  <PresentationFormat>宽屏</PresentationFormat>
  <Paragraphs>252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136</cp:revision>
  <dcterms:created xsi:type="dcterms:W3CDTF">2015-12-25T06:51:00Z</dcterms:created>
  <dcterms:modified xsi:type="dcterms:W3CDTF">2026-06-25T20:05:09Z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2057-12.2.0.23203</vt:lpwstr>
  </property>
  <property fmtid="{D5CDD505-2E9C-101B-9397-08002B2CF9AE}" pid="3" name="ICV">
    <vt:lpwstr>774E7225058F49E8868A7412E8ECF2EB_13</vt:lpwstr>
  </property>
</Properties>
</file>
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88" r:id="rId3"/>
    <p:sldId id="274" r:id="rId5"/>
    <p:sldId id="291" r:id="rId6"/>
    <p:sldId id="292" r:id="rId7"/>
    <p:sldId id="262" r:id="rId8"/>
    <p:sldId id="293" r:id="rId9"/>
    <p:sldId id="28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1E887A"/>
    <a:srgbClr val="3F6666"/>
    <a:srgbClr val="3E1D89"/>
    <a:srgbClr val="360CCF"/>
    <a:srgbClr val="BA3649"/>
    <a:srgbClr val="B6B6B5"/>
    <a:srgbClr val="808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Organisations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7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00B05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2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8183" y="2694249"/>
            <a:ext cx="3913505" cy="1560196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57630" y="230505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3000" b="1">
                <a:solidFill>
                  <a:schemeClr val="bg1"/>
                </a:solidFill>
              </a:rPr>
              <a:t>DATABASE  FORENSICS </a:t>
            </a:r>
            <a:r>
              <a:rPr lang="en-US" altLang="en-GB" sz="3000" b="1">
                <a:solidFill>
                  <a:srgbClr val="00B050"/>
                </a:solidFill>
              </a:rPr>
              <a:t>= </a:t>
            </a:r>
            <a:r>
              <a:rPr lang="en-US" altLang="en-GB" sz="3000" b="1">
                <a:solidFill>
                  <a:schemeClr val="bg1"/>
                </a:solidFill>
              </a:rPr>
              <a:t>DIGITAL EVIDENCE</a:t>
            </a:r>
            <a:endParaRPr lang="en-US" altLang="en-GB" sz="3000" b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85595" y="6143625"/>
            <a:ext cx="7585710" cy="568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SQL </a:t>
            </a:r>
            <a:r>
              <a:rPr lang="en-US" altLang="en-GB" sz="2800" b="1">
                <a:solidFill>
                  <a:srgbClr val="00B050"/>
                </a:solidFill>
              </a:rPr>
              <a:t>+ </a:t>
            </a:r>
            <a:r>
              <a:rPr lang="en-US" altLang="en-GB" sz="2800" b="1">
                <a:solidFill>
                  <a:schemeClr val="bg1"/>
                </a:solidFill>
              </a:rPr>
              <a:t>Audit Logs </a:t>
            </a:r>
            <a:r>
              <a:rPr lang="en-US" altLang="en-GB" sz="2800" b="1">
                <a:solidFill>
                  <a:srgbClr val="00B050"/>
                </a:solidFill>
              </a:rPr>
              <a:t> +</a:t>
            </a:r>
            <a:r>
              <a:rPr lang="en-US" altLang="en-GB" sz="2800" b="1">
                <a:solidFill>
                  <a:schemeClr val="bg1"/>
                </a:solidFill>
              </a:rPr>
              <a:t>  Timestamps</a:t>
            </a:r>
            <a:r>
              <a:rPr lang="en-US" altLang="en-GB" sz="2800" b="1">
                <a:solidFill>
                  <a:srgbClr val="FF0000"/>
                </a:solidFill>
              </a:rPr>
              <a:t> </a:t>
            </a:r>
            <a:r>
              <a:rPr lang="en-US" altLang="en-GB" sz="2800" b="1">
                <a:solidFill>
                  <a:srgbClr val="00B050"/>
                </a:solidFill>
              </a:rPr>
              <a:t>=</a:t>
            </a:r>
            <a:r>
              <a:rPr lang="en-US" altLang="en-GB" sz="2800" b="1">
                <a:solidFill>
                  <a:schemeClr val="bg1"/>
                </a:solidFill>
              </a:rPr>
              <a:t> The Truth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142490" y="721360"/>
            <a:ext cx="6471920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en-US" altLang="en-GB" sz="2800" b="1">
              <a:solidFill>
                <a:schemeClr val="bg1"/>
              </a:solidFill>
            </a:endParaRPr>
          </a:p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APPLICATION EXERCISES</a:t>
            </a:r>
            <a:endParaRPr lang="en-US" altLang="en-GB" sz="2800" b="1">
              <a:solidFill>
                <a:schemeClr val="bg1"/>
              </a:solidFill>
            </a:endParaRPr>
          </a:p>
          <a:p>
            <a:pPr algn="ctr"/>
            <a:endParaRPr lang="en-US" altLang="en-GB" sz="2800" b="1">
              <a:solidFill>
                <a:schemeClr val="bg1"/>
              </a:solidFill>
            </a:endParaRPr>
          </a:p>
          <a:p>
            <a:pPr algn="ctr"/>
            <a:endParaRPr lang="en-US" altLang="en-GB" sz="2800" b="1">
              <a:solidFill>
                <a:schemeClr val="bg1"/>
              </a:solidFill>
            </a:endParaRPr>
          </a:p>
          <a:p>
            <a:pPr algn="ctr"/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1140" y="2233930"/>
            <a:ext cx="107029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When  an  HR or DBA uses their access to </a:t>
            </a:r>
            <a:r>
              <a:rPr lang="en-US" altLang="en-GB">
                <a:solidFill>
                  <a:srgbClr val="00B050"/>
                </a:solidFill>
              </a:rPr>
              <a:t>DROP</a:t>
            </a:r>
            <a:r>
              <a:rPr lang="en-US" altLang="en-GB">
                <a:solidFill>
                  <a:srgbClr val="FF0000"/>
                </a:solidFill>
              </a:rPr>
              <a:t> </a:t>
            </a:r>
            <a:r>
              <a:rPr lang="en-US" altLang="en-GB">
                <a:solidFill>
                  <a:schemeClr val="bg1"/>
                </a:solidFill>
              </a:rPr>
              <a:t>tables, </a:t>
            </a:r>
            <a:r>
              <a:rPr lang="en-US" altLang="en-GB">
                <a:solidFill>
                  <a:srgbClr val="00B050"/>
                </a:solidFill>
              </a:rPr>
              <a:t>OVERWRITE </a:t>
            </a:r>
            <a:r>
              <a:rPr lang="en-US" altLang="en-GB">
                <a:solidFill>
                  <a:schemeClr val="bg1"/>
                </a:solidFill>
              </a:rPr>
              <a:t>codes and </a:t>
            </a:r>
            <a:r>
              <a:rPr lang="en-US" altLang="en-GB">
                <a:solidFill>
                  <a:srgbClr val="00B050"/>
                </a:solidFill>
              </a:rPr>
              <a:t>ALTER </a:t>
            </a:r>
            <a:r>
              <a:rPr lang="en-US" altLang="en-GB">
                <a:solidFill>
                  <a:schemeClr val="bg1"/>
                </a:solidFill>
              </a:rPr>
              <a:t>schemas to hide fraud. What footprints are physically impossible to erase?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If a </a:t>
            </a:r>
            <a:r>
              <a:rPr lang="en-US" altLang="en-GB">
                <a:solidFill>
                  <a:srgbClr val="00B050"/>
                </a:solidFill>
              </a:rPr>
              <a:t>ghost worker </a:t>
            </a:r>
            <a:r>
              <a:rPr lang="en-US" altLang="en-GB">
                <a:solidFill>
                  <a:schemeClr val="bg1"/>
                </a:solidFill>
              </a:rPr>
              <a:t>looks 100% clean inside payrolls, how do you prove that they don’t exist in the real world using multi-layered data analytics?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Which method is most effective MANUAL </a:t>
            </a:r>
            <a:r>
              <a:rPr lang="en-US" altLang="en-GB">
                <a:solidFill>
                  <a:srgbClr val="00B050"/>
                </a:solidFill>
              </a:rPr>
              <a:t>or </a:t>
            </a:r>
            <a:r>
              <a:rPr lang="en-US" altLang="en-GB">
                <a:solidFill>
                  <a:schemeClr val="bg1"/>
                </a:solidFill>
              </a:rPr>
              <a:t>DATABASE FORENSICS?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7870" y="1602740"/>
            <a:ext cx="255333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en-GB" b="1">
                <a:solidFill>
                  <a:srgbClr val="00B050"/>
                </a:solidFill>
              </a:rPr>
              <a:t>QUESTIONS:</a:t>
            </a:r>
            <a:endParaRPr lang="en-US" altLang="en-GB" b="1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22425" y="356235"/>
            <a:ext cx="8657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400" b="1">
                <a:solidFill>
                  <a:schemeClr val="bg1"/>
                </a:solidFill>
              </a:rPr>
              <a:t>THE ANATOMY OF DATABASE PAGE (WHY DATA LINGERS</a:t>
            </a:r>
            <a:r>
              <a:rPr lang="en-US" altLang="en-GB">
                <a:solidFill>
                  <a:schemeClr val="bg1"/>
                </a:solidFill>
              </a:rPr>
              <a:t>)</a:t>
            </a:r>
            <a:endParaRPr lang="en-US" altLang="en-GB"/>
          </a:p>
        </p:txBody>
      </p:sp>
      <p:sp>
        <p:nvSpPr>
          <p:cNvPr id="5" name="Text Box 4"/>
          <p:cNvSpPr txBox="1"/>
          <p:nvPr/>
        </p:nvSpPr>
        <p:spPr>
          <a:xfrm>
            <a:off x="879475" y="971550"/>
            <a:ext cx="10450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Database doesn’t write data randomly; they store it in structured blocks called pages. </a:t>
            </a:r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7" name="Picture 6" descr="WhatsApp Image 2026-05-27 at 5.26.00 PM"/>
          <p:cNvPicPr>
            <a:picLocks noChangeAspect="1"/>
          </p:cNvPicPr>
          <p:nvPr/>
        </p:nvPicPr>
        <p:blipFill>
          <a:blip r:embed="rId1"/>
          <a:srcRect b="7601"/>
          <a:stretch>
            <a:fillRect/>
          </a:stretch>
        </p:blipFill>
        <p:spPr>
          <a:xfrm>
            <a:off x="340995" y="1886585"/>
            <a:ext cx="2908935" cy="39135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493770" y="1671955"/>
            <a:ext cx="8557895" cy="4665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00B050"/>
                </a:solidFill>
              </a:rPr>
              <a:t>PAGE HEADER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(System notes: Page ID, space left, etc.)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DATA ROWS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[Row 1: Admin logged In]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[Row 2: Fraudulent paycheque sent to account  </a:t>
            </a:r>
            <a:r>
              <a:rPr lang="en-US" altLang="en-GB">
                <a:solidFill>
                  <a:srgbClr val="00B050"/>
                </a:solidFill>
                <a:sym typeface="+mn-ea"/>
              </a:rPr>
              <a:t>x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 ]</a:t>
            </a:r>
            <a:r>
              <a:rPr lang="en-US" altLang="en-GB">
                <a:solidFill>
                  <a:srgbClr val="1E887A"/>
                </a:solidFill>
                <a:sym typeface="+mn-ea"/>
              </a:rPr>
              <a:t>  </a:t>
            </a:r>
            <a:r>
              <a:rPr lang="en-US" altLang="en-GB">
                <a:solidFill>
                  <a:srgbClr val="00B050"/>
                </a:solidFill>
                <a:sym typeface="+mn-ea"/>
              </a:rPr>
              <a:t>       </a:t>
            </a:r>
            <a:r>
              <a:rPr lang="en-US" altLang="en-GB">
                <a:solidFill>
                  <a:srgbClr val="1E887A"/>
                </a:solidFill>
                <a:sym typeface="+mn-ea"/>
              </a:rPr>
              <a:t> 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What the suspect wants gone 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[Row 3: System Normal]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FREE SPACE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(Empty room waiting for new data)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SLOT ARRAY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[Pointer 1: -&gt; Row 1]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[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Pointer 2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: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-&gt;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Row 2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] </a:t>
            </a:r>
            <a:r>
              <a:rPr lang="en-US" altLang="en-GB">
                <a:solidFill>
                  <a:srgbClr val="00B050"/>
                </a:solidFill>
                <a:sym typeface="+mn-ea"/>
              </a:rPr>
              <a:t>  X 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(change to “empty space”)             The shortcut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[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Pointer 3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: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-&gt;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Row 3]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8392160" y="3253740"/>
            <a:ext cx="307340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8498205" y="5412740"/>
            <a:ext cx="307340" cy="1079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69950" y="516255"/>
            <a:ext cx="5135245" cy="2336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00B050"/>
                </a:solidFill>
              </a:rPr>
              <a:t>WAL</a:t>
            </a:r>
            <a:r>
              <a:rPr lang="en-US" altLang="en-GB">
                <a:solidFill>
                  <a:schemeClr val="bg1"/>
                </a:solidFill>
              </a:rPr>
              <a:t>( Write-Ahead Logging)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TRANSACTION LOG</a:t>
            </a:r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Timestamp: 10:14:02 AM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User Account: HR_Officer_01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Action: Executed DELETE command on Table ‘Payroll’ for Row ID 942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4140" y="3096260"/>
            <a:ext cx="11735435" cy="3339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rgbClr val="00B050"/>
                </a:solidFill>
              </a:rPr>
              <a:t>FORENSIC TAKEWAY: </a:t>
            </a:r>
            <a:r>
              <a:rPr lang="en-US" altLang="en-GB">
                <a:solidFill>
                  <a:schemeClr val="bg1"/>
                </a:solidFill>
              </a:rPr>
              <a:t>Unless a drive is physically shredded or magnetically wiped, remnant survive. Between raw data carving from unnallocated space and reconstruction history via Write-Ahead Logs( WAL) , an investigator can almost always rebuild the timeline and find the missing file.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True verification happens at the </a:t>
            </a:r>
            <a:r>
              <a:rPr lang="en-US" altLang="en-GB">
                <a:solidFill>
                  <a:srgbClr val="00B050"/>
                </a:solidFill>
              </a:rPr>
              <a:t>intersection </a:t>
            </a:r>
            <a:r>
              <a:rPr lang="en-US" altLang="en-GB">
                <a:solidFill>
                  <a:schemeClr val="bg1"/>
                </a:solidFill>
              </a:rPr>
              <a:t>of disconnected silos.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Structural destruction </a:t>
            </a:r>
            <a:r>
              <a:rPr lang="en-US" altLang="en-GB">
                <a:solidFill>
                  <a:srgbClr val="00B050"/>
                </a:solidFill>
              </a:rPr>
              <a:t>does not equal data destruction; even sophisticated</a:t>
            </a:r>
            <a:r>
              <a:rPr lang="en-US" altLang="en-GB">
                <a:solidFill>
                  <a:schemeClr val="bg1"/>
                </a:solidFill>
              </a:rPr>
              <a:t> data manipulation cannot erase a digital footprint.</a:t>
            </a:r>
            <a:endParaRPr lang="en-US" altLang="en-GB">
              <a:solidFill>
                <a:schemeClr val="bg1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While the structural pointers are gone, </a:t>
            </a:r>
            <a:r>
              <a:rPr lang="en-US" altLang="en-GB">
                <a:solidFill>
                  <a:srgbClr val="00B050"/>
                </a:solidFill>
              </a:rPr>
              <a:t>the raw data pages often remain intact in the database files until maintenance routines or page allocations reuse that space.</a:t>
            </a:r>
            <a:endParaRPr lang="en-US" altLang="en-GB">
              <a:solidFill>
                <a:srgbClr val="00B05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621145" y="502285"/>
            <a:ext cx="5219065" cy="1859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bg1"/>
                </a:solidFill>
                <a:sym typeface="+mn-ea"/>
              </a:rPr>
              <a:t>Active Directory </a:t>
            </a:r>
            <a:r>
              <a:rPr lang="en-US" altLang="en-GB">
                <a:solidFill>
                  <a:srgbClr val="00B050"/>
                </a:solidFill>
                <a:sym typeface="+mn-ea"/>
              </a:rPr>
              <a:t>(AD) 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Check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  <a:sym typeface="+mn-ea"/>
              </a:rPr>
              <a:t>The physical Access test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(badge swipes or biometric logs)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rgbClr val="00B050"/>
                </a:solidFill>
                <a:sym typeface="+mn-ea"/>
              </a:rPr>
              <a:t>SQL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 Banking Interrogation ( The Cash Routing Trick)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348615" y="133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00B050"/>
                </a:solidFill>
              </a:rPr>
              <a:t>HERE,</a:t>
            </a:r>
            <a:endParaRPr lang="en-US" altLang="en-GB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72770" y="0"/>
            <a:ext cx="10631170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3800" b="1">
                <a:solidFill>
                  <a:schemeClr val="bg1"/>
                </a:solidFill>
              </a:rPr>
              <a:t>SOLUTIONS</a:t>
            </a:r>
            <a:endParaRPr lang="en-US" altLang="en-GB" sz="3800" b="1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27635" y="657225"/>
            <a:ext cx="11936730" cy="452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b="1">
                <a:solidFill>
                  <a:srgbClr val="00B050"/>
                </a:solidFill>
              </a:rPr>
              <a:t>QUESTION ONE: THE ROGUE ADMINISTRATOR</a:t>
            </a:r>
            <a:endParaRPr lang="en-US" altLang="en-GB" b="1">
              <a:solidFill>
                <a:srgbClr val="00B05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54000" y="1109980"/>
            <a:ext cx="11397615" cy="555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CHECK what is still in the DB</a:t>
            </a:r>
            <a:endParaRPr lang="en-US" altLang="en-GB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Soft delete (delete_at = now() the row is still there.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Hidden in history table: look for audit/ history tables</a:t>
            </a:r>
            <a:r>
              <a:rPr lang="en-US" altLang="en-GB">
                <a:solidFill>
                  <a:srgbClr val="00B050"/>
                </a:solidFill>
              </a:rPr>
              <a:t>.(employee_history, audit_log, pg_log, sys.audit.)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Indexes: sometimes the index entry stays longer than the row.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Use transaction logs,</a:t>
            </a:r>
            <a:endParaRPr lang="en-US" altLang="en-GB">
              <a:solidFill>
                <a:srgbClr val="00B05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Postgres: WAL files in </a:t>
            </a:r>
            <a:r>
              <a:rPr lang="en-US" altLang="en-GB">
                <a:solidFill>
                  <a:srgbClr val="00B050"/>
                </a:solidFill>
              </a:rPr>
              <a:t>pg_wal/</a:t>
            </a:r>
            <a:r>
              <a:rPr lang="en-US" altLang="en-GB">
                <a:solidFill>
                  <a:schemeClr val="bg1"/>
                </a:solidFill>
              </a:rPr>
              <a:t>. Tool like pg_waldump can read them.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MYSQL/MariaDB: Binlogs and redo logs. mysqlbinlog lets you see INSERT/DELETE statements.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SQL Server</a:t>
            </a:r>
            <a:r>
              <a:rPr lang="en-US" altLang="en-GB">
                <a:solidFill>
                  <a:schemeClr val="bg1"/>
                </a:solidFill>
              </a:rPr>
              <a:t>: Transaction log LDF files. Tools like </a:t>
            </a:r>
            <a:r>
              <a:rPr lang="en-US" altLang="en-GB">
                <a:solidFill>
                  <a:srgbClr val="00B050"/>
                </a:solidFill>
              </a:rPr>
              <a:t>fn_dblog </a:t>
            </a:r>
            <a:r>
              <a:rPr lang="en-US" altLang="en-GB">
                <a:solidFill>
                  <a:schemeClr val="bg1"/>
                </a:solidFill>
              </a:rPr>
              <a:t>can read them.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Oracle: Redo logs and archive logs.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Check backups and snapshots</a:t>
            </a:r>
            <a:r>
              <a:rPr lang="en-US" altLang="en-GB">
                <a:solidFill>
                  <a:schemeClr val="bg1"/>
                </a:solidFill>
              </a:rPr>
              <a:t>(most companies have daily backups, snapshots, or point - in - time recovery.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System level recovery( if the actual database  file was deleted from disk 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DON’T write on the disk.</a:t>
            </a:r>
            <a:r>
              <a:rPr lang="en-US" altLang="en-GB">
                <a:solidFill>
                  <a:schemeClr val="bg1"/>
                </a:solidFill>
              </a:rPr>
              <a:t> Stop the DB and unmount the volume.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Use file carving tools: scalpel, foremost, autopsy to recover deleted.dbf, .mdf, .ibd files. 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Look at file system metadata: </a:t>
            </a:r>
            <a:r>
              <a:rPr lang="en-US" altLang="en-GB">
                <a:solidFill>
                  <a:schemeClr val="bg1"/>
                </a:solidFill>
              </a:rPr>
              <a:t>MFT in NTFS, inode in ext4. it tell you when the file was deleted.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Memory and page files(running database keep data in RAM  and buffer pools. 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20725" y="430530"/>
            <a:ext cx="11066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400" b="1">
                <a:solidFill>
                  <a:srgbClr val="00B050"/>
                </a:solidFill>
              </a:rPr>
              <a:t>FORENSIC RECOVERY TECHNIQUES</a:t>
            </a:r>
            <a:endParaRPr lang="en-US" altLang="en-GB" sz="2400" b="1">
              <a:solidFill>
                <a:srgbClr val="00B05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20725" y="1224915"/>
            <a:ext cx="4064000" cy="141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Log Analysis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File Carving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Page Scraping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74740" y="1160145"/>
            <a:ext cx="56870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Git History Carving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(memory caches, temp directories, or unallocated space on the web/application server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The Timestamped Discrepancy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174740" y="306260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ApexSQL Recover/ Quest Software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SysTools SQL Recovery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FQLite/ Undark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0725" y="30626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Hex Editor and Disk Imaging Tools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Encase/FTK Imager 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010 Editor/ WinHex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426460" y="5535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SQL Banking Interrogation</a:t>
            </a:r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15060" y="152400"/>
            <a:ext cx="9791700" cy="52197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rgbClr val="00B050"/>
                </a:solidFill>
              </a:rPr>
              <a:t>QUESTION 2: THE GHOST WORKER DETECTION</a:t>
            </a:r>
            <a:endParaRPr lang="en-US" altLang="en-GB" sz="2800" b="1">
              <a:solidFill>
                <a:srgbClr val="00B050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67385" y="1109980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Check login and activity logs(IDs, IP addresses, timestamps(payroll records but</a:t>
            </a:r>
            <a:r>
              <a:rPr lang="en-US" altLang="en-GB">
                <a:solidFill>
                  <a:srgbClr val="00B050"/>
                </a:solidFill>
              </a:rPr>
              <a:t> 0 </a:t>
            </a:r>
            <a:r>
              <a:rPr lang="en-US" altLang="en-GB">
                <a:solidFill>
                  <a:schemeClr val="bg1"/>
                </a:solidFill>
              </a:rPr>
              <a:t>activity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Check Audit Trails(created,modified,odd hours)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Check payroll Payouts(match employee ID to bank account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00B050"/>
                </a:solidFill>
              </a:rPr>
              <a:t>RED FLAG </a:t>
            </a:r>
            <a:r>
              <a:rPr lang="en-US" altLang="en-GB">
                <a:solidFill>
                  <a:schemeClr val="bg1"/>
                </a:solidFill>
              </a:rPr>
              <a:t>= multiple employee        Same account, or account doen’t match HR data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439535" y="110998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Payroll DB vs HR DB vs LDAP vs Email server vs Banking payout file.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“Impossible “ state: 2 people with same SSN, 1 bank account for 1 employees, salary paid but no tax deduction.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Look at backups and snapshots. attackers rarely delete all of them.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131695" y="5481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807085" y="437388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00B050"/>
                </a:solidFill>
              </a:rPr>
              <a:t>Can  we  prove every paid  employee exists in HR and IT systems?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Who has DBA access, and are their actions logged outside the DB?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Do we test our backups by restorng them?</a:t>
            </a:r>
            <a:endParaRPr lang="en-US" altLang="en-GB">
              <a:solidFill>
                <a:srgbClr val="00B050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983605" y="408241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00B050"/>
                </a:solidFill>
              </a:rPr>
              <a:t>Manual checks catch obvious fraud. Cross-layer forensics  catches hidden fraud.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rgbClr val="00B050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Database Forensics is how an organization protects its entire structural intergrity.</a:t>
            </a:r>
            <a:endParaRPr lang="en-US" altLang="en-GB">
              <a:solidFill>
                <a:srgbClr val="00B05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714115" y="6425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EXPLORE THE FULL REPO ON GITHUB</a:t>
            </a:r>
            <a:r>
              <a:rPr lang="en-US" altLang="en-GB"/>
              <a:t>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4471</Words>
  <Application>WPS Presentation</Application>
  <PresentationFormat>宽屏</PresentationFormat>
  <Paragraphs>160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121</cp:revision>
  <dcterms:created xsi:type="dcterms:W3CDTF">2015-12-25T06:51:00Z</dcterms:created>
  <dcterms:modified xsi:type="dcterms:W3CDTF">2026-05-27T23:40:19Z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26DA1C6D3B5B44BC8E98F752F87A5DC1_13</vt:lpwstr>
  </property>
</Properties>
</file>
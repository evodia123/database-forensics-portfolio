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88" r:id="rId3"/>
    <p:sldId id="274" r:id="rId5"/>
    <p:sldId id="262" r:id="rId6"/>
    <p:sldId id="287" r:id="rId7"/>
    <p:sldId id="27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360CCF"/>
    <a:srgbClr val="BA3649"/>
    <a:srgbClr val="B6B6B5"/>
    <a:srgbClr val="8080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DCA5C2E7-9D8F-47E6-AD76-B5B08028EF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z="1200" smtClean="0">
                <a:sym typeface="+mn-ea"/>
              </a:rPr>
              <a:t>Click to edit Master text style</a:t>
            </a:r>
            <a:endParaRPr lang="zh-CN" altLang="en-US" sz="1200" smtClean="0"/>
          </a:p>
          <a:p>
            <a:pPr lvl="1"/>
            <a:r>
              <a:rPr lang="zh-CN" altLang="en-US" sz="1200" smtClean="0">
                <a:sym typeface="+mn-ea"/>
              </a:rPr>
              <a:t>Second level</a:t>
            </a:r>
            <a:endParaRPr lang="zh-CN" altLang="en-US" sz="1200" smtClean="0"/>
          </a:p>
          <a:p>
            <a:pPr lvl="2"/>
            <a:r>
              <a:rPr lang="zh-CN" altLang="en-US" sz="1200" smtClean="0">
                <a:sym typeface="+mn-ea"/>
              </a:rPr>
              <a:t>Third level</a:t>
            </a:r>
            <a:endParaRPr lang="zh-CN" altLang="en-US" sz="1200" smtClean="0"/>
          </a:p>
          <a:p>
            <a:pPr lvl="3"/>
            <a:r>
              <a:rPr lang="zh-CN" altLang="en-US" sz="1200" smtClean="0">
                <a:sym typeface="+mn-ea"/>
              </a:rPr>
              <a:t>Fourth level</a:t>
            </a:r>
            <a:endParaRPr lang="zh-CN" altLang="en-US" sz="1200" smtClean="0"/>
          </a:p>
          <a:p>
            <a:pPr lvl="4"/>
            <a:r>
              <a:rPr lang="zh-CN" altLang="en-US" sz="1200" smtClean="0">
                <a:sym typeface="+mn-ea"/>
              </a:rPr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3AE85B77-8AE0-464C-9A26-6A01A479EB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5A079F21-3BE8-4E0A-A2CF-C18BDEAD91D7}" type="datetime1">
              <a:rPr lang="zh-CN" altLang="en-US"/>
            </a:fld>
            <a:endParaRPr lang="zh-CN" altLang="en-US" sz="1865" dirty="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zh-CN"/>
              <a:t> </a:t>
            </a: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70336DA7-0B35-4766-B3FA-87CC82BF78CC}" type="slidenum">
              <a:rPr lang="zh-CN" altLang="en-US"/>
            </a:fld>
            <a:endParaRPr lang="zh-CN" altLang="en-US" sz="1865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286000" y="379095"/>
            <a:ext cx="7620000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 </a:t>
            </a:r>
            <a:r>
              <a:rPr lang="en-US" altLang="zh-CN" sz="4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Database Forensics</a:t>
            </a:r>
            <a:r>
              <a:rPr lang="en-US" altLang="zh-CN" sz="3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altLang="zh-CN" sz="38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10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How Data Solves Crimes in Large Organizations</a:t>
            </a:r>
            <a:endParaRPr lang="en-US" altLang="zh-CN" sz="24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448435" y="2380615"/>
            <a:ext cx="9443085" cy="8883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  </a:t>
            </a:r>
            <a:r>
              <a:rPr lang="en-US" altLang="zh-CN" sz="2200" b="1" dirty="0" smtClean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5 </a:t>
            </a:r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- slide guide to investigating data </a:t>
            </a:r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at scale with SQL and audit logs</a:t>
            </a:r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344285" y="505904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Day </a:t>
            </a:r>
            <a:r>
              <a:rPr lang="en-US" altLang="zh-CN" sz="2200" b="1" dirty="0" smtClean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8</a:t>
            </a:r>
            <a:r>
              <a:rPr lang="en-US" altLang="zh-CN" sz="2200" b="1" dirty="0" smtClean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of 30 | June 2026 </a:t>
            </a:r>
            <a:endParaRPr lang="en-US" altLang="zh-CN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GB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97790" y="5017135"/>
            <a:ext cx="3946525" cy="613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EVODIA UNJUEH AKU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unjuehevo@gmail.com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21" name="Picture 20" descr="WhatsApp Image 2026-05-26 at 9.15.32 AM"/>
          <p:cNvPicPr>
            <a:picLocks noChangeAspect="1"/>
          </p:cNvPicPr>
          <p:nvPr/>
        </p:nvPicPr>
        <p:blipFill>
          <a:blip r:embed="rId1"/>
          <a:srcRect l="18064" t="13385" r="17739" b="15487"/>
          <a:stretch>
            <a:fillRect/>
          </a:stretch>
        </p:blipFill>
        <p:spPr>
          <a:xfrm>
            <a:off x="11438255" y="5977255"/>
            <a:ext cx="753745" cy="880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6835" y="1932940"/>
            <a:ext cx="5323840" cy="10534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r>
              <a:rPr lang="en-US" altLang="en-GB" b="1" dirty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What is a Sign Bit?</a:t>
            </a:r>
            <a:endParaRPr lang="en-US" altLang="en-GB" b="1" dirty="0">
              <a:solidFill>
                <a:srgbClr val="FF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en-GB" sz="14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 sign bit is the leftmost bit (MSB) used to indicate whether a number is positive or negative.</a:t>
            </a:r>
            <a:endParaRPr lang="en-US" altLang="en-GB" sz="14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en-GB" sz="14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0 </a:t>
            </a:r>
            <a: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→</a:t>
            </a:r>
            <a:r>
              <a:rPr lang="en-US" altLang="en-GB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Positive (+)</a:t>
            </a:r>
            <a:endParaRPr lang="en-US" altLang="en-GB" sz="14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1 </a:t>
            </a:r>
            <a: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→</a:t>
            </a:r>
            <a:r>
              <a:rPr lang="en-US" altLang="en-GB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Negative (−)</a:t>
            </a:r>
            <a:endParaRPr lang="en-US" altLang="en-GB" sz="14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en-GB" sz="14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b="1" dirty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What is Sign-Magnitude Representation?</a:t>
            </a:r>
            <a:endParaRPr lang="en-US" altLang="en-GB" b="1" dirty="0">
              <a:solidFill>
                <a:srgbClr val="FF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en-GB" sz="16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Sign-magnitude representation is a method for storing signed numbers in binary where:</a:t>
            </a:r>
            <a:endParaRPr lang="en-US" altLang="en-GB" sz="16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en-GB" sz="16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The first bit (MSB) is reserved as the sign bit.</a:t>
            </a:r>
            <a:endParaRPr lang="en-US" altLang="en-GB" sz="16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The remaining bits store the magnitude (absolute value).</a:t>
            </a:r>
            <a:endParaRPr lang="en-US" altLang="en-GB" sz="16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sz="1600" b="1" dirty="0">
                <a:solidFill>
                  <a:srgbClr val="FFC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Rules</a:t>
            </a:r>
            <a:endParaRPr lang="en-US" altLang="en-GB" sz="1600" b="1" dirty="0">
              <a:solidFill>
                <a:srgbClr val="FFC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sz="1600" b="1" dirty="0">
                <a:solidFill>
                  <a:srgbClr val="FFC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0 = positive</a:t>
            </a:r>
            <a:endParaRPr lang="en-US" altLang="en-GB" sz="1600" b="1" dirty="0">
              <a:solidFill>
                <a:srgbClr val="FFC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sz="1600" b="1" dirty="0">
                <a:solidFill>
                  <a:srgbClr val="FFC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1 = negative</a:t>
            </a:r>
            <a:endParaRPr lang="en-US" altLang="en-GB" sz="1600" b="1" dirty="0">
              <a:solidFill>
                <a:srgbClr val="FFC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4" name="矩形 6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668010" y="2039620"/>
            <a:ext cx="5915660" cy="18408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algn="l"/>
            <a:r>
              <a:rPr lang="en-US" altLang="en-GB" sz="1600" b="1" dirty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CONCEPT</a:t>
            </a:r>
            <a:endParaRPr lang="en-US" altLang="en-GB" sz="1600" b="1" dirty="0">
              <a:solidFill>
                <a:srgbClr val="FF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endParaRPr lang="en-US" altLang="en-GB" sz="16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r>
              <a:rPr lang="en-US" altLang="en-GB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Sign-magnitude representation is a system where:</a:t>
            </a:r>
            <a:endParaRPr lang="en-US" altLang="en-GB" sz="16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endParaRPr lang="en-US" altLang="en-GB" sz="16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r>
              <a:rPr lang="en-US" altLang="en-GB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1 bit is used for the sign</a:t>
            </a:r>
            <a:endParaRPr lang="en-US" altLang="en-GB" sz="16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endParaRPr lang="en-US" altLang="en-GB" sz="16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r>
              <a:rPr lang="en-US" altLang="en-GB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Remaining bits are used for the magnitude (value)</a:t>
            </a:r>
            <a:endParaRPr lang="en-US" altLang="en-GB" sz="16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358265" y="106680"/>
            <a:ext cx="9576435" cy="62420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pPr algn="ctr"/>
            <a:r>
              <a:rPr lang="en-US" altLang="en-GB" sz="4000" b="1">
                <a:solidFill>
                  <a:schemeClr val="bg1"/>
                </a:solidFill>
              </a:rPr>
              <a:t>SIGN</a:t>
            </a:r>
            <a:r>
              <a:rPr lang="en-US" altLang="en-GB" sz="4000" b="1">
                <a:solidFill>
                  <a:srgbClr val="FF0000"/>
                </a:solidFill>
              </a:rPr>
              <a:t>-</a:t>
            </a:r>
            <a:r>
              <a:rPr lang="en-US" altLang="en-GB" sz="4000" b="1">
                <a:solidFill>
                  <a:schemeClr val="bg1"/>
                </a:solidFill>
              </a:rPr>
              <a:t>MAGNITUDE REPRESENTATION</a:t>
            </a:r>
            <a:endParaRPr lang="en-US" altLang="en-GB" sz="4000" b="1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160" y="859155"/>
            <a:ext cx="12058015" cy="1052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bg1"/>
                </a:solidFill>
              </a:rPr>
              <a:t>Sign-magnitude representation is a binary system where the MSB is used as a sign bit (</a:t>
            </a:r>
            <a:r>
              <a:rPr lang="en-US" altLang="en-GB" b="1">
                <a:solidFill>
                  <a:srgbClr val="FFC000"/>
                </a:solidFill>
              </a:rPr>
              <a:t>0</a:t>
            </a:r>
            <a:r>
              <a:rPr lang="en-US" altLang="en-GB" b="1">
                <a:solidFill>
                  <a:schemeClr val="bg1"/>
                </a:solidFill>
              </a:rPr>
              <a:t> </a:t>
            </a:r>
            <a:r>
              <a:rPr lang="en-US" altLang="en-GB" b="1">
                <a:solidFill>
                  <a:srgbClr val="FF0000"/>
                </a:solidFill>
              </a:rPr>
              <a:t>= </a:t>
            </a:r>
            <a:r>
              <a:rPr lang="en-US" altLang="en-GB" b="1">
                <a:solidFill>
                  <a:schemeClr val="bg1"/>
                </a:solidFill>
              </a:rPr>
              <a:t>positive, </a:t>
            </a:r>
            <a:r>
              <a:rPr lang="en-US" altLang="en-GB" b="1">
                <a:solidFill>
                  <a:srgbClr val="FFC000"/>
                </a:solidFill>
              </a:rPr>
              <a:t>1 </a:t>
            </a:r>
            <a:r>
              <a:rPr lang="en-US" altLang="en-GB" b="1">
                <a:solidFill>
                  <a:srgbClr val="FF0000"/>
                </a:solidFill>
              </a:rPr>
              <a:t>= </a:t>
            </a:r>
            <a:r>
              <a:rPr lang="en-US" altLang="en-GB" b="1">
                <a:solidFill>
                  <a:schemeClr val="bg1"/>
                </a:solidFill>
              </a:rPr>
              <a:t>negative), and the remaining bits represent the magnitude of the number, resulting in a range from </a:t>
            </a:r>
            <a:r>
              <a:rPr lang="en-US" altLang="en-GB" b="1">
                <a:solidFill>
                  <a:srgbClr val="FFC000"/>
                </a:solidFill>
              </a:rPr>
              <a:t>-(2</a:t>
            </a:r>
            <a:r>
              <a:rPr lang="en-US" altLang="en-US" b="1">
                <a:solidFill>
                  <a:srgbClr val="FFC000"/>
                </a:solidFill>
              </a:rPr>
              <a:t>ⁿ⁻¹</a:t>
            </a:r>
            <a:r>
              <a:rPr lang="en-US" altLang="en-GB" b="1">
                <a:solidFill>
                  <a:srgbClr val="FFC000"/>
                </a:solidFill>
              </a:rPr>
              <a:t> − 1) </a:t>
            </a:r>
            <a:r>
              <a:rPr lang="en-US" altLang="en-GB" b="1">
                <a:solidFill>
                  <a:schemeClr val="bg1"/>
                </a:solidFill>
              </a:rPr>
              <a:t>to </a:t>
            </a:r>
            <a:r>
              <a:rPr lang="en-US" altLang="en-GB" b="1">
                <a:solidFill>
                  <a:srgbClr val="FFC000"/>
                </a:solidFill>
              </a:rPr>
              <a:t>+(2</a:t>
            </a:r>
            <a:r>
              <a:rPr lang="en-US" altLang="en-US" b="1">
                <a:solidFill>
                  <a:srgbClr val="FFC000"/>
                </a:solidFill>
              </a:rPr>
              <a:t>ⁿ⁻¹</a:t>
            </a:r>
            <a:r>
              <a:rPr lang="en-US" altLang="en-GB" b="1">
                <a:solidFill>
                  <a:srgbClr val="FFC000"/>
                </a:solidFill>
              </a:rPr>
              <a:t> − 1)</a:t>
            </a:r>
            <a:r>
              <a:rPr lang="en-US" altLang="en-GB" b="1">
                <a:solidFill>
                  <a:schemeClr val="bg1"/>
                </a:solidFill>
              </a:rPr>
              <a:t>, with t</a:t>
            </a:r>
            <a:r>
              <a:rPr lang="en-US" altLang="en-GB" b="1">
                <a:solidFill>
                  <a:srgbClr val="FFC000"/>
                </a:solidFill>
              </a:rPr>
              <a:t>wo representations for zero</a:t>
            </a:r>
            <a:r>
              <a:rPr lang="en-US" altLang="en-GB" sz="2200" b="1">
                <a:solidFill>
                  <a:srgbClr val="FFC000"/>
                </a:solidFill>
              </a:rPr>
              <a:t>.</a:t>
            </a:r>
            <a:endParaRPr lang="en-US" altLang="en-GB" sz="2200" b="1">
              <a:solidFill>
                <a:srgbClr val="FFC000"/>
              </a:solidFill>
            </a:endParaRPr>
          </a:p>
        </p:txBody>
      </p:sp>
      <p:pic>
        <p:nvPicPr>
          <p:cNvPr id="8" name="Picture 7" descr="WhatsApp Image 2026-05-26 at 9.15.32 AM"/>
          <p:cNvPicPr>
            <a:picLocks noChangeAspect="1"/>
          </p:cNvPicPr>
          <p:nvPr/>
        </p:nvPicPr>
        <p:blipFill>
          <a:blip r:embed="rId3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9" name="Picture 8" descr="WhatsApp Image 2026-05-26 at 9.15.32 AM"/>
          <p:cNvPicPr>
            <a:picLocks noChangeAspect="1"/>
          </p:cNvPicPr>
          <p:nvPr/>
        </p:nvPicPr>
        <p:blipFill>
          <a:blip r:embed="rId3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 flipH="1">
            <a:off x="5537835" y="2017395"/>
            <a:ext cx="31750" cy="415925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-116840" y="1911350"/>
            <a:ext cx="11809730" cy="2095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5855335" y="3911600"/>
            <a:ext cx="3806825" cy="2592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rgbClr val="FF0000"/>
                </a:solidFill>
              </a:rPr>
              <a:t>BIT STRUCTURE</a:t>
            </a:r>
            <a:endParaRPr lang="en-US" altLang="en-GB" b="1">
              <a:solidFill>
                <a:srgbClr val="FF0000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For an n-bit number: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S | MMM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S = Sign bit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0 = positive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1 = negative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MMM = magnitude bits</a:t>
            </a:r>
            <a:endParaRPr lang="en-US" altLang="en-GB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5" name="Picture 4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63325" y="5998845"/>
            <a:ext cx="807085" cy="859155"/>
          </a:xfrm>
          <a:prstGeom prst="rect">
            <a:avLst/>
          </a:prstGeom>
        </p:spPr>
      </p:pic>
      <p:graphicFrame>
        <p:nvGraphicFramePr>
          <p:cNvPr id="2" name="Table 1"/>
          <p:cNvGraphicFramePr/>
          <p:nvPr>
            <p:custDataLst>
              <p:tags r:id="rId2"/>
            </p:custDataLst>
          </p:nvPr>
        </p:nvGraphicFramePr>
        <p:xfrm>
          <a:off x="264160" y="859790"/>
          <a:ext cx="11734800" cy="3019425"/>
        </p:xfrm>
        <a:graphic>
          <a:graphicData uri="http://schemas.openxmlformats.org/drawingml/2006/table">
            <a:tbl>
              <a:tblPr/>
              <a:tblGrid>
                <a:gridCol w="2933700"/>
                <a:gridCol w="2933700"/>
                <a:gridCol w="2933700"/>
                <a:gridCol w="2933700"/>
              </a:tblGrid>
              <a:tr h="382905"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Binary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 Bit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Magnitude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Decimal Value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4010"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0101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+5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35915"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 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0110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+6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46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59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0111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+7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346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-7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908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3162935" y="115570"/>
            <a:ext cx="6960870" cy="628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26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4-bit sign-magnitude</a:t>
            </a:r>
            <a:endParaRPr lang="en-US" altLang="en-GB" sz="26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39065" y="4217670"/>
            <a:ext cx="6757670" cy="2543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16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 of 4-bit Sign-Magnitude Numbers</a:t>
            </a:r>
            <a:endParaRPr lang="en-US" altLang="en-GB" sz="16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 one bit is reserved for the sign, only 3 bits remain for magnitude:</a:t>
            </a:r>
            <a:endParaRPr lang="en-US" altLang="en-GB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 range: +0 to +7</a:t>
            </a:r>
            <a:endParaRPr lang="en-US" altLang="en-GB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Negative range: -0 to -7</a:t>
            </a:r>
            <a:endParaRPr lang="en-US" altLang="en-GB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Notice something strange: 0 has two representations which is a flaw</a:t>
            </a:r>
            <a:endParaRPr lang="en-US" altLang="en-GB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600" b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about a byte?</a:t>
            </a:r>
            <a:endParaRPr lang="en-US" altLang="en-GB" sz="1600" b="1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200150" y="152400"/>
            <a:ext cx="9791700" cy="70675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en-US" altLang="en-GB" sz="4000" b="1">
                <a:solidFill>
                  <a:schemeClr val="bg1"/>
                </a:solidFill>
                <a:sym typeface="+mn-ea"/>
              </a:rPr>
              <a:t>Range from </a:t>
            </a:r>
            <a:r>
              <a:rPr lang="en-US" altLang="en-GB" sz="4000" b="1">
                <a:solidFill>
                  <a:srgbClr val="FFC000"/>
                </a:solidFill>
                <a:sym typeface="+mn-ea"/>
              </a:rPr>
              <a:t>-(2</a:t>
            </a:r>
            <a:r>
              <a:rPr lang="en-US" altLang="en-US" sz="4000" b="1">
                <a:solidFill>
                  <a:srgbClr val="FFC000"/>
                </a:solidFill>
                <a:sym typeface="+mn-ea"/>
              </a:rPr>
              <a:t>ⁿ⁻¹</a:t>
            </a:r>
            <a:r>
              <a:rPr lang="en-US" altLang="en-GB" sz="4000" b="1">
                <a:solidFill>
                  <a:srgbClr val="FFC000"/>
                </a:solidFill>
                <a:sym typeface="+mn-ea"/>
              </a:rPr>
              <a:t> − 1) </a:t>
            </a:r>
            <a:r>
              <a:rPr lang="en-US" altLang="en-GB" sz="4000" b="1">
                <a:solidFill>
                  <a:schemeClr val="bg1"/>
                </a:solidFill>
                <a:sym typeface="+mn-ea"/>
              </a:rPr>
              <a:t>to </a:t>
            </a:r>
            <a:r>
              <a:rPr lang="en-US" altLang="en-GB" sz="4000" b="1">
                <a:solidFill>
                  <a:srgbClr val="FFC000"/>
                </a:solidFill>
                <a:sym typeface="+mn-ea"/>
              </a:rPr>
              <a:t>+(2</a:t>
            </a:r>
            <a:r>
              <a:rPr lang="en-US" altLang="en-US" sz="4000" b="1">
                <a:solidFill>
                  <a:srgbClr val="FFC000"/>
                </a:solidFill>
                <a:sym typeface="+mn-ea"/>
              </a:rPr>
              <a:t>ⁿ⁻¹</a:t>
            </a:r>
            <a:r>
              <a:rPr lang="en-US" altLang="en-GB" sz="4000" b="1">
                <a:solidFill>
                  <a:srgbClr val="FFC000"/>
                </a:solidFill>
                <a:sym typeface="+mn-ea"/>
              </a:rPr>
              <a:t> − 1)</a:t>
            </a:r>
            <a:r>
              <a:rPr lang="en-US" altLang="en-GB" sz="4000" b="1">
                <a:solidFill>
                  <a:schemeClr val="bg1"/>
                </a:solidFill>
                <a:sym typeface="+mn-ea"/>
              </a:rPr>
              <a:t> </a:t>
            </a:r>
            <a:endParaRPr lang="en-US" altLang="en-GB" sz="4000" b="1">
              <a:solidFill>
                <a:schemeClr val="bg1"/>
              </a:solidFill>
            </a:endParaRPr>
          </a:p>
        </p:txBody>
      </p:sp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14" name="Picture 13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69545" y="1186180"/>
            <a:ext cx="473329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rule</a:t>
            </a:r>
            <a:endParaRPr lang="en-US" altLang="en-GB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an n-bit sign-magnitude number:</a:t>
            </a:r>
            <a:endParaRPr lang="en-US" altLang="en-GB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 bit = 1 bit</a:t>
            </a:r>
            <a:endParaRPr lang="en-US" altLang="en-GB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Magnitude bits = n − 1 bits</a:t>
            </a:r>
            <a:endParaRPr lang="en-US" altLang="en-GB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Range: </a:t>
            </a:r>
            <a:endParaRPr lang="en-US" altLang="en-GB" b="1">
              <a:solidFill>
                <a:srgbClr val="FF0000"/>
              </a:solidFill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for a nibble it will be 8-1 = -7 to +7</a:t>
            </a:r>
            <a:endParaRPr lang="en-US" altLang="en-GB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00FFFF"/>
                </a:highlight>
                <a:sym typeface="+mn-ea"/>
              </a:rPr>
              <a:t>positive range +0 to + 7</a:t>
            </a:r>
            <a:endParaRPr lang="en-US" altLang="en-GB" b="1">
              <a:solidFill>
                <a:srgbClr val="FF0000"/>
              </a:solidFill>
              <a:highlight>
                <a:srgbClr val="00FFFF"/>
              </a:highlight>
              <a:sym typeface="+mn-ea"/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00FFFF"/>
                </a:highlight>
                <a:sym typeface="+mn-ea"/>
              </a:rPr>
              <a:t>negative range -0 to -7</a:t>
            </a:r>
            <a:endParaRPr lang="en-US" altLang="en-GB" b="1">
              <a:solidFill>
                <a:srgbClr val="FF0000"/>
              </a:solidFill>
              <a:highlight>
                <a:srgbClr val="00FFFF"/>
              </a:highlight>
            </a:endParaRPr>
          </a:p>
          <a:p>
            <a:endParaRPr lang="en-US" altLang="en-GB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byte = 128-1 = -127 to +127 </a:t>
            </a:r>
            <a:endParaRPr lang="en-US" altLang="en-GB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00FFFF"/>
                </a:highlight>
                <a:sym typeface="+mn-ea"/>
              </a:rPr>
              <a:t>positive range +0 to + 127</a:t>
            </a:r>
            <a:endParaRPr lang="en-US" altLang="en-GB" b="1">
              <a:solidFill>
                <a:srgbClr val="FF0000"/>
              </a:solidFill>
              <a:highlight>
                <a:srgbClr val="00FFFF"/>
              </a:highlight>
              <a:sym typeface="+mn-ea"/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00FFFF"/>
                </a:highlight>
                <a:sym typeface="+mn-ea"/>
              </a:rPr>
              <a:t>negative range -0 to -127</a:t>
            </a:r>
            <a:endParaRPr lang="en-US" altLang="en-GB" b="1">
              <a:solidFill>
                <a:srgbClr val="FF0000"/>
              </a:solidFill>
              <a:highlight>
                <a:srgbClr val="00FFFF"/>
              </a:highlight>
            </a:endParaRPr>
          </a:p>
          <a:p>
            <a:endParaRPr lang="en-US" altLang="en-GB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en-US" altLang="en-GB" b="1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108065" y="1186180"/>
            <a:ext cx="406400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n starts from 0 , 1 , 2, 3, 4  (total count of bit)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if it’s a nibble  n = 4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For signed magnitute representation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since we allocate one bit for sign it becomes (n-1)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for a nibble it will be 8-1 = -7 to +7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byte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n= 8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= 128-1 = -127 to +127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altLang="en-GB" b="1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026920" y="152400"/>
            <a:ext cx="84886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solidFill>
                  <a:schemeClr val="bg1"/>
                </a:solidFill>
              </a:rPr>
              <a:t>TERMS CHEAT SHEET</a:t>
            </a:r>
            <a:endParaRPr lang="en-US" altLang="en-GB" sz="4000">
              <a:solidFill>
                <a:schemeClr val="bg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74320" y="859155"/>
            <a:ext cx="10786110" cy="5200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en-GB" sz="26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      	                                  Meaning</a:t>
            </a:r>
            <a:endParaRPr lang="en-US" altLang="en-GB" sz="26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GB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 Bit	                                                 Leftmost bit indicating sign</a:t>
            </a:r>
            <a:endParaRPr lang="en-US" altLang="en-GB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sign bit	                                                 Positive number</a:t>
            </a:r>
            <a:endParaRPr lang="en-US" altLang="en-GB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sign bit	                                                 Negative number</a:t>
            </a:r>
            <a:endParaRPr lang="en-US" altLang="en-GB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Magnitude	                                                 Absolute value stored in the remaining bits</a:t>
            </a:r>
            <a:endParaRPr lang="en-US" altLang="en-GB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Sign-Magnitude  Representation	                    A system that uses one bit for sign and the rest for               magnitude</a:t>
            </a:r>
            <a:endParaRPr lang="en-US" altLang="en-GB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first bit tells the sign, and the rest of the bits tell the magnitude.</a:t>
            </a:r>
            <a:endParaRPr lang="en-US" altLang="en-GB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No, there is no confusion in ON/OFF states. The hardware only deals with 0 (OFF) and 1 (ON). Signed or unsigned interpretation is applied later by the system, not by the hardware itself.</a:t>
            </a:r>
            <a:endParaRPr lang="en-US" altLang="en-GB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ON/OFF is physical reality</a:t>
            </a:r>
            <a:endParaRPr lang="en-US" altLang="en-GB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Signed/unsigned is logical interpretation</a:t>
            </a:r>
            <a:endParaRPr lang="en-US" altLang="en-GB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Unsigned = “all bits = value”</a:t>
            </a:r>
            <a:endParaRPr lang="en-US" altLang="en-GB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Sign-magnitude = “1 bit = sign, rest = value”</a:t>
            </a:r>
            <a:endParaRPr lang="en-US" altLang="en-GB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064000" y="63087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>
                <a:solidFill>
                  <a:schemeClr val="bg1"/>
                </a:solidFill>
              </a:rPr>
              <a:t>EXPLORE THE FULL REPO ON GITHUB</a:t>
            </a:r>
            <a:r>
              <a:rPr lang="en-US" altLang="en-GB"/>
              <a:t>.</a:t>
            </a:r>
            <a:endParaRPr lang="en-US" altLang="en-GB"/>
          </a:p>
        </p:txBody>
      </p:sp>
      <p:pic>
        <p:nvPicPr>
          <p:cNvPr id="5" name="Picture 4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6" name="Picture 5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2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3.xml><?xml version="1.0" encoding="utf-8"?>
<p:tagLst xmlns:p="http://schemas.openxmlformats.org/presentationml/2006/main">
  <p:tag name="TABLE_ENDDRAG_ORIGIN_RECT" val="923*237"/>
  <p:tag name="TABLE_ENDDRAG_RECT" val="20*67*923*23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3000</Words>
  <Application>WPS Presentation</Application>
  <PresentationFormat>宽屏</PresentationFormat>
  <Paragraphs>201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unjuehevo</cp:lastModifiedBy>
  <cp:revision>129</cp:revision>
  <dcterms:created xsi:type="dcterms:W3CDTF">2015-12-25T06:51:00Z</dcterms:created>
  <dcterms:modified xsi:type="dcterms:W3CDTF">2026-06-23T16:22:33Z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2057-12.2.0.23203</vt:lpwstr>
  </property>
  <property fmtid="{D5CDD505-2E9C-101B-9397-08002B2CF9AE}" pid="3" name="ICV">
    <vt:lpwstr>746D7B7F119E42FDA6F473F2FE3307BC_13</vt:lpwstr>
  </property>
</Properties>
</file>
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88" r:id="rId3"/>
    <p:sldId id="274" r:id="rId5"/>
    <p:sldId id="291" r:id="rId6"/>
    <p:sldId id="302" r:id="rId7"/>
    <p:sldId id="292" r:id="rId8"/>
    <p:sldId id="262" r:id="rId9"/>
    <p:sldId id="301" r:id="rId10"/>
    <p:sldId id="293" r:id="rId11"/>
    <p:sldId id="297" r:id="rId12"/>
    <p:sldId id="298" r:id="rId13"/>
    <p:sldId id="299" r:id="rId14"/>
    <p:sldId id="294" r:id="rId15"/>
    <p:sldId id="295" r:id="rId16"/>
    <p:sldId id="296" r:id="rId17"/>
    <p:sldId id="303" r:id="rId18"/>
    <p:sldId id="304" r:id="rId19"/>
    <p:sldId id="305" r:id="rId20"/>
    <p:sldId id="306" r:id="rId21"/>
    <p:sldId id="30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A42F43"/>
    <a:srgbClr val="90293D"/>
    <a:srgbClr val="852736"/>
    <a:srgbClr val="862638"/>
    <a:srgbClr val="04AAB4"/>
    <a:srgbClr val="005827"/>
    <a:srgbClr val="1D6249"/>
    <a:srgbClr val="1E887A"/>
    <a:srgbClr val="3F6666"/>
    <a:srgbClr val="3E1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Organisations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19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6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7870" y="3428365"/>
            <a:ext cx="3913505" cy="826135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57630" y="230505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3000" b="1">
                <a:solidFill>
                  <a:schemeClr val="bg1"/>
                </a:solidFill>
              </a:rPr>
              <a:t>DATABASE  FORENSICS</a:t>
            </a:r>
            <a:r>
              <a:rPr lang="en-US" altLang="en-GB" sz="3000" b="1">
                <a:solidFill>
                  <a:srgbClr val="FFFF00"/>
                </a:solidFill>
              </a:rPr>
              <a:t> = </a:t>
            </a:r>
            <a:r>
              <a:rPr lang="en-US" altLang="en-GB" sz="3000" b="1">
                <a:solidFill>
                  <a:schemeClr val="bg1"/>
                </a:solidFill>
              </a:rPr>
              <a:t>DIGITAL EVIDENCE</a:t>
            </a:r>
            <a:endParaRPr lang="en-US" altLang="en-GB" sz="30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45110" y="2027555"/>
            <a:ext cx="11795125" cy="492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600" b="1">
                <a:solidFill>
                  <a:schemeClr val="bg1"/>
                </a:solidFill>
              </a:rPr>
              <a:t>CONVERSION SYSTEMS</a:t>
            </a:r>
            <a:endParaRPr lang="en-US" altLang="en-GB" sz="2600">
              <a:solidFill>
                <a:schemeClr val="bg1"/>
              </a:solidFill>
            </a:endParaRPr>
          </a:p>
          <a:p>
            <a:pPr algn="ctr"/>
            <a:endParaRPr lang="en-US" altLang="en-GB">
              <a:solidFill>
                <a:schemeClr val="bg1"/>
              </a:solidFill>
            </a:endParaRPr>
          </a:p>
          <a:p>
            <a:pPr algn="ctr"/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0" y="1102995"/>
            <a:ext cx="12192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TRANSACTION LOG - PART TWO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graphicFrame>
        <p:nvGraphicFramePr>
          <p:cNvPr id="13" name="Table 12"/>
          <p:cNvGraphicFramePr/>
          <p:nvPr>
            <p:custDataLst>
              <p:tags r:id="rId5"/>
            </p:custDataLst>
          </p:nvPr>
        </p:nvGraphicFramePr>
        <p:xfrm>
          <a:off x="245110" y="3313430"/>
          <a:ext cx="11794490" cy="2691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155"/>
                <a:gridCol w="7125335"/>
              </a:tblGrid>
              <a:tr h="725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OCTAL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HEXA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4089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Base: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Base: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675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Range: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0-7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Range: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0-15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881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Digits: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0,1,2,3,4,5,6 AND 7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Digits: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0,1,2,3,4,5,6,7,8,9,A,B,C,D,E AND F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3090" y="313690"/>
            <a:ext cx="10219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C. OCTAL CONVERSION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69690" y="12020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WHOLE NUMBERS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1478915" y="2896235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Conversion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Method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Reading Direction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Decimal Integer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Division by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Bottom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Top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Decimal Fraction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Multiply by 8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Top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Bottom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Integer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Decimal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Positive powers of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Right 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Left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Fraction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Decimal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Negative powers of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Left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Right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Binary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Groups of 3 bits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Right→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Left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Binary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Replace each digit with 3 bits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</a:rPr>
                        <a:t>Independent</a:t>
                      </a:r>
                      <a:endParaRPr lang="en-US" altLang="en-GB" sz="1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869690" y="2409825"/>
            <a:ext cx="4064000" cy="486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  <a:sym typeface="+mn-ea"/>
              </a:rPr>
              <a:t>Master Rule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 sz="2800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131695" y="5481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07085" y="174308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bg1"/>
                </a:solidFill>
              </a:rPr>
              <a:t>Quick Conversion Examples</a:t>
            </a:r>
            <a:endParaRPr lang="en-US" altLang="zh-CN" sz="2200" b="1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940435" y="720090"/>
          <a:ext cx="5255260" cy="1844040"/>
        </p:xfrm>
        <a:graphic>
          <a:graphicData uri="http://schemas.openxmlformats.org/drawingml/2006/table">
            <a:tbl>
              <a:tblPr/>
              <a:tblGrid>
                <a:gridCol w="2627630"/>
                <a:gridCol w="2627630"/>
              </a:tblGrid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Decimal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Binary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4530090" y="441960"/>
            <a:ext cx="2205990" cy="267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Bit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</a:rPr>
              <a:t>A single binary digit.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Examples: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0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16725" y="255905"/>
            <a:ext cx="23069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Byte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8 bits together.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11001010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 Byte = 8 Bits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224155" y="4694555"/>
            <a:ext cx="6434455" cy="194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Why Are Bytes Important? 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Computers measure storage using bytes.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Examples: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Byte = 8 bits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Kilobyte (KB) ≈ 1,024 bytes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Megabyte (MB) ≈ 1,024 KB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Gigabyte (GB) ≈ 1,024 MB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123680" y="604520"/>
            <a:ext cx="12598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Nibble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4 bits.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1010</a:t>
            </a:r>
            <a:endParaRPr lang="en-US" altLang="en-GB">
              <a:solidFill>
                <a:schemeClr val="bg1"/>
              </a:solidFill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632325" y="3853180"/>
            <a:ext cx="3291205" cy="287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FF00"/>
                </a:solidFill>
              </a:rPr>
              <a:t>5. What Can One Byte Store?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One byte can represent: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letter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number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symbol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18" name="Text Box 17"/>
          <p:cNvSpPr txBox="1"/>
          <p:nvPr/>
        </p:nvSpPr>
        <p:spPr>
          <a:xfrm>
            <a:off x="8249920" y="3853180"/>
            <a:ext cx="3322320" cy="2628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FF00"/>
                </a:solidFill>
                <a:sym typeface="+mn-ea"/>
              </a:rPr>
              <a:t>For example: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Character	Binary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	01000001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B	01000010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C	01000011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The computer stores letters as binary numbers.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16205" y="175895"/>
            <a:ext cx="3248660" cy="438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Relationship Between Binary and Octal</a:t>
            </a:r>
            <a:endParaRPr lang="en-US" altLang="en-GB" sz="2600" b="1"/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Every 3 binary bits = 1 octal digit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	Octal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000	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001	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010	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011	3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100	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101	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110	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111	7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This table is very important.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89320" y="175895"/>
            <a:ext cx="5421630" cy="2240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>
                <a:solidFill>
                  <a:srgbClr val="FFFF00"/>
                </a:solidFill>
              </a:rPr>
              <a:t>Summary</a:t>
            </a:r>
            <a:endParaRPr lang="en-US" altLang="en-GB" sz="2600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Conversion	Method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Octal	Group bits into 3s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Binary	Replace each digit with 3 bits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Octal	Repeated division by 8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Decimal	Multiply by powers of 8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64865" y="3307080"/>
            <a:ext cx="4093210" cy="263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</a:t>
            </a:r>
            <a:r>
              <a:rPr lang="en-US" altLang="en-GB" b="1">
                <a:solidFill>
                  <a:schemeClr val="bg1"/>
                </a:solidFill>
              </a:rPr>
              <a:t>UNIX/Linux File Permissions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is widely used for file permissions.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Permission	Binary	  Octal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Read (r)	                  100	     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Write (w)	                  010	     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Execute (x)	001	    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08595" y="299593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Examples: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755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rwxr-xr-x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644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rw-r--r--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777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rwxrwxrwx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System administrators use these values frequently.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68135" y="59416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7 = 4+2+1 = full access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5 = 4+1 = read + execute</a:t>
            </a:r>
            <a:endParaRPr lang="en-US" altLang="en-GB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8275" y="342265"/>
            <a:ext cx="6153785" cy="63868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en-US" altLang="zh-CN" sz="2800" b="1">
                <a:solidFill>
                  <a:srgbClr val="FFFF00"/>
                </a:solidFill>
              </a:rPr>
              <a:t>         1. Binary to Octal Conversion</a:t>
            </a:r>
            <a:endParaRPr lang="en-US" altLang="zh-CN" sz="2800" b="1">
              <a:solidFill>
                <a:srgbClr val="FFFF00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bg1"/>
                </a:solidFill>
              </a:rPr>
              <a:t>Example:</a:t>
            </a:r>
            <a:endParaRPr lang="en-US" altLang="zh-CN" sz="22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Convert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</a:rPr>
              <a:t>101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 to octal.</a:t>
            </a:r>
            <a:endParaRPr lang="en-US" altLang="zh-CN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spcAft>
                <a:spcPct val="60000"/>
              </a:spcAft>
            </a:pPr>
            <a:r>
              <a:rPr lang="en-US" altLang="zh-CN" sz="2200">
                <a:solidFill>
                  <a:schemeClr val="bg1"/>
                </a:solidFill>
              </a:rPr>
              <a:t>Step 1: Group the bits into threes from right to left</a:t>
            </a:r>
            <a:endParaRPr lang="en-US" altLang="zh-CN" sz="22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101</a:t>
            </a:r>
            <a:r>
              <a:rPr lang="en-US" altLang="zh-CN" sz="2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110</a:t>
            </a:r>
            <a:endParaRPr lang="en-US" altLang="zh-CN" sz="22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>
                <a:solidFill>
                  <a:schemeClr val="bg1"/>
                </a:solidFill>
              </a:rPr>
              <a:t>Step 2: Convert each group</a:t>
            </a:r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 + 0 +1 = 5</a:t>
            </a:r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 + 2 + 0 = 6</a:t>
            </a:r>
            <a:endParaRPr lang="en-US" altLang="zh-CN" sz="1600">
              <a:solidFill>
                <a:schemeClr val="bg1"/>
              </a:solidFill>
            </a:endParaRPr>
          </a:p>
          <a:p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56</a:t>
            </a:r>
            <a:r>
              <a:rPr lang="en-US" altLang="en-US" sz="16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sz="16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sz="16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endParaRPr lang="en-US" altLang="zh-CN" sz="1600" b="1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altLang="en-GB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2. 1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  <a:sym typeface="+mn-ea"/>
              </a:rPr>
              <a:t>101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</a:t>
            </a:r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001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  <a:sym typeface="+mn-ea"/>
              </a:rPr>
              <a:t>101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</a:t>
            </a:r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   011 = 3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101 = 5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001 = 1       </a:t>
            </a:r>
            <a:r>
              <a:rPr lang="en-US" altLang="zh-CN" sz="1600" b="1">
                <a:solidFill>
                  <a:schemeClr val="bg1"/>
                </a:solidFill>
                <a:highlight>
                  <a:srgbClr val="008000"/>
                </a:highlight>
                <a:sym typeface="+mn-ea"/>
              </a:rPr>
              <a:t>153</a:t>
            </a:r>
            <a:r>
              <a:rPr lang="en-US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8000"/>
                </a:highlight>
                <a:sym typeface="+mn-ea"/>
              </a:rPr>
              <a:t>₈</a:t>
            </a:r>
            <a:r>
              <a:rPr lang="en-US" altLang="en-GB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8000"/>
                </a:highlight>
                <a:sym typeface="+mn-ea"/>
              </a:rPr>
              <a:t> 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  4 2  1</a:t>
            </a:r>
            <a:endParaRPr lang="en-US" altLang="en-GB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25645" y="213360"/>
            <a:ext cx="4064000" cy="577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solidFill>
                  <a:srgbClr val="FFFF00"/>
                </a:solidFill>
                <a:sym typeface="+mn-ea"/>
              </a:rPr>
              <a:t>LIVE DEMO</a:t>
            </a:r>
            <a:endParaRPr lang="en-US" altLang="zh-CN" sz="2800" b="1">
              <a:solidFill>
                <a:srgbClr val="FFFF00"/>
              </a:solidFill>
            </a:endParaRPr>
          </a:p>
          <a:p>
            <a:pPr algn="ctr"/>
            <a:endParaRPr lang="en-GB" altLang="en-US" sz="2800" b="1"/>
          </a:p>
        </p:txBody>
      </p:sp>
      <p:cxnSp>
        <p:nvCxnSpPr>
          <p:cNvPr id="7" name="Straight Connector 6"/>
          <p:cNvCxnSpPr/>
          <p:nvPr/>
        </p:nvCxnSpPr>
        <p:spPr>
          <a:xfrm>
            <a:off x="6322060" y="791210"/>
            <a:ext cx="74930" cy="59378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6322060" y="948690"/>
            <a:ext cx="5773420" cy="547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solidFill>
                  <a:srgbClr val="FFFF00"/>
                </a:solidFill>
                <a:sym typeface="+mn-ea"/>
              </a:rPr>
              <a:t>2. Octal to Binary Conversion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Replace each octal digit with its 3-bit binary equivalent.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 Convert 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to binary.   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6 = 110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 = 010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5 = 101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Combine them:  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110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101</a:t>
            </a:r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₂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4. Convert 03</a:t>
            </a:r>
            <a:r>
              <a:rPr lang="en-US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₈</a:t>
            </a:r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to binary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 = 000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 = 011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000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011</a:t>
            </a:r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₂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00FF"/>
              </a:highligh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5405" y="71120"/>
            <a:ext cx="4168775" cy="529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/>
          </a:p>
          <a:p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4327525" cy="527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3. Decimal to Octal Conversion</a:t>
            </a:r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Use repeated division by 8.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83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Division	Quotient	Remainder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tx1"/>
                </a:solidFill>
                <a:highlight>
                  <a:srgbClr val="FFFF00"/>
                </a:highlight>
              </a:rPr>
              <a:t>  123</a:t>
            </a:r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Read the remainders from bottom upward: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Therefore,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83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= </a:t>
            </a:r>
            <a:r>
              <a:rPr lang="en-US" altLang="en-GB" b="1">
                <a:highlight>
                  <a:srgbClr val="FFFF00"/>
                </a:highlight>
                <a:sym typeface="+mn-ea"/>
              </a:rPr>
              <a:t>  123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</a:t>
            </a:r>
            <a:r>
              <a:rPr lang="en-US" altLang="en-GB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altLang="en-US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octal 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 5&lt;8 =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 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5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00FF"/>
              </a:highlight>
            </a:endParaRPr>
          </a:p>
          <a:p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/>
              <a:t>Convert </a:t>
            </a:r>
            <a:r>
              <a:rPr lang="en-US" altLang="en-GB" b="1">
                <a:solidFill>
                  <a:srgbClr val="FFFF00"/>
                </a:solidFill>
              </a:rPr>
              <a:t>0</a:t>
            </a:r>
            <a:r>
              <a:rPr lang="en-US" altLang="en-US" b="1">
                <a:solidFill>
                  <a:srgbClr val="FFFF00"/>
                </a:solidFill>
              </a:rPr>
              <a:t>₁₀</a:t>
            </a:r>
            <a:r>
              <a:rPr lang="en-US" altLang="en-GB" b="1">
                <a:solidFill>
                  <a:srgbClr val="FFFF00"/>
                </a:solidFill>
              </a:rPr>
              <a:t> </a:t>
            </a:r>
            <a:r>
              <a:rPr lang="en-US" altLang="en-GB" b="1"/>
              <a:t>to octal.</a:t>
            </a:r>
            <a:endParaRPr lang="en-US" altLang="en-GB" b="1"/>
          </a:p>
          <a:p>
            <a:r>
              <a:rPr lang="en-US" altLang="en-GB" b="1">
                <a:highlight>
                  <a:srgbClr val="FF0000"/>
                </a:highlight>
              </a:rPr>
              <a:t>0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0000"/>
              </a:highlight>
            </a:endParaRPr>
          </a:p>
          <a:p>
            <a:endParaRPr lang="en-US" altLang="en-GB" b="1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836160" y="71120"/>
            <a:ext cx="7260590" cy="2284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Octal to Decimal Conversion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each digit by powers of 8.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Example: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345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₈</a:t>
            </a:r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decimal.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3 X 64 + 4 X 8 + 5 X1 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00FF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192 + 32 + 5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 =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229</a:t>
            </a:r>
            <a:r>
              <a:rPr lang="en-US" altLang="en-US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  <a:sym typeface="+mn-ea"/>
              </a:rPr>
              <a:t>₁₀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72720" y="1965960"/>
          <a:ext cx="22536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/>
                <a:gridCol w="751205"/>
                <a:gridCol w="75120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RM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836160" y="2280920"/>
            <a:ext cx="7261225" cy="446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92D050"/>
                </a:solidFill>
                <a:sym typeface="+mn-ea"/>
              </a:rPr>
              <a:t>1.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Explioting authomatic decoding  e.g  \141\142\143 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“abc” 97 IN ASCII is a  98 is b and 99 is c 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Application (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&lt;</a:t>
            </a:r>
            <a:r>
              <a:rPr lang="en-US" altLang="en-GB" b="1">
                <a:solidFill>
                  <a:srgbClr val="FFC000"/>
                </a:solidFill>
                <a:sym typeface="+mn-ea"/>
              </a:rPr>
              <a:t>Script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&gt;alert(“</a:t>
            </a:r>
            <a:r>
              <a:rPr lang="en-US" altLang="en-GB" b="1">
                <a:solidFill>
                  <a:srgbClr val="92D050"/>
                </a:solidFill>
                <a:sym typeface="+mn-ea"/>
              </a:rPr>
              <a:t>Hacked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”)&lt;/</a:t>
            </a:r>
            <a:r>
              <a:rPr lang="en-US" altLang="en-GB" b="1">
                <a:solidFill>
                  <a:srgbClr val="FFC000"/>
                </a:solidFill>
                <a:sym typeface="+mn-ea"/>
              </a:rPr>
              <a:t>script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&gt;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Octal Obfuscated attacker swaps alert for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 = \141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l = \154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r = \162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t = \164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window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[‘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141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154\145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162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164’]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en-GB" b="1">
                <a:solidFill>
                  <a:schemeClr val="accent1">
                    <a:lumMod val="75000"/>
                  </a:schemeClr>
                </a:solidFill>
                <a:sym typeface="+mn-ea"/>
              </a:rPr>
              <a:t>Hacked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”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)</a:t>
            </a:r>
            <a:endParaRPr lang="en-US" altLang="en-GB" b="1">
              <a:solidFill>
                <a:schemeClr val="tx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rgbClr val="92D050"/>
                </a:solidFill>
                <a:sym typeface="+mn-ea"/>
              </a:rPr>
              <a:t>2.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Bypassing  </a:t>
            </a:r>
            <a:r>
              <a:rPr lang="en-US" altLang="en-GB" b="1">
                <a:solidFill>
                  <a:srgbClr val="FFFF00"/>
                </a:solidFill>
                <a:sym typeface="+mn-ea"/>
              </a:rPr>
              <a:t>signature-Based Detection 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e.g (\163\171\163\164\145\155)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rgbClr val="92D050"/>
                </a:solidFill>
                <a:sym typeface="+mn-ea"/>
              </a:rPr>
              <a:t>3.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Masking IP Addresses in Phishing and Malware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Standard IPv4 address like (192.168.1.1)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Normal URL: 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http: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//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216.58.216.164</a:t>
            </a:r>
            <a:endParaRPr lang="en-US" altLang="en-GB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Octal Obfuscated URL: 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http: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//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0330.0072.0330.0244</a:t>
            </a:r>
            <a:endParaRPr lang="en-US" altLang="en-GB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/>
              <a:t> </a:t>
            </a:r>
            <a:endParaRPr lang="en-US" altLang="en-GB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019300" y="2540000"/>
            <a:ext cx="8255" cy="760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3345" y="74930"/>
            <a:ext cx="6002020" cy="673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solidFill>
                  <a:srgbClr val="FFFF00"/>
                </a:solidFill>
              </a:rPr>
              <a:t>Fractions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Fractions are converted using multiplication by 8, not division.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Rule for fractions: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Multiply by </a:t>
            </a:r>
            <a:r>
              <a:rPr lang="en-US" altLang="en-GB" b="1">
                <a:solidFill>
                  <a:srgbClr val="FFFF00"/>
                </a:solidFill>
              </a:rPr>
              <a:t>8.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Take the whole number part each time.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Continue with the remaining fraction.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Read the digits from top to bottom.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Example: Convert 0.625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x 8 = 5.000 keep 5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0.000 stop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0.3125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0.3125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x 8  = 2.5 keep 2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0.5 x 8 = 4.00 keep 4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0.00 stop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0.24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87640" y="261620"/>
            <a:ext cx="4064000" cy="276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Convert 0.2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octal.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0.2 x 8 = 1.6 keep 1 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0.6 x 8 = 4.8 keep 4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0.8 x 8 = 6.4 keep 6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0.4 x 8 = 3.2 keep 3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0.2 x 8 = 1.6 keep 1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it loops infinitely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0.146314...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87640" y="4091305"/>
            <a:ext cx="4064635" cy="208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83.625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</a:t>
            </a:r>
            <a:r>
              <a:rPr lang="en-US" altLang="en-GB">
                <a:solidFill>
                  <a:schemeClr val="bg1"/>
                </a:solidFill>
              </a:rPr>
              <a:t>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highlight>
                  <a:srgbClr val="FFFF00"/>
                </a:highlight>
                <a:sym typeface="+mn-ea"/>
              </a:rPr>
              <a:t>123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.5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Merge the conversion of the whole number part and the fractional part together.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9866630" y="702945"/>
            <a:ext cx="17780" cy="1232535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660" y="31369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101.101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</a:t>
            </a:r>
            <a:r>
              <a:rPr lang="en-US" altLang="en-GB">
                <a:solidFill>
                  <a:schemeClr val="bg1"/>
                </a:solidFill>
              </a:rPr>
              <a:t>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421 rule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whole number part 101 = 4 + 0 + 1 = 5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Fractional part 101 = 4 + 0 + 1 = 5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5.5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660" y="2712085"/>
            <a:ext cx="5471795" cy="2701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10.11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whole number 10 padding it  to the left to make it a group of three bits </a:t>
            </a:r>
            <a:r>
              <a:rPr lang="en-US" altLang="en-GB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fractional part padding to the right making it a group of three bits  11 = 11</a:t>
            </a:r>
            <a:r>
              <a:rPr lang="en-US" altLang="en-GB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both and merge = </a:t>
            </a:r>
            <a:r>
              <a:rPr lang="en-US" altLang="en-GB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2. 6</a:t>
            </a:r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660" y="2181225"/>
            <a:ext cx="419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Fraction Group Incomplete</a:t>
            </a:r>
            <a:endParaRPr lang="en-US" altLang="en-GB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 Box 11"/>
          <p:cNvSpPr txBox="1"/>
          <p:nvPr/>
        </p:nvSpPr>
        <p:spPr>
          <a:xfrm>
            <a:off x="104775" y="0"/>
            <a:ext cx="6981190" cy="313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Area</a:t>
            </a:r>
            <a:r>
              <a:rPr lang="en-US" altLang="en-GB">
                <a:solidFill>
                  <a:schemeClr val="bg1"/>
                </a:solidFill>
              </a:rPr>
              <a:t>	                                   </a:t>
            </a:r>
            <a:r>
              <a:rPr lang="en-US" altLang="en-GB" b="1">
                <a:solidFill>
                  <a:srgbClr val="FFFF00"/>
                </a:solidFill>
              </a:rPr>
              <a:t>  Uses of Octal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Computer Systems	                   Compact binary representation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UNIX/Linux	                   File permissions (755, 644, 777)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Programming	                  Escape sequences and character encoding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Databases	                  Special characters and legacy scripts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Transaction Logs	                  Permission settings and control codes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Digital Forensics	                  Log analysis and evidence reconstruction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Database Forensics	                  Audit trails and transaction log examination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Malware Analysis	                  Decoding hidden octal values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System Forensics	Determining access rights and ownership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OCTAL IN TRANSACTION LOGS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Used in system-generated logs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Appears in: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backup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audit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access logs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Helps track: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access permissions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system operations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user activities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468235" y="122555"/>
            <a:ext cx="46570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OCTAL IN DIGITAL FORENSICS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Used to analyze evidence in systems: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permissions (who accessed what)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Hidden or encoded data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System logs and audit trails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Malware using octal encoding to hide data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\141\142\143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en-GB">
                <a:solidFill>
                  <a:schemeClr val="bg1"/>
                </a:solidFill>
              </a:rPr>
              <a:t> “abc”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404235" y="333756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DATABASE FORENSICS USE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Helps investigators: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Reconstruct transaction history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Detect unauthorized access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Analyze audit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Identify system manipulation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👉</a:t>
            </a:r>
            <a:r>
              <a:rPr lang="en-US" altLang="en-GB" b="1">
                <a:solidFill>
                  <a:srgbClr val="FF0000"/>
                </a:solidFill>
              </a:rPr>
              <a:t> Critical in cybercrime investigations</a:t>
            </a:r>
            <a:endParaRPr lang="en-US" altLang="en-GB" b="1">
              <a:solidFill>
                <a:srgbClr val="FF0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468235" y="4445635"/>
            <a:ext cx="4064000" cy="205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KEY TAKEAWAY</a:t>
            </a:r>
            <a:endParaRPr lang="en-US" altLang="en-GB" b="1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Octal = simplified binary system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Very important in system-level computing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Still used in permissions and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Valuable in cybersecurity and forensics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Helps trace digital activity and evidence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7795" y="162560"/>
            <a:ext cx="1188593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600" b="1">
                <a:solidFill>
                  <a:srgbClr val="FFFF00"/>
                </a:solidFill>
              </a:rPr>
              <a:t>HEXADECIMAL CONVERSIONS</a:t>
            </a:r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137795" y="614045"/>
            <a:ext cx="5734050" cy="39052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300" b="1">
                <a:solidFill>
                  <a:srgbClr val="FFFF00"/>
                </a:solidFill>
              </a:rPr>
              <a:t> 1. The basic idea</a:t>
            </a:r>
            <a:endParaRPr lang="en-US" altLang="zh-CN" sz="2300" b="1">
              <a:solidFill>
                <a:srgbClr val="FFFF00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In decimal (base 10), you count like this:</a:t>
            </a:r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0, 1, 2, 3, 4, 5, 6, 7, 8, 9, 10, 11...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In hexadecimal (base 16), you have 16 symbols instead of 10:</a:t>
            </a:r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0, 1, 2, 3, 4, 5, 6, 7, 8, 9, A, B, C, D, E, F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Where: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A = 10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B = 11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C = 12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D = 13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E = 14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F = 15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65570" y="751840"/>
            <a:ext cx="5467350" cy="5997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300" b="1">
                <a:solidFill>
                  <a:srgbClr val="FFFF00"/>
                </a:solidFill>
              </a:rPr>
              <a:t>2. Counting in hex</a:t>
            </a:r>
            <a:endParaRPr lang="en-US" altLang="en-GB" sz="2300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After 9, instead of 10, you continue: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A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12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C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13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14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E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F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10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17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11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18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12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Notice: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(decimal) = 10 (hex)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This is just like how 10 (decimal) = 10 in base 10.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7795" y="4979670"/>
            <a:ext cx="6044565" cy="155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Hex = base 16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Uses digits 0–9 and A–F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place value is a power of 16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Widely used in computing because it maps neatly to binary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99390" y="70485"/>
            <a:ext cx="5532120" cy="305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3. Place values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decimal: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345 = (3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100) + (4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10) + (5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1)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hexadecimal: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place is a power of 16: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... 16</a:t>
            </a:r>
            <a:r>
              <a:rPr lang="en-US" altLang="en-US" b="1">
                <a:solidFill>
                  <a:schemeClr val="bg1"/>
                </a:solidFill>
              </a:rPr>
              <a:t>²</a:t>
            </a:r>
            <a:r>
              <a:rPr lang="en-US" altLang="en-GB" b="1">
                <a:solidFill>
                  <a:schemeClr val="bg1"/>
                </a:solidFill>
              </a:rPr>
              <a:t>   16</a:t>
            </a:r>
            <a:r>
              <a:rPr lang="en-US" altLang="en-US" b="1">
                <a:solidFill>
                  <a:schemeClr val="bg1"/>
                </a:solidFill>
              </a:rPr>
              <a:t>¹</a:t>
            </a:r>
            <a:r>
              <a:rPr lang="en-US" altLang="en-GB" b="1">
                <a:solidFill>
                  <a:schemeClr val="bg1"/>
                </a:solidFill>
              </a:rPr>
              <a:t>   16</a:t>
            </a:r>
            <a:r>
              <a:rPr lang="en-US" altLang="en-US" b="1">
                <a:solidFill>
                  <a:schemeClr val="bg1"/>
                </a:solidFill>
              </a:rPr>
              <a:t>⁰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     256   16     1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2A (hex)  to decimal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 = 10  X 1 = 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 X 16 = 32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32 + 10 =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42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10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51525" y="331470"/>
            <a:ext cx="51098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</a:t>
            </a:r>
            <a:r>
              <a:rPr lang="en-US" altLang="en-GB" b="1">
                <a:solidFill>
                  <a:schemeClr val="bg1"/>
                </a:solidFill>
              </a:rPr>
              <a:t>onverting 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Convert 42 to hex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2A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16</a:t>
            </a:r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8430" y="4641215"/>
            <a:ext cx="4713605" cy="824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Convert 3A to decimal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10 + 48 = 58</a:t>
            </a:r>
            <a:r>
              <a:rPr lang="en-US" altLang="en-GB" b="1" baseline="-25000">
                <a:solidFill>
                  <a:schemeClr val="bg1"/>
                </a:solidFill>
                <a:sym typeface="+mn-ea"/>
              </a:rPr>
              <a:t>10</a:t>
            </a:r>
            <a:endParaRPr lang="en-US" altLang="en-GB" b="1" baseline="-25000">
              <a:solidFill>
                <a:schemeClr val="bg1"/>
              </a:solidFill>
              <a:sym typeface="+mn-ea"/>
            </a:endParaRPr>
          </a:p>
          <a:p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851525" y="2153285"/>
            <a:ext cx="5852795" cy="1378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100 to hex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X 6 = 96 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100 - 96 = 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 64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16</a:t>
            </a:r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99390" y="5466715"/>
            <a:ext cx="5271770" cy="1378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1F to decimal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 X 16 = 16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 =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+ 15 =</a:t>
            </a:r>
            <a:r>
              <a:rPr lang="en-US" altLang="en-GB" b="1" u="sng">
                <a:solidFill>
                  <a:srgbClr val="FF0000"/>
                </a:solidFill>
              </a:rPr>
              <a:t> </a:t>
            </a:r>
            <a:r>
              <a:rPr lang="en-US" altLang="en-GB" b="1" u="sng">
                <a:solidFill>
                  <a:srgbClr val="FF0000"/>
                </a:solidFill>
                <a:highlight>
                  <a:srgbClr val="FFFF00"/>
                </a:highlight>
              </a:rPr>
              <a:t>31</a:t>
            </a:r>
            <a:r>
              <a:rPr lang="en-US" altLang="en-GB" b="1" u="sng" baseline="-2500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</a:endParaRPr>
          </a:p>
          <a:p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851525" y="4093845"/>
            <a:ext cx="5313045" cy="2209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255 t</a:t>
            </a:r>
            <a:r>
              <a:rPr lang="en-US" altLang="en-GB" b="1">
                <a:solidFill>
                  <a:schemeClr val="bg1"/>
                </a:solidFill>
              </a:rPr>
              <a:t>o hex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255/ 16 = 15 RM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15/ 16 IS 0 RM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 = F 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255 =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FF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03530" y="208280"/>
            <a:ext cx="11649075" cy="6435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Why hexadecimal is used</a:t>
            </a:r>
            <a:endParaRPr lang="en-US" altLang="en-GB" b="1">
              <a:solidFill>
                <a:srgbClr val="FFFF00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Hex is super common in computing because it’s closely related to binary (base 2), which computers use.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 hex digit = 4 binary digits (bits)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Easier to read than long binary strings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Binary: </a:t>
            </a:r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1010</a:t>
            </a:r>
            <a:r>
              <a:rPr lang="en-US" altLang="en-GB" b="1">
                <a:solidFill>
                  <a:srgbClr val="FF0000"/>
                </a:solidFill>
                <a:sym typeface="+mn-ea"/>
              </a:rPr>
              <a:t>1111</a:t>
            </a:r>
            <a:endParaRPr lang="en-US" altLang="en-GB" b="1">
              <a:solidFill>
                <a:srgbClr val="FF0000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Hex:   </a:t>
            </a:r>
            <a:r>
              <a:rPr lang="en-US" altLang="en-GB" b="1">
                <a:solidFill>
                  <a:srgbClr val="FFFF00"/>
                </a:solidFill>
                <a:sym typeface="+mn-ea"/>
              </a:rPr>
              <a:t> AF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You’ll see hex used in: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Memory addresses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Color codes (like #FF5733)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Debugging and programming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JPEG Header = FF D8 FF   E0 E1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495415" y="1478915"/>
            <a:ext cx="530479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Hex colors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web design: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#RRGGBB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#FF0000 = red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#00FF00 = green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#0000FF = blue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pair is a hex number from 00 to FF (0–255 in decimal)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#FFFFFF = WHITE      16.7 MILLION DIFFERENT COMBINATIONS OF COLOURS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#000000 = BLACK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5270" y="295910"/>
            <a:ext cx="6086475" cy="6192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Hexadecimal </a:t>
            </a:r>
            <a:r>
              <a:rPr lang="en-US" altLang="en-US" sz="2600" b="1">
                <a:solidFill>
                  <a:srgbClr val="FFFF00"/>
                </a:solidFill>
              </a:rPr>
              <a:t>→</a:t>
            </a:r>
            <a:r>
              <a:rPr lang="en-US" altLang="en-GB" sz="2600" b="1">
                <a:solidFill>
                  <a:srgbClr val="FFFF00"/>
                </a:solidFill>
              </a:rPr>
              <a:t> Binary</a:t>
            </a:r>
            <a:endParaRPr lang="en-US" altLang="en-GB" sz="2600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Replace each hex digit with its 4-bit binary equivalent.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Hex-to-Binary Table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	Binary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	0000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	0001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	0010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	0011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4	0100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5	0101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6	0110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7	0111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8	1000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9	1001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	1010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	1011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	1100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	1101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	1110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	1111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217285" y="295910"/>
            <a:ext cx="5266055" cy="358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Summary</a:t>
            </a:r>
            <a:endParaRPr lang="en-US" altLang="en-GB" sz="26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Conversion	Method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Decimal	Multiply by powers of 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	Divide repeatedly by 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	Group bits in 4s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Binary	Replace each digit with 4 bits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2105" y="310515"/>
            <a:ext cx="4437380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solidFill>
                  <a:srgbClr val="FFFF00"/>
                </a:solidFill>
              </a:rPr>
              <a:t>DEMO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 b="1"/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2B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75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hexadecimal.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11110001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r>
              <a:rPr lang="en-US" altLang="en-GB" b="1">
                <a:solidFill>
                  <a:schemeClr val="bg1"/>
                </a:solidFill>
              </a:rPr>
              <a:t> to hexadecimal.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9A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binary.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57200" y="24485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1. 2 X 16 = 32 + B = 11 X 1 = 11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32 + 11 = </a:t>
            </a:r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43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6720" y="34290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2. 16 X 4 = 64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75 - 64 = 11 = B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4B 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426720" y="444754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1111</a:t>
            </a:r>
            <a:r>
              <a:rPr lang="en-US" altLang="en-GB" b="1">
                <a:solidFill>
                  <a:srgbClr val="FF0000"/>
                </a:solidFill>
                <a:sym typeface="+mn-ea"/>
              </a:rPr>
              <a:t>0001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₂</a:t>
            </a:r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sym typeface="+mn-ea"/>
              </a:rPr>
              <a:t>GROUP IN FOUR FROM RIGHT TO LEFT </a:t>
            </a:r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F1</a:t>
            </a:r>
            <a:r>
              <a:rPr lang="en-US" altLang="en-US" b="1" baseline="-25000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16</a:t>
            </a:r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highlight>
                <a:srgbClr val="00FF00"/>
              </a:highlight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451600" y="49530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9A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₁₆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GB" altLang="en-US"/>
          </a:p>
          <a:p>
            <a:r>
              <a:rPr lang="en-US" altLang="en-GB">
                <a:solidFill>
                  <a:schemeClr val="bg1"/>
                </a:solidFill>
              </a:rPr>
              <a:t>CONVERT INDIVIDUAL DIGITS IN GROUPS OF FOUR AND MERGE 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8 4 2 1 RULE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1001 = 9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1010 = 10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MERGE = 10011010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2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96850"/>
            <a:ext cx="98317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Hexadecimal with Multiple Digits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Convert 3F2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 X 256 + 15 X 16 + 2 X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768 + 240 + 2 = </a:t>
            </a:r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1010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97155" y="113665"/>
            <a:ext cx="6375400" cy="6279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Decimal Fraction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Hexadecimal Fraction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the whole number part normally (using division by 16).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the fractional part by repeated multiplication by 16.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1. Convert 10.625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hexadecimal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 = A 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0.625 X 16 = 10 = A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A.A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GB" b="1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2. Convert 25.75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to hexadecimal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25/16 = 1 RM 9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1/16 = 0 RM 1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0.75 X 16 = 12.0 = C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19.C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16</a:t>
            </a:r>
            <a:endParaRPr lang="en-US" altLang="en-GB" b="1">
              <a:solidFill>
                <a:srgbClr val="FF0000"/>
              </a:solidFill>
              <a:highlight>
                <a:srgbClr val="00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589520" y="222885"/>
            <a:ext cx="4064000" cy="6054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Convert 2A.A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42.625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="1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1.3F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1 + 3/16 + 15/256 = 1.24609735</a:t>
            </a:r>
            <a:r>
              <a:rPr lang="en-US" altLang="en-US" b="1" baseline="-25000">
                <a:solidFill>
                  <a:schemeClr val="bg1"/>
                </a:solidFill>
              </a:rPr>
              <a:t>10</a:t>
            </a:r>
            <a:endParaRPr lang="en-US" altLang="en-US" b="1" baseline="-25000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0.1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0.1 X 16 = 1.6 KEEP 1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0.6 X 16 = 9.6 KEEP 9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0.6 X 16 = 9.6 KEEP 9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KEEPS LOOPING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rgbClr val="FF0000"/>
                </a:solidFill>
                <a:highlight>
                  <a:srgbClr val="00FF00"/>
                </a:highlight>
              </a:rPr>
              <a:t>0.199...</a:t>
            </a:r>
            <a:r>
              <a:rPr lang="en-US" altLang="en-US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 baseline="-25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6390" y="227330"/>
            <a:ext cx="5350510" cy="4702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Whole numbers (binary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 padding rule)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Start grouping from the right side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 Add zeros on the left side only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00B050"/>
                </a:solidFill>
                <a:highlight>
                  <a:srgbClr val="00FF00"/>
                </a:highlight>
              </a:rPr>
              <a:t>00</a:t>
            </a:r>
            <a:r>
              <a:rPr lang="en-US" altLang="en-GB" b="1">
                <a:solidFill>
                  <a:srgbClr val="FFFF00"/>
                </a:solidFill>
                <a:highlight>
                  <a:srgbClr val="00FF00"/>
                </a:highlight>
              </a:rPr>
              <a:t>10</a:t>
            </a:r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1101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 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1101 = 8 + 4 + 0 + 1 = 13 = D 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0010 =  2 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 u="sng">
                <a:solidFill>
                  <a:srgbClr val="FF0000"/>
                </a:solidFill>
                <a:highlight>
                  <a:srgbClr val="00FF00"/>
                </a:highlight>
              </a:rPr>
              <a:t>2D</a:t>
            </a:r>
            <a:r>
              <a:rPr lang="en-US" altLang="en-US" b="1" u="sng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 u="sng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597015" y="227330"/>
            <a:ext cx="52146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Fractions (binary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 padding rule)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Fractions are the opposite.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Start grouping from the left side of the decimal point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Add zeros on the RIGHT side only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727190" y="3088640"/>
            <a:ext cx="4064000" cy="1101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0000"/>
                </a:solidFill>
              </a:rPr>
              <a:t>0</a:t>
            </a:r>
            <a:r>
              <a:rPr lang="en-US" altLang="en-GB" b="1">
                <a:solidFill>
                  <a:schemeClr val="bg1"/>
                </a:solidFill>
              </a:rPr>
              <a:t>101.1</a:t>
            </a:r>
            <a:r>
              <a:rPr lang="en-US" altLang="en-GB" b="1">
                <a:solidFill>
                  <a:srgbClr val="FF0000"/>
                </a:solidFill>
              </a:rPr>
              <a:t>000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 i="1">
                <a:solidFill>
                  <a:srgbClr val="FF0000"/>
                </a:solidFill>
                <a:highlight>
                  <a:srgbClr val="00FF00"/>
                </a:highlight>
              </a:rPr>
              <a:t>5.8</a:t>
            </a:r>
            <a:r>
              <a:rPr lang="en-US" altLang="en-US" b="1" i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 i="1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 i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5430" y="300355"/>
            <a:ext cx="104546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MOST IMPORTANT COMBINED RULE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Part	                     Direction to group	Where to add zeros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Whole number	   Right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Left	                 LEFT side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Fraction	                     Left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Right	                  RIGHT side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5430" y="2727960"/>
            <a:ext cx="80899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Why Hexadecimal Is Important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Hexadecimal is used in: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Memory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Transaction logs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Network packets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Machine language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MAC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IPv6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Error codes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Debugging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File systems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Digital forensics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TABLE_ENDDRAG_ORIGIN_RECT" val="928*211"/>
  <p:tag name="TABLE_ENDDRAG_RECT" val="19*224*928*211"/>
</p:tagLst>
</file>

<file path=ppt/tags/tag5.xml><?xml version="1.0" encoding="utf-8"?>
<p:tagLst xmlns:p="http://schemas.openxmlformats.org/presentationml/2006/main">
  <p:tag name="TABLE_ENDDRAG_ORIGIN_RECT" val="413*122"/>
  <p:tag name="TABLE_ENDDRAG_RECT" val="354*224*413*122"/>
</p:tagLst>
</file>

<file path=ppt/tags/tag6.xml><?xml version="1.0" encoding="utf-8"?>
<p:tagLst xmlns:p="http://schemas.openxmlformats.org/presentationml/2006/main">
  <p:tag name="TABLE_ENDDRAG_ORIGIN_RECT" val="177*66"/>
  <p:tag name="TABLE_ENDDRAG_RECT" val="46*203*177*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9562</Words>
  <Application>WPS Presentation</Application>
  <PresentationFormat>宽屏</PresentationFormat>
  <Paragraphs>816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141</cp:revision>
  <dcterms:created xsi:type="dcterms:W3CDTF">2015-12-25T06:51:00Z</dcterms:created>
  <dcterms:modified xsi:type="dcterms:W3CDTF">2026-06-16T19:47:17Z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BFBFFDF7949049D3843FE57E980FF5D3_13</vt:lpwstr>
  </property>
</Properties>
</file>